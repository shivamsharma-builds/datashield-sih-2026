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302" r:id="rId4"/>
    <p:sldId id="301" r:id="rId5"/>
    <p:sldId id="294" r:id="rId6"/>
    <p:sldId id="300"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4660"/>
  </p:normalViewPr>
  <p:slideViewPr>
    <p:cSldViewPr snapToGrid="0" snapToObjects="1">
      <p:cViewPr>
        <p:scale>
          <a:sx n="64" d="100"/>
          <a:sy n="64" d="100"/>
        </p:scale>
        <p:origin x="960" y="10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txBody>
          <a:bodyPr/>
          <a:lstStyle/>
          <a:p>
            <a:endParaRPr lang="en-IN"/>
          </a:p>
        </p:txBody>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81C28-3AE2-3DF3-83AE-9F551F4E91F1}"/>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91CFCE79-A805-4D30-445E-ABABA8C66817}"/>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txBody>
          <a:bodyPr/>
          <a:lstStyle/>
          <a:p>
            <a:endParaRPr lang="en-IN"/>
          </a:p>
        </p:txBody>
      </p:sp>
      <p:sp>
        <p:nvSpPr>
          <p:cNvPr id="18434" name="Notes Placeholder 2">
            <a:extLst>
              <a:ext uri="{FF2B5EF4-FFF2-40B4-BE49-F238E27FC236}">
                <a16:creationId xmlns:a16="http://schemas.microsoft.com/office/drawing/2014/main" id="{B995CEC8-666D-F6C1-F934-80C10E00075F}"/>
              </a:ext>
            </a:extLst>
          </p:cNvPr>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8435" name="Slide Number Placeholder 3">
            <a:extLst>
              <a:ext uri="{FF2B5EF4-FFF2-40B4-BE49-F238E27FC236}">
                <a16:creationId xmlns:a16="http://schemas.microsoft.com/office/drawing/2014/main" id="{AB7399A6-4905-1198-B259-0B4C1AAEB729}"/>
              </a:ext>
            </a:extLst>
          </p:cNvPr>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3193057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4DD2E-BEA1-7F6D-378E-EDCEB47235ED}"/>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21232BC6-10C6-EC7C-5F09-68691C598F7F}"/>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txBody>
          <a:bodyPr/>
          <a:lstStyle/>
          <a:p>
            <a:endParaRPr lang="en-IN"/>
          </a:p>
        </p:txBody>
      </p:sp>
      <p:sp>
        <p:nvSpPr>
          <p:cNvPr id="18434" name="Notes Placeholder 2">
            <a:extLst>
              <a:ext uri="{FF2B5EF4-FFF2-40B4-BE49-F238E27FC236}">
                <a16:creationId xmlns:a16="http://schemas.microsoft.com/office/drawing/2014/main" id="{153AEB37-FEE4-C77C-93D2-890BF81ADE8F}"/>
              </a:ext>
            </a:extLst>
          </p:cNvPr>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a:extLst>
              <a:ext uri="{FF2B5EF4-FFF2-40B4-BE49-F238E27FC236}">
                <a16:creationId xmlns:a16="http://schemas.microsoft.com/office/drawing/2014/main" id="{DE4DDCB6-DD99-5763-BF3B-006A5BF6AD4C}"/>
              </a:ext>
            </a:extLst>
          </p:cNvPr>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570929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txBody>
          <a:bodyPr/>
          <a:lstStyle/>
          <a:p>
            <a:endParaRPr lang="en-IN"/>
          </a:p>
        </p:txBody>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ln>
        </p:spPr>
      </p:sp>
      <p:sp>
        <p:nvSpPr>
          <p:cNvPr id="18434"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a:ea typeface="MS PGothic" panose="020B0600070205080204" pitchFamily="1" charset="-128"/>
            </a:endParaRPr>
          </a:p>
        </p:txBody>
      </p:sp>
      <p:sp>
        <p:nvSpPr>
          <p:cNvPr id="18435" name="Slide Number Placeholder 3"/>
          <p:cNvSpPr>
            <a:spLocks noGrp="1"/>
          </p:cNvSpPr>
          <p:nvPr>
            <p:ph type="sldNum" sz="quarter" idx="5"/>
          </p:nvPr>
        </p:nvSpPr>
        <p:spPr bwMode="auto">
          <a:noFill/>
          <a:ln>
            <a:miter lim="800000"/>
          </a:ln>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1" charset="-128"/>
                <a:cs typeface="+mn-cs"/>
              </a:rPr>
              <a:t>6</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1" charset="-128"/>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9/23/2026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9/23/2026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9/23/2026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9/23/2026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9/23/2026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9/23/2026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9/23/2026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9/23/2026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9/23/2026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9/23/2026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9/23/2026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9/23/2026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notesSlide" Target="../notesSlides/notesSlide3.xml"/><Relationship Id="rId16"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4.xml"/><Relationship Id="rId16"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6.xml.rels><?xml version="1.0" encoding="UTF-8" standalone="yes"?>
<Relationships xmlns="http://schemas.openxmlformats.org/package/2006/relationships"><Relationship Id="rId8" Type="http://schemas.openxmlformats.org/officeDocument/2006/relationships/hyperlink" Target="https://www.mdpi.com/1660-4601/14/4/357" TargetMode="External"/><Relationship Id="rId13" Type="http://schemas.openxmlformats.org/officeDocument/2006/relationships/hyperlink" Target="https://climate-adapt.eea.europa.eu/en/metadata/indicators/thermal-comfort-indices-universal-thermal-climate-index-1979-2019" TargetMode="External"/><Relationship Id="rId3" Type="http://schemas.openxmlformats.org/officeDocument/2006/relationships/image" Target="../media/image37.png"/><Relationship Id="rId7" Type="http://schemas.openxmlformats.org/officeDocument/2006/relationships/hyperlink" Target="https://india.mongabay.com/2025/12/heat-stress-is-intensifying-across-indian-states-shows-data-analysis/" TargetMode="External"/><Relationship Id="rId12" Type="http://schemas.openxmlformats.org/officeDocument/2006/relationships/hyperlink" Target="https://pmc.ncbi.nlm.nih.gov/articles/PMC9206009/"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sciencedirect.com/science/article/abs/pii/S0013935121005260" TargetMode="External"/><Relationship Id="rId11" Type="http://schemas.openxmlformats.org/officeDocument/2006/relationships/hyperlink" Target="https://www.ncbi.nlm.nih.gov/pmc/articles/PMC8750942/" TargetMode="External"/><Relationship Id="rId5" Type="http://schemas.openxmlformats.org/officeDocument/2006/relationships/hyperlink" Target="https://www.preventionweb.net/news/india-new-evidence-shows-pioneering-heat-action-plan-helps-millions-avoid-killer-heat" TargetMode="External"/><Relationship Id="rId10" Type="http://schemas.openxmlformats.org/officeDocument/2006/relationships/hyperlink" Target="https://www.downtoearth.org.in/urbanisation/covid-19-4-factors-to-test-how-vulnerable-slums-in-4-big-cities-are-71833" TargetMode="External"/><Relationship Id="rId4" Type="http://schemas.openxmlformats.org/officeDocument/2006/relationships/hyperlink" Target="https://pmc.ncbi.nlm.nih.gov/articles/PMC3954798/" TargetMode="External"/><Relationship Id="rId9" Type="http://schemas.openxmlformats.org/officeDocument/2006/relationships/hyperlink" Target="https://www.mdpi.com/2075-5309/15/13/2274" TargetMode="External"/><Relationship Id="rId14" Type="http://schemas.openxmlformats.org/officeDocument/2006/relationships/hyperlink" Target="https://anantamias.com/heat-wave-indi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8151845" y="1796933"/>
            <a:ext cx="3203509" cy="3426237"/>
          </a:xfrm>
          <a:prstGeom prst="rect">
            <a:avLst/>
          </a:prstGeom>
        </p:spPr>
      </p:pic>
      <p:sp>
        <p:nvSpPr>
          <p:cNvPr id="4" name="Subtitle 3"/>
          <p:cNvSpPr>
            <a:spLocks noGrp="1"/>
          </p:cNvSpPr>
          <p:nvPr>
            <p:ph type="subTitle" idx="1"/>
          </p:nvPr>
        </p:nvSpPr>
        <p:spPr>
          <a:xfrm>
            <a:off x="1219200" y="360568"/>
            <a:ext cx="8534400" cy="1348315"/>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126124" y="1361750"/>
            <a:ext cx="6474373" cy="5078313"/>
          </a:xfrm>
          <a:prstGeom prst="rect">
            <a:avLst/>
          </a:prstGeom>
          <a:noFill/>
        </p:spPr>
        <p:txBody>
          <a:bodyPr wrap="square" rtlCol="0">
            <a:spAutoFit/>
          </a:bodyPr>
          <a:lstStyle/>
          <a:p>
            <a:endParaRPr lang="en-US" dirty="0"/>
          </a:p>
          <a:p>
            <a:pPr marL="285750" indent="-285750" algn="just">
              <a:lnSpc>
                <a:spcPct val="1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a:t>
            </a:r>
            <a:r>
              <a:rPr lang="en-IN" sz="2400" dirty="0"/>
              <a:t>26083</a:t>
            </a:r>
          </a:p>
          <a:p>
            <a:pPr algn="just">
              <a:lnSpc>
                <a:spcPct val="100000"/>
              </a:lnSpc>
            </a:pPr>
            <a:endParaRPr lang="en-US" sz="1600" b="1"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a:t>
            </a:r>
            <a:r>
              <a:rPr lang="en-IN" sz="2400" dirty="0"/>
              <a:t>Extreme Heatwave Early Warning and Human Thermal Stress Index</a:t>
            </a:r>
          </a:p>
          <a:p>
            <a:pPr algn="just">
              <a:lnSpc>
                <a:spcPct val="100000"/>
              </a:lnSpc>
            </a:pPr>
            <a:endParaRPr lang="en-US" sz="1600" b="1"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a:t>
            </a:r>
            <a:r>
              <a:rPr lang="en-IN" sz="2400" dirty="0"/>
              <a:t>Disaster Management</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a:t>
            </a:r>
            <a:r>
              <a:rPr lang="en-US" sz="2400" dirty="0">
                <a:latin typeface="Arial" panose="020B0604020202020204" pitchFamily="34" charset="0"/>
                <a:cs typeface="Arial" panose="020B0604020202020204" pitchFamily="34" charset="0"/>
              </a:rPr>
              <a:t>Software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a:t>
            </a:r>
          </a:p>
          <a:p>
            <a:pPr algn="just">
              <a:lnSpc>
                <a:spcPct val="200000"/>
              </a:lnSpc>
            </a:pPr>
            <a:endParaRPr lang="en-US" sz="2000" b="1"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 </a:t>
            </a:r>
            <a:r>
              <a:rPr lang="en-IN" sz="2400" dirty="0" err="1">
                <a:latin typeface="Arial" panose="020B0604020202020204" pitchFamily="34" charset="0"/>
                <a:cs typeface="Arial" panose="020B0604020202020204" pitchFamily="34" charset="0"/>
              </a:rPr>
              <a:t>DataShield</a:t>
            </a:r>
            <a:endParaRPr lang="en-IN" sz="2000" dirty="0">
              <a:latin typeface="Arial" panose="020B0604020202020204" pitchFamily="34" charset="0"/>
              <a:cs typeface="Arial" panose="020B0604020202020204" pitchFamily="34" charset="0"/>
            </a:endParaRPr>
          </a:p>
          <a:p>
            <a:pPr algn="just">
              <a:lnSpc>
                <a:spcPct val="100000"/>
              </a:lnSpc>
            </a:pPr>
            <a:endParaRPr lang="en-IN" b="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2249851" y="70649"/>
            <a:ext cx="7530235" cy="369332"/>
          </a:xfrm>
        </p:spPr>
        <p:txBody>
          <a:bodyPr/>
          <a:lstStyle/>
          <a:p>
            <a:pPr eaLnBrk="1" hangingPunct="1"/>
            <a:r>
              <a:rPr lang="en-IN" sz="3600" b="1" dirty="0"/>
              <a:t>From Temperature to Human Impact</a:t>
            </a:r>
            <a:endParaRPr lang="en-US" sz="3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a:xfrm>
            <a:off x="8694056" y="6392050"/>
            <a:ext cx="2844800" cy="365125"/>
          </a:xfrm>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04656" y="6423818"/>
            <a:ext cx="3204000" cy="365125"/>
          </a:xfrm>
        </p:spPr>
        <p:txBody>
          <a:bodyPr/>
          <a:lstStyle/>
          <a:p>
            <a:pPr>
              <a:defRPr/>
            </a:pPr>
            <a:r>
              <a:rPr lang="en-US" dirty="0">
                <a:solidFill>
                  <a:schemeClr val="bg1"/>
                </a:solidFill>
              </a:rPr>
              <a:t>@SIH Idea submission- Template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8" name="TextBox 7">
            <a:extLst>
              <a:ext uri="{FF2B5EF4-FFF2-40B4-BE49-F238E27FC236}">
                <a16:creationId xmlns:a16="http://schemas.microsoft.com/office/drawing/2014/main" id="{1C068D74-EBBC-B8B7-28F3-40629D9796DD}"/>
              </a:ext>
            </a:extLst>
          </p:cNvPr>
          <p:cNvSpPr txBox="1"/>
          <p:nvPr/>
        </p:nvSpPr>
        <p:spPr>
          <a:xfrm>
            <a:off x="596536" y="497819"/>
            <a:ext cx="10226765" cy="369332"/>
          </a:xfrm>
          <a:prstGeom prst="rect">
            <a:avLst/>
          </a:prstGeom>
          <a:noFill/>
        </p:spPr>
        <p:txBody>
          <a:bodyPr wrap="square" lIns="91440" tIns="45720" rIns="91440" bIns="45720" anchor="t">
            <a:spAutoFit/>
          </a:bodyPr>
          <a:lstStyle/>
          <a:p>
            <a:pPr algn="ctr"/>
            <a:r>
              <a:rPr lang="en-IN" b="1" dirty="0">
                <a:solidFill>
                  <a:schemeClr val="tx2"/>
                </a:solidFill>
                <a:latin typeface="Arial"/>
                <a:ea typeface="Calibri"/>
                <a:cs typeface="Arial"/>
                <a:sym typeface="+mn-ea"/>
              </a:rPr>
              <a:t>	"AI-Powered Hyperlocal Heat Stress &amp; Health Early Warning System</a:t>
            </a:r>
            <a:r>
              <a:rPr lang="en-IN" altLang="en-US" b="1" dirty="0">
                <a:solidFill>
                  <a:schemeClr val="tx2"/>
                </a:solidFill>
                <a:latin typeface="Arial"/>
                <a:ea typeface="MS PGothic"/>
                <a:cs typeface="Arial"/>
                <a:sym typeface="+mn-ea"/>
              </a:rPr>
              <a:t>’’</a:t>
            </a:r>
            <a:endParaRPr lang="en-IN" altLang="en-US" sz="1800" b="1" dirty="0">
              <a:solidFill>
                <a:schemeClr val="tx2"/>
              </a:solidFill>
              <a:latin typeface="Arial" panose="020B0604020202020204" pitchFamily="34" charset="0"/>
              <a:cs typeface="Arial" panose="020B0604020202020204" pitchFamily="34" charset="0"/>
            </a:endParaRPr>
          </a:p>
        </p:txBody>
      </p:sp>
      <p:sp>
        <p:nvSpPr>
          <p:cNvPr id="15" name="Rounded Rectangle 5">
            <a:extLst>
              <a:ext uri="{FF2B5EF4-FFF2-40B4-BE49-F238E27FC236}">
                <a16:creationId xmlns:a16="http://schemas.microsoft.com/office/drawing/2014/main" id="{45266A60-5D33-E7BA-EA55-3E246A800A19}"/>
              </a:ext>
            </a:extLst>
          </p:cNvPr>
          <p:cNvSpPr/>
          <p:nvPr/>
        </p:nvSpPr>
        <p:spPr>
          <a:xfrm>
            <a:off x="333790" y="989743"/>
            <a:ext cx="2729413" cy="5301293"/>
          </a:xfrm>
          <a:prstGeom prst="roundRect">
            <a:avLst>
              <a:gd name="adj" fmla="val 3500"/>
            </a:avLst>
          </a:prstGeom>
          <a:solidFill>
            <a:srgbClr val="F6F8FB"/>
          </a:solidFill>
          <a:ln w="1270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a:extLst>
              <a:ext uri="{FF2B5EF4-FFF2-40B4-BE49-F238E27FC236}">
                <a16:creationId xmlns:a16="http://schemas.microsoft.com/office/drawing/2014/main" id="{80959743-C4A7-C604-C8B7-E55E505CCE5C}"/>
              </a:ext>
            </a:extLst>
          </p:cNvPr>
          <p:cNvSpPr/>
          <p:nvPr/>
        </p:nvSpPr>
        <p:spPr>
          <a:xfrm>
            <a:off x="411397" y="1053788"/>
            <a:ext cx="457200" cy="457200"/>
          </a:xfrm>
          <a:prstGeom prst="ellipse">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20" name="Picture 19" descr="icon_problem.png">
            <a:extLst>
              <a:ext uri="{FF2B5EF4-FFF2-40B4-BE49-F238E27FC236}">
                <a16:creationId xmlns:a16="http://schemas.microsoft.com/office/drawing/2014/main" id="{F5D8C53B-140B-5D9C-7E49-2C7A9BE9A624}"/>
              </a:ext>
            </a:extLst>
          </p:cNvPr>
          <p:cNvPicPr>
            <a:picLocks noChangeAspect="1"/>
          </p:cNvPicPr>
          <p:nvPr/>
        </p:nvPicPr>
        <p:blipFill>
          <a:blip r:embed="rId4"/>
          <a:stretch>
            <a:fillRect/>
          </a:stretch>
        </p:blipFill>
        <p:spPr>
          <a:xfrm>
            <a:off x="500406" y="1142793"/>
            <a:ext cx="256032" cy="256032"/>
          </a:xfrm>
          <a:prstGeom prst="rect">
            <a:avLst/>
          </a:prstGeom>
        </p:spPr>
      </p:pic>
      <p:sp>
        <p:nvSpPr>
          <p:cNvPr id="22" name="TextBox 21">
            <a:extLst>
              <a:ext uri="{FF2B5EF4-FFF2-40B4-BE49-F238E27FC236}">
                <a16:creationId xmlns:a16="http://schemas.microsoft.com/office/drawing/2014/main" id="{C6435268-C901-2E68-0F2E-CFC462EAAD59}"/>
              </a:ext>
            </a:extLst>
          </p:cNvPr>
          <p:cNvSpPr txBox="1"/>
          <p:nvPr/>
        </p:nvSpPr>
        <p:spPr>
          <a:xfrm>
            <a:off x="956480" y="1113110"/>
            <a:ext cx="2360937" cy="338554"/>
          </a:xfrm>
          <a:prstGeom prst="rect">
            <a:avLst/>
          </a:prstGeom>
          <a:noFill/>
        </p:spPr>
        <p:txBody>
          <a:bodyPr wrap="square" anchor="ctr">
            <a:spAutoFit/>
          </a:bodyPr>
          <a:lstStyle/>
          <a:p>
            <a:pPr algn="l"/>
            <a:r>
              <a:rPr sz="1600" b="1" dirty="0">
                <a:solidFill>
                  <a:srgbClr val="D9480F"/>
                </a:solidFill>
                <a:latin typeface="Arial"/>
              </a:rPr>
              <a:t>Problem Overview</a:t>
            </a:r>
          </a:p>
        </p:txBody>
      </p:sp>
      <p:sp>
        <p:nvSpPr>
          <p:cNvPr id="24" name="TextBox 23">
            <a:extLst>
              <a:ext uri="{FF2B5EF4-FFF2-40B4-BE49-F238E27FC236}">
                <a16:creationId xmlns:a16="http://schemas.microsoft.com/office/drawing/2014/main" id="{83ACC37A-5B3C-35FD-65CD-7F40B2AF74D4}"/>
              </a:ext>
            </a:extLst>
          </p:cNvPr>
          <p:cNvSpPr txBox="1"/>
          <p:nvPr/>
        </p:nvSpPr>
        <p:spPr>
          <a:xfrm>
            <a:off x="383921" y="1554211"/>
            <a:ext cx="2643759" cy="4211794"/>
          </a:xfrm>
          <a:prstGeom prst="rect">
            <a:avLst/>
          </a:prstGeom>
          <a:noFill/>
        </p:spPr>
        <p:txBody>
          <a:bodyPr wrap="square">
            <a:spAutoFit/>
          </a:bodyPr>
          <a:lstStyle/>
          <a:p>
            <a:pPr>
              <a:lnSpc>
                <a:spcPct val="110000"/>
              </a:lnSpc>
              <a:spcAft>
                <a:spcPts val="1200"/>
              </a:spcAft>
            </a:pPr>
            <a:r>
              <a:rPr sz="1300" dirty="0">
                <a:solidFill>
                  <a:srgbClr val="333333"/>
                </a:solidFill>
                <a:latin typeface="Arial"/>
              </a:rPr>
              <a:t>•</a:t>
            </a:r>
            <a:r>
              <a:rPr lang="en-US" sz="1300" dirty="0">
                <a:solidFill>
                  <a:srgbClr val="333333"/>
                </a:solidFill>
                <a:latin typeface="Arial"/>
              </a:rPr>
              <a:t>  Standard heat warnings focus only on air temperature, which fails to show true health risks</a:t>
            </a:r>
            <a:endParaRPr sz="1300" dirty="0">
              <a:solidFill>
                <a:srgbClr val="333333"/>
              </a:solidFill>
              <a:latin typeface="Arial"/>
            </a:endParaRPr>
          </a:p>
          <a:p>
            <a:pPr>
              <a:lnSpc>
                <a:spcPct val="110000"/>
              </a:lnSpc>
              <a:spcAft>
                <a:spcPts val="1200"/>
              </a:spcAft>
            </a:pPr>
            <a:r>
              <a:rPr sz="1300" dirty="0">
                <a:solidFill>
                  <a:srgbClr val="333333"/>
                </a:solidFill>
                <a:latin typeface="Arial"/>
              </a:rPr>
              <a:t>•  </a:t>
            </a:r>
            <a:r>
              <a:rPr lang="en-US" sz="1300" dirty="0">
                <a:solidFill>
                  <a:srgbClr val="333333"/>
                </a:solidFill>
                <a:latin typeface="Arial"/>
              </a:rPr>
              <a:t>Real danger depends heavily on humidity, wind, radiation, exposure time, and local factors like building and tree density.</a:t>
            </a:r>
          </a:p>
          <a:p>
            <a:pPr>
              <a:lnSpc>
                <a:spcPct val="110000"/>
              </a:lnSpc>
              <a:spcAft>
                <a:spcPts val="1200"/>
              </a:spcAft>
            </a:pPr>
            <a:r>
              <a:rPr lang="en-US" sz="1300" dirty="0">
                <a:solidFill>
                  <a:srgbClr val="333333"/>
                </a:solidFill>
                <a:latin typeface="Arial"/>
              </a:rPr>
              <a:t>•  For instance, two places at 40°C can cause entirely different body stress depending on conditions</a:t>
            </a:r>
          </a:p>
          <a:p>
            <a:pPr>
              <a:lnSpc>
                <a:spcPct val="110000"/>
              </a:lnSpc>
              <a:spcAft>
                <a:spcPts val="1200"/>
              </a:spcAft>
            </a:pPr>
            <a:r>
              <a:rPr sz="1300" dirty="0">
                <a:solidFill>
                  <a:srgbClr val="333333"/>
                </a:solidFill>
                <a:latin typeface="Arial"/>
              </a:rPr>
              <a:t>•  Elderly &amp; outdoor workers face the highest exposure</a:t>
            </a:r>
          </a:p>
          <a:p>
            <a:pPr>
              <a:lnSpc>
                <a:spcPct val="110000"/>
              </a:lnSpc>
              <a:spcAft>
                <a:spcPts val="1200"/>
              </a:spcAft>
            </a:pPr>
            <a:r>
              <a:rPr sz="1300" dirty="0">
                <a:solidFill>
                  <a:srgbClr val="333333"/>
                </a:solidFill>
                <a:latin typeface="Arial"/>
              </a:rPr>
              <a:t>•  Question shifts: </a:t>
            </a:r>
            <a:r>
              <a:rPr lang="en-IN" sz="1300" dirty="0">
                <a:solidFill>
                  <a:srgbClr val="333333"/>
                </a:solidFill>
                <a:latin typeface="Arial"/>
              </a:rPr>
              <a:t>Answer </a:t>
            </a:r>
            <a:r>
              <a:rPr sz="1300" dirty="0">
                <a:solidFill>
                  <a:srgbClr val="333333"/>
                </a:solidFill>
                <a:latin typeface="Arial"/>
              </a:rPr>
              <a:t>not “how hot” but “how dangerous, here?”</a:t>
            </a:r>
          </a:p>
        </p:txBody>
      </p:sp>
      <p:sp>
        <p:nvSpPr>
          <p:cNvPr id="28" name="Rounded Rectangle 10">
            <a:extLst>
              <a:ext uri="{FF2B5EF4-FFF2-40B4-BE49-F238E27FC236}">
                <a16:creationId xmlns:a16="http://schemas.microsoft.com/office/drawing/2014/main" id="{4D98244A-19A3-AB16-B0F0-526D2B6EC202}"/>
              </a:ext>
            </a:extLst>
          </p:cNvPr>
          <p:cNvSpPr/>
          <p:nvPr/>
        </p:nvSpPr>
        <p:spPr>
          <a:xfrm>
            <a:off x="3290194" y="989743"/>
            <a:ext cx="3042684" cy="5322631"/>
          </a:xfrm>
          <a:prstGeom prst="roundRect">
            <a:avLst>
              <a:gd name="adj" fmla="val 3500"/>
            </a:avLst>
          </a:prstGeom>
          <a:solidFill>
            <a:srgbClr val="F6F8FB"/>
          </a:solidFill>
          <a:ln w="1270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0" name="Oval 29">
            <a:extLst>
              <a:ext uri="{FF2B5EF4-FFF2-40B4-BE49-F238E27FC236}">
                <a16:creationId xmlns:a16="http://schemas.microsoft.com/office/drawing/2014/main" id="{B1946617-38A6-75A8-F62E-BC5BC0C85A62}"/>
              </a:ext>
            </a:extLst>
          </p:cNvPr>
          <p:cNvSpPr/>
          <p:nvPr/>
        </p:nvSpPr>
        <p:spPr>
          <a:xfrm>
            <a:off x="3508299" y="1036480"/>
            <a:ext cx="457200" cy="457200"/>
          </a:xfrm>
          <a:prstGeom prst="ellips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icon_solution.png">
            <a:extLst>
              <a:ext uri="{FF2B5EF4-FFF2-40B4-BE49-F238E27FC236}">
                <a16:creationId xmlns:a16="http://schemas.microsoft.com/office/drawing/2014/main" id="{AC630923-0F1E-37FB-B8B7-D94BAFFCDCD0}"/>
              </a:ext>
            </a:extLst>
          </p:cNvPr>
          <p:cNvPicPr>
            <a:picLocks noChangeAspect="1"/>
          </p:cNvPicPr>
          <p:nvPr/>
        </p:nvPicPr>
        <p:blipFill>
          <a:blip r:embed="rId5"/>
          <a:stretch>
            <a:fillRect/>
          </a:stretch>
        </p:blipFill>
        <p:spPr>
          <a:xfrm>
            <a:off x="3597309" y="1148644"/>
            <a:ext cx="256032" cy="256032"/>
          </a:xfrm>
          <a:prstGeom prst="rect">
            <a:avLst/>
          </a:prstGeom>
        </p:spPr>
      </p:pic>
      <p:sp>
        <p:nvSpPr>
          <p:cNvPr id="34" name="TextBox 33">
            <a:extLst>
              <a:ext uri="{FF2B5EF4-FFF2-40B4-BE49-F238E27FC236}">
                <a16:creationId xmlns:a16="http://schemas.microsoft.com/office/drawing/2014/main" id="{188C9620-3EC8-8EF8-83BD-510883643F47}"/>
              </a:ext>
            </a:extLst>
          </p:cNvPr>
          <p:cNvSpPr txBox="1"/>
          <p:nvPr/>
        </p:nvSpPr>
        <p:spPr>
          <a:xfrm>
            <a:off x="4008683" y="1095804"/>
            <a:ext cx="2365726" cy="338554"/>
          </a:xfrm>
          <a:prstGeom prst="rect">
            <a:avLst/>
          </a:prstGeom>
          <a:noFill/>
        </p:spPr>
        <p:txBody>
          <a:bodyPr wrap="square" anchor="ctr">
            <a:spAutoFit/>
          </a:bodyPr>
          <a:lstStyle/>
          <a:p>
            <a:pPr algn="l"/>
            <a:r>
              <a:rPr sz="1600" b="1" dirty="0">
                <a:solidFill>
                  <a:srgbClr val="0B5394"/>
                </a:solidFill>
                <a:latin typeface="Arial"/>
              </a:rPr>
              <a:t>Proposed Solution</a:t>
            </a:r>
          </a:p>
        </p:txBody>
      </p:sp>
      <p:sp>
        <p:nvSpPr>
          <p:cNvPr id="36" name="TextBox 35">
            <a:extLst>
              <a:ext uri="{FF2B5EF4-FFF2-40B4-BE49-F238E27FC236}">
                <a16:creationId xmlns:a16="http://schemas.microsoft.com/office/drawing/2014/main" id="{B19DEE68-D359-E6B6-6252-35034C5378A2}"/>
              </a:ext>
            </a:extLst>
          </p:cNvPr>
          <p:cNvSpPr txBox="1"/>
          <p:nvPr/>
        </p:nvSpPr>
        <p:spPr>
          <a:xfrm>
            <a:off x="3324406" y="1455477"/>
            <a:ext cx="3042684" cy="4262705"/>
          </a:xfrm>
          <a:prstGeom prst="rect">
            <a:avLst/>
          </a:prstGeom>
          <a:noFill/>
        </p:spPr>
        <p:txBody>
          <a:bodyPr wrap="square">
            <a:spAutoFit/>
          </a:bodyPr>
          <a:lstStyle/>
          <a:p>
            <a:pPr>
              <a:spcAft>
                <a:spcPts val="1200"/>
              </a:spcAft>
            </a:pPr>
            <a:r>
              <a:rPr sz="1300" dirty="0">
                <a:solidFill>
                  <a:srgbClr val="333333"/>
                </a:solidFill>
                <a:latin typeface="Arial"/>
              </a:rPr>
              <a:t>•  </a:t>
            </a:r>
            <a:r>
              <a:rPr lang="en-US" sz="1300" dirty="0">
                <a:solidFill>
                  <a:srgbClr val="333333"/>
                </a:solidFill>
                <a:latin typeface="Arial"/>
              </a:rPr>
              <a:t>Predicts heat stress 3–5 days ahead using weather data, urban features, and standard heat indices (UTCI, WBGT).</a:t>
            </a:r>
            <a:endParaRPr sz="1300" dirty="0">
              <a:solidFill>
                <a:srgbClr val="333333"/>
              </a:solidFill>
              <a:latin typeface="Arial"/>
            </a:endParaRPr>
          </a:p>
          <a:p>
            <a:pPr>
              <a:spcAft>
                <a:spcPts val="1200"/>
              </a:spcAft>
            </a:pPr>
            <a:r>
              <a:rPr sz="1300" dirty="0">
                <a:solidFill>
                  <a:srgbClr val="333333"/>
                </a:solidFill>
                <a:latin typeface="Arial"/>
              </a:rPr>
              <a:t>•  </a:t>
            </a:r>
            <a:r>
              <a:rPr lang="en-US" sz="1300" dirty="0">
                <a:solidFill>
                  <a:srgbClr val="333333"/>
                </a:solidFill>
                <a:latin typeface="Arial"/>
              </a:rPr>
              <a:t>Forecasts ward-wise hospitalization and mortality risks based on demographics, housing, and health data.</a:t>
            </a:r>
            <a:endParaRPr sz="1300" dirty="0">
              <a:solidFill>
                <a:srgbClr val="333333"/>
              </a:solidFill>
              <a:latin typeface="Arial"/>
            </a:endParaRPr>
          </a:p>
          <a:p>
            <a:pPr>
              <a:spcAft>
                <a:spcPts val="1200"/>
              </a:spcAft>
            </a:pPr>
            <a:r>
              <a:rPr sz="1300" dirty="0">
                <a:solidFill>
                  <a:srgbClr val="333333"/>
                </a:solidFill>
                <a:latin typeface="Arial"/>
              </a:rPr>
              <a:t>•  Ward-level mortality &amp; hospitalization risk prediction</a:t>
            </a:r>
          </a:p>
          <a:p>
            <a:pPr>
              <a:spcAft>
                <a:spcPts val="1200"/>
              </a:spcAft>
            </a:pPr>
            <a:r>
              <a:rPr sz="1300" dirty="0">
                <a:solidFill>
                  <a:srgbClr val="333333"/>
                </a:solidFill>
                <a:latin typeface="Arial"/>
              </a:rPr>
              <a:t>•  </a:t>
            </a:r>
            <a:r>
              <a:rPr lang="en-US" sz="1300" dirty="0">
                <a:solidFill>
                  <a:srgbClr val="333333"/>
                </a:solidFill>
                <a:latin typeface="Arial"/>
              </a:rPr>
              <a:t>GIS dashboard with color-coded ward-level alerts &amp; advisories</a:t>
            </a:r>
            <a:endParaRPr sz="1300" dirty="0">
              <a:solidFill>
                <a:srgbClr val="333333"/>
              </a:solidFill>
              <a:latin typeface="Arial"/>
            </a:endParaRPr>
          </a:p>
          <a:p>
            <a:pPr>
              <a:spcAft>
                <a:spcPts val="1200"/>
              </a:spcAft>
            </a:pPr>
            <a:r>
              <a:rPr sz="1300" dirty="0">
                <a:solidFill>
                  <a:srgbClr val="333333"/>
                </a:solidFill>
                <a:latin typeface="Arial"/>
              </a:rPr>
              <a:t>•  </a:t>
            </a:r>
            <a:r>
              <a:rPr lang="en-US" sz="1300" dirty="0">
                <a:solidFill>
                  <a:srgbClr val="333333"/>
                </a:solidFill>
                <a:latin typeface="Arial"/>
              </a:rPr>
              <a:t>Recommends optimal locations for cooling primary health and ambulance </a:t>
            </a:r>
            <a:r>
              <a:rPr lang="en-US" sz="1300" dirty="0" err="1">
                <a:solidFill>
                  <a:srgbClr val="333333"/>
                </a:solidFill>
                <a:latin typeface="Arial"/>
              </a:rPr>
              <a:t>centre</a:t>
            </a:r>
            <a:r>
              <a:rPr lang="en-US" sz="1300" dirty="0">
                <a:solidFill>
                  <a:srgbClr val="333333"/>
                </a:solidFill>
                <a:latin typeface="Arial"/>
              </a:rPr>
              <a:t> to cover maximum wards.</a:t>
            </a:r>
          </a:p>
          <a:p>
            <a:pPr>
              <a:spcAft>
                <a:spcPts val="1200"/>
              </a:spcAft>
            </a:pPr>
            <a:r>
              <a:rPr lang="en-IN" sz="1300" dirty="0">
                <a:solidFill>
                  <a:srgbClr val="333333"/>
                </a:solidFill>
                <a:latin typeface="Arial"/>
              </a:rPr>
              <a:t>•  </a:t>
            </a:r>
            <a:r>
              <a:rPr lang="en-US" sz="1300" dirty="0">
                <a:solidFill>
                  <a:srgbClr val="333333"/>
                </a:solidFill>
                <a:latin typeface="Arial"/>
              </a:rPr>
              <a:t>Send coming heatwave alert to citizen</a:t>
            </a:r>
          </a:p>
        </p:txBody>
      </p:sp>
      <p:sp>
        <p:nvSpPr>
          <p:cNvPr id="48" name="Rounded Rectangle 15">
            <a:extLst>
              <a:ext uri="{FF2B5EF4-FFF2-40B4-BE49-F238E27FC236}">
                <a16:creationId xmlns:a16="http://schemas.microsoft.com/office/drawing/2014/main" id="{164D60D2-A595-DE89-A64E-DFE1F410ABC0}"/>
              </a:ext>
            </a:extLst>
          </p:cNvPr>
          <p:cNvSpPr/>
          <p:nvPr/>
        </p:nvSpPr>
        <p:spPr>
          <a:xfrm>
            <a:off x="6550983" y="1037998"/>
            <a:ext cx="5432431" cy="5253038"/>
          </a:xfrm>
          <a:prstGeom prst="roundRect">
            <a:avLst>
              <a:gd name="adj" fmla="val 3500"/>
            </a:avLst>
          </a:prstGeom>
          <a:solidFill>
            <a:srgbClr val="F6F8FB"/>
          </a:solidFill>
          <a:ln w="1270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0" name="Oval 49">
            <a:extLst>
              <a:ext uri="{FF2B5EF4-FFF2-40B4-BE49-F238E27FC236}">
                <a16:creationId xmlns:a16="http://schemas.microsoft.com/office/drawing/2014/main" id="{C17419FC-E8D0-3852-E433-37EE09E57F52}"/>
              </a:ext>
            </a:extLst>
          </p:cNvPr>
          <p:cNvSpPr/>
          <p:nvPr/>
        </p:nvSpPr>
        <p:spPr>
          <a:xfrm>
            <a:off x="6903626" y="1100726"/>
            <a:ext cx="457200" cy="457200"/>
          </a:xfrm>
          <a:prstGeom prst="ellipse">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icon_unique.png">
            <a:extLst>
              <a:ext uri="{FF2B5EF4-FFF2-40B4-BE49-F238E27FC236}">
                <a16:creationId xmlns:a16="http://schemas.microsoft.com/office/drawing/2014/main" id="{0FBC970C-59F8-B7B9-F0B7-B0F201EB62DF}"/>
              </a:ext>
            </a:extLst>
          </p:cNvPr>
          <p:cNvPicPr>
            <a:picLocks noChangeAspect="1"/>
          </p:cNvPicPr>
          <p:nvPr/>
        </p:nvPicPr>
        <p:blipFill>
          <a:blip r:embed="rId6"/>
          <a:stretch>
            <a:fillRect/>
          </a:stretch>
        </p:blipFill>
        <p:spPr>
          <a:xfrm>
            <a:off x="7004208" y="1178162"/>
            <a:ext cx="256032" cy="256032"/>
          </a:xfrm>
          <a:prstGeom prst="rect">
            <a:avLst/>
          </a:prstGeom>
        </p:spPr>
      </p:pic>
      <p:sp>
        <p:nvSpPr>
          <p:cNvPr id="54" name="TextBox 53">
            <a:extLst>
              <a:ext uri="{FF2B5EF4-FFF2-40B4-BE49-F238E27FC236}">
                <a16:creationId xmlns:a16="http://schemas.microsoft.com/office/drawing/2014/main" id="{2000541E-E02E-C68D-38A1-862248F84A48}"/>
              </a:ext>
            </a:extLst>
          </p:cNvPr>
          <p:cNvSpPr txBox="1"/>
          <p:nvPr/>
        </p:nvSpPr>
        <p:spPr>
          <a:xfrm>
            <a:off x="7367739" y="1163632"/>
            <a:ext cx="2798978" cy="338554"/>
          </a:xfrm>
          <a:prstGeom prst="rect">
            <a:avLst/>
          </a:prstGeom>
          <a:noFill/>
        </p:spPr>
        <p:txBody>
          <a:bodyPr wrap="square" anchor="ctr">
            <a:spAutoFit/>
          </a:bodyPr>
          <a:lstStyle/>
          <a:p>
            <a:pPr algn="l"/>
            <a:r>
              <a:rPr sz="1600" b="1" dirty="0">
                <a:solidFill>
                  <a:srgbClr val="B8860B"/>
                </a:solidFill>
                <a:latin typeface="Arial"/>
              </a:rPr>
              <a:t>Uniqueness &amp; Novelty</a:t>
            </a:r>
          </a:p>
        </p:txBody>
      </p:sp>
      <p:sp>
        <p:nvSpPr>
          <p:cNvPr id="56" name="TextBox 55">
            <a:extLst>
              <a:ext uri="{FF2B5EF4-FFF2-40B4-BE49-F238E27FC236}">
                <a16:creationId xmlns:a16="http://schemas.microsoft.com/office/drawing/2014/main" id="{3BD067A9-B2B2-100E-42BF-94CE5FCD3BDE}"/>
              </a:ext>
            </a:extLst>
          </p:cNvPr>
          <p:cNvSpPr txBox="1"/>
          <p:nvPr/>
        </p:nvSpPr>
        <p:spPr>
          <a:xfrm>
            <a:off x="6585196" y="1498134"/>
            <a:ext cx="5398218" cy="4909036"/>
          </a:xfrm>
          <a:prstGeom prst="rect">
            <a:avLst/>
          </a:prstGeom>
          <a:noFill/>
        </p:spPr>
        <p:txBody>
          <a:bodyPr wrap="square" rIns="0">
            <a:spAutoFit/>
          </a:bodyPr>
          <a:lstStyle/>
          <a:p>
            <a:pPr marL="182563" indent="-182563">
              <a:spcAft>
                <a:spcPts val="600"/>
              </a:spcAft>
              <a:buFont typeface="Arial" panose="020B0604020202020204" pitchFamily="34" charset="0"/>
              <a:buChar char="•"/>
            </a:pPr>
            <a:r>
              <a:rPr lang="en-IN" sz="1300" b="1" dirty="0">
                <a:solidFill>
                  <a:srgbClr val="333333"/>
                </a:solidFill>
                <a:latin typeface="Arial"/>
              </a:rPr>
              <a:t>Prescriptive, not predictive:</a:t>
            </a:r>
            <a:r>
              <a:rPr lang="en-US" sz="1300" b="1" dirty="0">
                <a:solidFill>
                  <a:srgbClr val="333333"/>
                </a:solidFill>
                <a:latin typeface="Arial"/>
              </a:rPr>
              <a:t> </a:t>
            </a:r>
            <a:r>
              <a:rPr lang="en-US" sz="1300" dirty="0">
                <a:solidFill>
                  <a:srgbClr val="333333"/>
                </a:solidFill>
                <a:latin typeface="Arial"/>
              </a:rPr>
              <a:t>optimized cooling-center/ambulance placement</a:t>
            </a:r>
          </a:p>
          <a:p>
            <a:pPr marL="182563" indent="-182563">
              <a:spcAft>
                <a:spcPts val="600"/>
              </a:spcAft>
              <a:buFont typeface="Arial" panose="020B0604020202020204" pitchFamily="34" charset="0"/>
              <a:buChar char="•"/>
            </a:pPr>
            <a:r>
              <a:rPr lang="en-US" sz="1300" b="1" dirty="0">
                <a:solidFill>
                  <a:srgbClr val="333333"/>
                </a:solidFill>
                <a:latin typeface="Arial"/>
              </a:rPr>
              <a:t>Data-driven governance: </a:t>
            </a:r>
            <a:r>
              <a:rPr lang="en-US" sz="1300" dirty="0">
                <a:solidFill>
                  <a:srgbClr val="333333"/>
                </a:solidFill>
                <a:latin typeface="Arial"/>
              </a:rPr>
              <a:t>Shifts from forecasting to work-shift simulation.</a:t>
            </a:r>
          </a:p>
          <a:p>
            <a:pPr marL="182563" indent="-182563">
              <a:spcAft>
                <a:spcPts val="600"/>
              </a:spcAft>
              <a:buFont typeface="Arial" panose="020B0604020202020204" pitchFamily="34" charset="0"/>
              <a:buChar char="•"/>
            </a:pPr>
            <a:r>
              <a:rPr lang="en-US" sz="1300" b="1" dirty="0">
                <a:solidFill>
                  <a:srgbClr val="333333"/>
                </a:solidFill>
                <a:latin typeface="Arial"/>
              </a:rPr>
              <a:t>Refined 'temperature feel’: </a:t>
            </a:r>
            <a:r>
              <a:rPr lang="en-US" sz="1300" dirty="0">
                <a:solidFill>
                  <a:srgbClr val="333333"/>
                </a:solidFill>
                <a:latin typeface="Arial"/>
              </a:rPr>
              <a:t>Additionally use vegetation or tree density (NDVI) and concrete or building density (built-up%) to measure the ‘temperature feel’.</a:t>
            </a:r>
          </a:p>
          <a:p>
            <a:pPr marL="182563" indent="-182563">
              <a:spcAft>
                <a:spcPts val="600"/>
              </a:spcAft>
              <a:buFont typeface="Arial" panose="020B0604020202020204" pitchFamily="34" charset="0"/>
              <a:buChar char="•"/>
            </a:pPr>
            <a:r>
              <a:rPr lang="en-US" sz="1300" b="1" dirty="0">
                <a:solidFill>
                  <a:srgbClr val="333333"/>
                </a:solidFill>
                <a:latin typeface="Arial"/>
              </a:rPr>
              <a:t>Corrected air temp: </a:t>
            </a:r>
            <a:r>
              <a:rPr lang="en-US" sz="1300" dirty="0">
                <a:solidFill>
                  <a:srgbClr val="333333"/>
                </a:solidFill>
                <a:latin typeface="Arial"/>
              </a:rPr>
              <a:t>Uses SUHI-to-air scaling (unlike standard models).</a:t>
            </a:r>
          </a:p>
          <a:p>
            <a:pPr marL="182563" indent="-182563">
              <a:spcAft>
                <a:spcPts val="600"/>
              </a:spcAft>
              <a:buFont typeface="Arial" panose="020B0604020202020204" pitchFamily="34" charset="0"/>
              <a:buChar char="•"/>
            </a:pPr>
            <a:r>
              <a:rPr lang="en-US" sz="1300" b="1" dirty="0">
                <a:solidFill>
                  <a:srgbClr val="333333"/>
                </a:solidFill>
                <a:latin typeface="Arial"/>
              </a:rPr>
              <a:t>Comprehensive risk model: </a:t>
            </a:r>
            <a:r>
              <a:rPr lang="en-US" sz="1300" dirty="0">
                <a:solidFill>
                  <a:srgbClr val="333333"/>
                </a:solidFill>
                <a:latin typeface="Arial"/>
              </a:rPr>
              <a:t>Dual mortality + hospitalization tracking with transparent proxies.</a:t>
            </a:r>
          </a:p>
          <a:p>
            <a:pPr marL="182563" indent="-182563">
              <a:spcAft>
                <a:spcPts val="600"/>
              </a:spcAft>
              <a:buFont typeface="Arial" panose="020B0604020202020204" pitchFamily="34" charset="0"/>
              <a:buChar char="•"/>
            </a:pPr>
            <a:r>
              <a:rPr lang="en-US" sz="1300" b="1" dirty="0">
                <a:solidFill>
                  <a:srgbClr val="333333"/>
                </a:solidFill>
                <a:latin typeface="Arial"/>
              </a:rPr>
              <a:t>Ward-level insights: </a:t>
            </a:r>
            <a:r>
              <a:rPr lang="en-US" sz="1300" dirty="0">
                <a:solidFill>
                  <a:srgbClr val="333333"/>
                </a:solidFill>
                <a:latin typeface="Arial"/>
              </a:rPr>
              <a:t>Infers outdoor-worker density via OpenStreetMap where census data lacks.</a:t>
            </a:r>
          </a:p>
          <a:p>
            <a:pPr marL="182563" indent="-182563">
              <a:spcAft>
                <a:spcPts val="600"/>
              </a:spcAft>
              <a:buFont typeface="Arial" panose="020B0604020202020204" pitchFamily="34" charset="0"/>
              <a:buChar char="•"/>
            </a:pPr>
            <a:r>
              <a:rPr lang="en-US" sz="1300" b="1" dirty="0">
                <a:solidFill>
                  <a:srgbClr val="333333"/>
                </a:solidFill>
                <a:latin typeface="Arial"/>
              </a:rPr>
              <a:t>Self-calibrating thresholds: </a:t>
            </a:r>
            <a:r>
              <a:rPr lang="en-US" sz="1300" dirty="0">
                <a:solidFill>
                  <a:srgbClr val="333333"/>
                </a:solidFill>
                <a:latin typeface="Arial"/>
              </a:rPr>
              <a:t>Mortality/hospitalization cutoffs come from the city's own historical summer data, not another city's climate.</a:t>
            </a:r>
          </a:p>
          <a:p>
            <a:pPr marL="182563" indent="-182563">
              <a:spcAft>
                <a:spcPts val="600"/>
              </a:spcAft>
              <a:buFont typeface="Arial" panose="020B0604020202020204" pitchFamily="34" charset="0"/>
              <a:buChar char="•"/>
            </a:pPr>
            <a:r>
              <a:rPr lang="en-US" sz="1300" b="1" dirty="0">
                <a:solidFill>
                  <a:srgbClr val="333333"/>
                </a:solidFill>
                <a:latin typeface="Arial"/>
              </a:rPr>
              <a:t>Measured, not guessed, impact: </a:t>
            </a:r>
            <a:r>
              <a:rPr lang="en-US" sz="1300" dirty="0">
                <a:solidFill>
                  <a:srgbClr val="333333"/>
                </a:solidFill>
                <a:latin typeface="Arial"/>
              </a:rPr>
              <a:t>Work-shift benefits are counted from real hourly UTCI data, not assumed percentages.</a:t>
            </a:r>
          </a:p>
          <a:p>
            <a:pPr marL="182563" indent="-182563">
              <a:spcAft>
                <a:spcPts val="600"/>
              </a:spcAft>
              <a:buFont typeface="Arial" panose="020B0604020202020204" pitchFamily="34" charset="0"/>
              <a:buChar char="•"/>
            </a:pPr>
            <a:r>
              <a:rPr lang="en-US" sz="1300" b="1" dirty="0">
                <a:solidFill>
                  <a:srgbClr val="333333"/>
                </a:solidFill>
                <a:latin typeface="Arial"/>
              </a:rPr>
              <a:t>Beyond weather apps: </a:t>
            </a:r>
            <a:r>
              <a:rPr lang="en-US" sz="1300" dirty="0">
                <a:solidFill>
                  <a:srgbClr val="333333"/>
                </a:solidFill>
                <a:latin typeface="Arial"/>
              </a:rPr>
              <a:t>Even Google/AccuWeather/IMD’s weather app’s area-to-area differences are a rough guess-correction on one coarse grid model — not real local vegetation/concrete data. We train per-ward on actual satellite data, turning it into health risk + action.</a:t>
            </a:r>
            <a:endParaRPr sz="1300" dirty="0">
              <a:solidFill>
                <a:srgbClr val="333333"/>
              </a:solidFill>
              <a:latin typeface="Arial"/>
            </a:endParaRPr>
          </a:p>
        </p:txBody>
      </p:sp>
      <p:sp>
        <p:nvSpPr>
          <p:cNvPr id="3" name="Oval 2" descr="Your startup LOGO">
            <a:extLst>
              <a:ext uri="{FF2B5EF4-FFF2-40B4-BE49-F238E27FC236}">
                <a16:creationId xmlns:a16="http://schemas.microsoft.com/office/drawing/2014/main" id="{0CA3CA20-FCD2-E548-0C11-987A98178CF5}"/>
              </a:ext>
              <a:ext uri="{C183D7F6-B498-43B3-948B-1728B52AA6E4}">
                <adec:decorative xmlns:adec="http://schemas.microsoft.com/office/drawing/2017/decorative" val="0"/>
              </a:ext>
            </a:extLst>
          </p:cNvPr>
          <p:cNvSpPr/>
          <p:nvPr/>
        </p:nvSpPr>
        <p:spPr>
          <a:xfrm>
            <a:off x="117223" y="132080"/>
            <a:ext cx="1843657" cy="651641"/>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err="1"/>
              <a:t>DataShield</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06D1F-C1E7-3C79-0EF5-99E0442683F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4F432A1-3C42-7679-AC64-2B8C3BAAFEF4}"/>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a:extLst>
              <a:ext uri="{FF2B5EF4-FFF2-40B4-BE49-F238E27FC236}">
                <a16:creationId xmlns:a16="http://schemas.microsoft.com/office/drawing/2014/main" id="{AE459B46-F0A8-B81D-D34A-12E0A05F7BA7}"/>
              </a:ext>
            </a:extLst>
          </p:cNvPr>
          <p:cNvSpPr>
            <a:spLocks noGrp="1"/>
          </p:cNvSpPr>
          <p:nvPr>
            <p:ph type="title"/>
          </p:nvPr>
        </p:nvSpPr>
        <p:spPr>
          <a:xfrm>
            <a:off x="609600" y="57305"/>
            <a:ext cx="10972800" cy="503238"/>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pic>
        <p:nvPicPr>
          <p:cNvPr id="12" name="Picture 11">
            <a:extLst>
              <a:ext uri="{FF2B5EF4-FFF2-40B4-BE49-F238E27FC236}">
                <a16:creationId xmlns:a16="http://schemas.microsoft.com/office/drawing/2014/main" id="{CA885F05-4449-3B90-E4A5-9FB91C2B96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4267" y="-9010"/>
            <a:ext cx="1801789" cy="850771"/>
          </a:xfrm>
          <a:prstGeom prst="rect">
            <a:avLst/>
          </a:prstGeom>
        </p:spPr>
      </p:pic>
      <p:sp>
        <p:nvSpPr>
          <p:cNvPr id="101" name="Card 101"/>
          <p:cNvSpPr/>
          <p:nvPr/>
        </p:nvSpPr>
        <p:spPr>
          <a:xfrm>
            <a:off x="208279" y="1230000"/>
            <a:ext cx="6457387" cy="5020000"/>
          </a:xfrm>
          <a:prstGeom prst="roundRect">
            <a:avLst>
              <a:gd name="adj" fmla="val 3200"/>
            </a:avLst>
          </a:prstGeom>
          <a:solidFill>
            <a:srgbClr val="F2F7FC"/>
          </a:solidFill>
          <a:ln w="12700">
            <a:solidFill>
              <a:srgbClr val="C5D8EA"/>
            </a:solidFill>
          </a:ln>
          <a:effectLst>
            <a:outerShdw blurRad="90000" dist="38100" dir="5400000" rotWithShape="0">
              <a:srgbClr val="000000">
                <a:alpha val="20000"/>
              </a:srgbClr>
            </a:outerShdw>
          </a:effectLst>
        </p:spPr>
        <p:txBody>
          <a:bodyPr/>
          <a:lstStyle/>
          <a:p>
            <a:endParaRPr lang="en-US"/>
          </a:p>
        </p:txBody>
      </p:sp>
      <p:sp>
        <p:nvSpPr>
          <p:cNvPr id="102" name="Card 102"/>
          <p:cNvSpPr/>
          <p:nvPr/>
        </p:nvSpPr>
        <p:spPr>
          <a:xfrm>
            <a:off x="6863787" y="1230000"/>
            <a:ext cx="4916733" cy="5020000"/>
          </a:xfrm>
          <a:prstGeom prst="roundRect">
            <a:avLst>
              <a:gd name="adj" fmla="val 3200"/>
            </a:avLst>
          </a:prstGeom>
          <a:solidFill>
            <a:srgbClr val="F2F7FC"/>
          </a:solidFill>
          <a:ln w="12700">
            <a:solidFill>
              <a:srgbClr val="C5D8EA"/>
            </a:solidFill>
          </a:ln>
          <a:effectLst>
            <a:outerShdw blurRad="90000" dist="38100" dir="5400000" rotWithShape="0">
              <a:srgbClr val="000000">
                <a:alpha val="20000"/>
              </a:srgbClr>
            </a:outerShdw>
          </a:effectLst>
        </p:spPr>
        <p:txBody>
          <a:bodyPr/>
          <a:lstStyle/>
          <a:p>
            <a:endParaRPr lang="en-US"/>
          </a:p>
        </p:txBody>
      </p:sp>
      <p:pic>
        <p:nvPicPr>
          <p:cNvPr id="43" name="Picture 42">
            <a:extLst>
              <a:ext uri="{FF2B5EF4-FFF2-40B4-BE49-F238E27FC236}">
                <a16:creationId xmlns:a16="http://schemas.microsoft.com/office/drawing/2014/main" id="{9F52A97E-4A0A-278F-C959-185702597434}"/>
              </a:ext>
            </a:extLst>
          </p:cNvPr>
          <p:cNvPicPr>
            <a:picLocks noChangeAspect="1"/>
          </p:cNvPicPr>
          <p:nvPr/>
        </p:nvPicPr>
        <p:blipFill>
          <a:blip r:embed="rId4"/>
          <a:srcRect t="8574" b="12969"/>
          <a:stretch>
            <a:fillRect/>
          </a:stretch>
        </p:blipFill>
        <p:spPr>
          <a:xfrm>
            <a:off x="7027545" y="1376304"/>
            <a:ext cx="4554855" cy="4727392"/>
          </a:xfrm>
          <a:prstGeom prst="rect">
            <a:avLst/>
          </a:prstGeom>
        </p:spPr>
      </p:pic>
      <p:pic>
        <p:nvPicPr>
          <p:cNvPr id="3" name="Picture 2">
            <a:extLst>
              <a:ext uri="{FF2B5EF4-FFF2-40B4-BE49-F238E27FC236}">
                <a16:creationId xmlns:a16="http://schemas.microsoft.com/office/drawing/2014/main" id="{423B1C67-C443-3572-D344-FDA89CC4AB5C}"/>
              </a:ext>
            </a:extLst>
          </p:cNvPr>
          <p:cNvPicPr>
            <a:picLocks noChangeAspect="1"/>
          </p:cNvPicPr>
          <p:nvPr/>
        </p:nvPicPr>
        <p:blipFill>
          <a:blip r:embed="rId5"/>
          <a:srcRect t="6643" b="21543"/>
          <a:stretch>
            <a:fillRect/>
          </a:stretch>
        </p:blipFill>
        <p:spPr>
          <a:xfrm>
            <a:off x="298945" y="1309292"/>
            <a:ext cx="6288992" cy="4733843"/>
          </a:xfrm>
          <a:prstGeom prst="rect">
            <a:avLst/>
          </a:prstGeom>
        </p:spPr>
      </p:pic>
      <p:sp>
        <p:nvSpPr>
          <p:cNvPr id="103" name="Dot 103"/>
          <p:cNvSpPr/>
          <p:nvPr/>
        </p:nvSpPr>
        <p:spPr>
          <a:xfrm>
            <a:off x="411480" y="814864"/>
            <a:ext cx="256032" cy="256032"/>
          </a:xfrm>
          <a:prstGeom prst="ellipse">
            <a:avLst/>
          </a:prstGeom>
          <a:solidFill>
            <a:srgbClr val="0070C0"/>
          </a:solidFill>
          <a:ln>
            <a:noFill/>
          </a:ln>
        </p:spPr>
        <p:txBody>
          <a:bodyPr/>
          <a:lstStyle/>
          <a:p>
            <a:endParaRPr lang="en-US"/>
          </a:p>
        </p:txBody>
      </p:sp>
      <p:sp>
        <p:nvSpPr>
          <p:cNvPr id="4" name="TextBox 3">
            <a:extLst>
              <a:ext uri="{FF2B5EF4-FFF2-40B4-BE49-F238E27FC236}">
                <a16:creationId xmlns:a16="http://schemas.microsoft.com/office/drawing/2014/main" id="{8505628E-BAC6-F131-676F-1A53A014E0D5}"/>
              </a:ext>
            </a:extLst>
          </p:cNvPr>
          <p:cNvSpPr txBox="1"/>
          <p:nvPr/>
        </p:nvSpPr>
        <p:spPr>
          <a:xfrm>
            <a:off x="685800" y="760000"/>
            <a:ext cx="3163747" cy="400110"/>
          </a:xfrm>
          <a:prstGeom prst="rect">
            <a:avLst/>
          </a:prstGeom>
          <a:noFill/>
        </p:spPr>
        <p:txBody>
          <a:bodyPr wrap="square" rtlCol="0">
            <a:spAutoFit/>
          </a:bodyPr>
          <a:lstStyle/>
          <a:p>
            <a:r>
              <a:rPr lang="en-IN" sz="2000" b="1" dirty="0">
                <a:solidFill>
                  <a:schemeClr val="tx2"/>
                </a:solidFill>
              </a:rPr>
              <a:t>Low-level Flow Chart:</a:t>
            </a:r>
          </a:p>
        </p:txBody>
      </p:sp>
      <p:sp>
        <p:nvSpPr>
          <p:cNvPr id="104" name="Dot 104"/>
          <p:cNvSpPr/>
          <p:nvPr/>
        </p:nvSpPr>
        <p:spPr>
          <a:xfrm>
            <a:off x="6753225" y="814864"/>
            <a:ext cx="256032" cy="256032"/>
          </a:xfrm>
          <a:prstGeom prst="ellipse">
            <a:avLst/>
          </a:prstGeom>
          <a:solidFill>
            <a:srgbClr val="0070C0"/>
          </a:solidFill>
          <a:ln>
            <a:noFill/>
          </a:ln>
        </p:spPr>
        <p:txBody>
          <a:bodyPr/>
          <a:lstStyle/>
          <a:p>
            <a:endParaRPr lang="en-US"/>
          </a:p>
        </p:txBody>
      </p:sp>
      <p:sp>
        <p:nvSpPr>
          <p:cNvPr id="8" name="TextBox 7">
            <a:extLst>
              <a:ext uri="{FF2B5EF4-FFF2-40B4-BE49-F238E27FC236}">
                <a16:creationId xmlns:a16="http://schemas.microsoft.com/office/drawing/2014/main" id="{C4431495-00B2-23DF-E396-82386CDF7327}"/>
              </a:ext>
            </a:extLst>
          </p:cNvPr>
          <p:cNvSpPr txBox="1"/>
          <p:nvPr/>
        </p:nvSpPr>
        <p:spPr>
          <a:xfrm>
            <a:off x="7027545" y="760000"/>
            <a:ext cx="3163747" cy="400110"/>
          </a:xfrm>
          <a:prstGeom prst="rect">
            <a:avLst/>
          </a:prstGeom>
          <a:noFill/>
        </p:spPr>
        <p:txBody>
          <a:bodyPr wrap="square" rtlCol="0">
            <a:spAutoFit/>
          </a:bodyPr>
          <a:lstStyle/>
          <a:p>
            <a:r>
              <a:rPr lang="en-IN" sz="2000" b="1" dirty="0">
                <a:solidFill>
                  <a:schemeClr val="tx2"/>
                </a:solidFill>
              </a:rPr>
              <a:t>Tools to be used:</a:t>
            </a:r>
          </a:p>
        </p:txBody>
      </p:sp>
      <p:sp>
        <p:nvSpPr>
          <p:cNvPr id="7" name="Oval 6" descr="Your startup LOGO">
            <a:extLst>
              <a:ext uri="{FF2B5EF4-FFF2-40B4-BE49-F238E27FC236}">
                <a16:creationId xmlns:a16="http://schemas.microsoft.com/office/drawing/2014/main" id="{6E792E90-52A2-0897-F8BA-6980ECFD2C18}"/>
              </a:ext>
              <a:ext uri="{C183D7F6-B498-43B3-948B-1728B52AA6E4}">
                <adec:decorative xmlns:adec="http://schemas.microsoft.com/office/drawing/2017/decorative" val="0"/>
              </a:ext>
            </a:extLst>
          </p:cNvPr>
          <p:cNvSpPr/>
          <p:nvPr/>
        </p:nvSpPr>
        <p:spPr>
          <a:xfrm>
            <a:off x="117223" y="132080"/>
            <a:ext cx="1843657" cy="651641"/>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err="1"/>
              <a:t>DataShield</a:t>
            </a:r>
            <a:endParaRPr lang="en-US" dirty="0"/>
          </a:p>
        </p:txBody>
      </p:sp>
      <p:sp>
        <p:nvSpPr>
          <p:cNvPr id="9" name="Slide Number Placeholder 5">
            <a:extLst>
              <a:ext uri="{FF2B5EF4-FFF2-40B4-BE49-F238E27FC236}">
                <a16:creationId xmlns:a16="http://schemas.microsoft.com/office/drawing/2014/main" id="{A5CC8D9B-F6A1-35D8-3CBD-1209636847ED}"/>
              </a:ext>
            </a:extLst>
          </p:cNvPr>
          <p:cNvSpPr>
            <a:spLocks noGrp="1"/>
          </p:cNvSpPr>
          <p:nvPr>
            <p:ph type="sldNum" sz="quarter" idx="12"/>
          </p:nvPr>
        </p:nvSpPr>
        <p:spPr>
          <a:xfrm>
            <a:off x="8694056" y="6392050"/>
            <a:ext cx="2844800" cy="365125"/>
          </a:xfrm>
        </p:spPr>
        <p:txBody>
          <a:bodyPr/>
          <a:lstStyle/>
          <a:p>
            <a:fld id="{677C3CE7-23F7-4828-823C-E0205DF2CF97}" type="slidenum">
              <a:rPr lang="en-US" b="1" smtClean="0">
                <a:solidFill>
                  <a:schemeClr val="bg1"/>
                </a:solidFill>
              </a:rPr>
              <a:pPr/>
              <a:t>3</a:t>
            </a:fld>
            <a:endParaRPr lang="en-US" b="1" dirty="0">
              <a:solidFill>
                <a:schemeClr val="bg1"/>
              </a:solidFill>
            </a:endParaRPr>
          </a:p>
        </p:txBody>
      </p:sp>
      <p:sp>
        <p:nvSpPr>
          <p:cNvPr id="13" name="Footer Placeholder 6">
            <a:extLst>
              <a:ext uri="{FF2B5EF4-FFF2-40B4-BE49-F238E27FC236}">
                <a16:creationId xmlns:a16="http://schemas.microsoft.com/office/drawing/2014/main" id="{8D00C793-2C9A-3E73-5D65-1641944EAC71}"/>
              </a:ext>
            </a:extLst>
          </p:cNvPr>
          <p:cNvSpPr>
            <a:spLocks noGrp="1"/>
          </p:cNvSpPr>
          <p:nvPr>
            <p:ph type="ftr" sz="quarter" idx="11"/>
          </p:nvPr>
        </p:nvSpPr>
        <p:spPr>
          <a:xfrm>
            <a:off x="4604656" y="6423818"/>
            <a:ext cx="3204000" cy="365125"/>
          </a:xfrm>
        </p:spPr>
        <p:txBody>
          <a:bodyPr/>
          <a:lstStyle/>
          <a:p>
            <a:pPr>
              <a:defRPr/>
            </a:pPr>
            <a:r>
              <a:rPr lang="en-US" dirty="0">
                <a:solidFill>
                  <a:schemeClr val="bg1"/>
                </a:solidFill>
              </a:rPr>
              <a:t>@SIH Idea submission- Template</a:t>
            </a:r>
          </a:p>
        </p:txBody>
      </p:sp>
    </p:spTree>
    <p:extLst>
      <p:ext uri="{BB962C8B-B14F-4D97-AF65-F5344CB8AC3E}">
        <p14:creationId xmlns:p14="http://schemas.microsoft.com/office/powerpoint/2010/main" val="3172588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BFE5C-0F6C-AC33-5B13-12F59E7E1BC2}"/>
            </a:ext>
          </a:extLst>
        </p:cNvPr>
        <p:cNvGrpSpPr/>
        <p:nvPr/>
      </p:nvGrpSpPr>
      <p:grpSpPr>
        <a:xfrm>
          <a:off x="0" y="0"/>
          <a:ext cx="0" cy="0"/>
          <a:chOff x="0" y="0"/>
          <a:chExt cx="0" cy="0"/>
        </a:xfrm>
      </p:grpSpPr>
      <p:sp>
        <p:nvSpPr>
          <p:cNvPr id="17409" name="Title 1">
            <a:extLst>
              <a:ext uri="{FF2B5EF4-FFF2-40B4-BE49-F238E27FC236}">
                <a16:creationId xmlns:a16="http://schemas.microsoft.com/office/drawing/2014/main" id="{D66F9009-3FB9-E473-65EC-50BF2825009C}"/>
              </a:ext>
            </a:extLst>
          </p:cNvPr>
          <p:cNvSpPr>
            <a:spLocks noGrp="1"/>
          </p:cNvSpPr>
          <p:nvPr>
            <p:ph type="title"/>
          </p:nvPr>
        </p:nvSpPr>
        <p:spPr>
          <a:xfrm>
            <a:off x="609600" y="-47625"/>
            <a:ext cx="10972800" cy="638175"/>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pic>
        <p:nvPicPr>
          <p:cNvPr id="11" name="Picture 10">
            <a:extLst>
              <a:ext uri="{FF2B5EF4-FFF2-40B4-BE49-F238E27FC236}">
                <a16:creationId xmlns:a16="http://schemas.microsoft.com/office/drawing/2014/main" id="{3897C80B-5521-BC1E-2E3B-75E3ACBC12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52498" y="19860"/>
            <a:ext cx="2249850" cy="1062337"/>
          </a:xfrm>
          <a:prstGeom prst="rect">
            <a:avLst/>
          </a:prstGeom>
        </p:spPr>
      </p:pic>
      <p:sp>
        <p:nvSpPr>
          <p:cNvPr id="4" name="Shape 5">
            <a:extLst>
              <a:ext uri="{FF2B5EF4-FFF2-40B4-BE49-F238E27FC236}">
                <a16:creationId xmlns:a16="http://schemas.microsoft.com/office/drawing/2014/main" id="{D1F11E9F-D38E-F173-1BBD-FEFFACD3B458}"/>
              </a:ext>
            </a:extLst>
          </p:cNvPr>
          <p:cNvSpPr/>
          <p:nvPr/>
        </p:nvSpPr>
        <p:spPr>
          <a:xfrm>
            <a:off x="161106" y="873410"/>
            <a:ext cx="3657167" cy="5119335"/>
          </a:xfrm>
          <a:prstGeom prst="roundRect">
            <a:avLst>
              <a:gd name="adj" fmla="val 3033"/>
            </a:avLst>
          </a:prstGeom>
          <a:solidFill>
            <a:srgbClr val="E4EAF0"/>
          </a:solidFill>
          <a:ln/>
          <a:effectLst>
            <a:outerShdw blurRad="88900" dist="25400" dir="5400000" algn="bl" rotWithShape="0">
              <a:srgbClr val="1B1B1B">
                <a:alpha val="18000"/>
              </a:srgbClr>
            </a:outerShdw>
          </a:effectLst>
        </p:spPr>
      </p:sp>
      <p:sp>
        <p:nvSpPr>
          <p:cNvPr id="7" name="Shape 6">
            <a:extLst>
              <a:ext uri="{FF2B5EF4-FFF2-40B4-BE49-F238E27FC236}">
                <a16:creationId xmlns:a16="http://schemas.microsoft.com/office/drawing/2014/main" id="{3007ABAA-C44F-ABF9-8A07-82890B98B54A}"/>
              </a:ext>
            </a:extLst>
          </p:cNvPr>
          <p:cNvSpPr/>
          <p:nvPr/>
        </p:nvSpPr>
        <p:spPr>
          <a:xfrm>
            <a:off x="362275" y="1125126"/>
            <a:ext cx="402336" cy="402336"/>
          </a:xfrm>
          <a:prstGeom prst="ellipse">
            <a:avLst/>
          </a:prstGeom>
          <a:solidFill>
            <a:srgbClr val="003049"/>
          </a:solidFill>
          <a:ln/>
        </p:spPr>
      </p:sp>
      <p:pic>
        <p:nvPicPr>
          <p:cNvPr id="9" name="Image 1" descr="icons/header_feasibility.png">
            <a:extLst>
              <a:ext uri="{FF2B5EF4-FFF2-40B4-BE49-F238E27FC236}">
                <a16:creationId xmlns:a16="http://schemas.microsoft.com/office/drawing/2014/main" id="{F8F8933D-7331-43A7-A197-7FC24F045D22}"/>
              </a:ext>
            </a:extLst>
          </p:cNvPr>
          <p:cNvPicPr>
            <a:picLocks noChangeAspect="1"/>
          </p:cNvPicPr>
          <p:nvPr/>
        </p:nvPicPr>
        <p:blipFill>
          <a:blip r:embed="rId4"/>
          <a:stretch>
            <a:fillRect/>
          </a:stretch>
        </p:blipFill>
        <p:spPr>
          <a:xfrm>
            <a:off x="444571" y="1207422"/>
            <a:ext cx="237744" cy="237744"/>
          </a:xfrm>
          <a:prstGeom prst="rect">
            <a:avLst/>
          </a:prstGeom>
        </p:spPr>
      </p:pic>
      <p:sp>
        <p:nvSpPr>
          <p:cNvPr id="13" name="Text 7">
            <a:extLst>
              <a:ext uri="{FF2B5EF4-FFF2-40B4-BE49-F238E27FC236}">
                <a16:creationId xmlns:a16="http://schemas.microsoft.com/office/drawing/2014/main" id="{493A484A-233B-16AD-C7B2-05327F3D8E0D}"/>
              </a:ext>
            </a:extLst>
          </p:cNvPr>
          <p:cNvSpPr txBox="1"/>
          <p:nvPr/>
        </p:nvSpPr>
        <p:spPr>
          <a:xfrm>
            <a:off x="901771" y="1070262"/>
            <a:ext cx="2667000" cy="530352"/>
          </a:xfrm>
          <a:prstGeom prst="rect">
            <a:avLst/>
          </a:prstGeom>
          <a:noFill/>
          <a:ln/>
        </p:spPr>
        <p:txBody>
          <a:bodyPr wrap="square" lIns="0" tIns="0" rIns="0" bIns="0" rtlCol="0" anchor="ctr"/>
          <a:lstStyle/>
          <a:p>
            <a:pPr marL="0" indent="0" algn="l">
              <a:lnSpc>
                <a:spcPct val="95000"/>
              </a:lnSpc>
              <a:buNone/>
            </a:pPr>
            <a:r>
              <a:rPr lang="en-US" sz="1550" b="1" dirty="0">
                <a:solidFill>
                  <a:srgbClr val="003049"/>
                </a:solidFill>
                <a:latin typeface="Cambria" pitchFamily="34" charset="0"/>
                <a:ea typeface="Cambria" pitchFamily="34" charset="-122"/>
                <a:cs typeface="Cambria" pitchFamily="34" charset="-120"/>
              </a:rPr>
              <a:t>Feasibility of the Idea</a:t>
            </a:r>
            <a:endParaRPr lang="en-US" sz="1550" dirty="0"/>
          </a:p>
        </p:txBody>
      </p:sp>
      <p:sp>
        <p:nvSpPr>
          <p:cNvPr id="16" name="Shape 8">
            <a:extLst>
              <a:ext uri="{FF2B5EF4-FFF2-40B4-BE49-F238E27FC236}">
                <a16:creationId xmlns:a16="http://schemas.microsoft.com/office/drawing/2014/main" id="{AEE4F386-16BE-D598-FCCB-0FCA23028C4D}"/>
              </a:ext>
            </a:extLst>
          </p:cNvPr>
          <p:cNvSpPr/>
          <p:nvPr/>
        </p:nvSpPr>
        <p:spPr>
          <a:xfrm>
            <a:off x="362275" y="1737774"/>
            <a:ext cx="310896" cy="310896"/>
          </a:xfrm>
          <a:prstGeom prst="ellipse">
            <a:avLst/>
          </a:prstGeom>
          <a:solidFill>
            <a:srgbClr val="003049"/>
          </a:solidFill>
          <a:ln/>
        </p:spPr>
      </p:sp>
      <p:pic>
        <p:nvPicPr>
          <p:cNvPr id="18" name="Image 2" descr="icons/item_proven_apis.png">
            <a:extLst>
              <a:ext uri="{FF2B5EF4-FFF2-40B4-BE49-F238E27FC236}">
                <a16:creationId xmlns:a16="http://schemas.microsoft.com/office/drawing/2014/main" id="{0F20333D-B958-A654-86A5-ADCF301589B2}"/>
              </a:ext>
            </a:extLst>
          </p:cNvPr>
          <p:cNvPicPr>
            <a:picLocks noChangeAspect="1"/>
          </p:cNvPicPr>
          <p:nvPr/>
        </p:nvPicPr>
        <p:blipFill>
          <a:blip r:embed="rId5"/>
          <a:stretch>
            <a:fillRect/>
          </a:stretch>
        </p:blipFill>
        <p:spPr>
          <a:xfrm>
            <a:off x="412018" y="1787517"/>
            <a:ext cx="211409" cy="211409"/>
          </a:xfrm>
          <a:prstGeom prst="rect">
            <a:avLst/>
          </a:prstGeom>
        </p:spPr>
      </p:pic>
      <p:sp>
        <p:nvSpPr>
          <p:cNvPr id="20" name="Text 9">
            <a:extLst>
              <a:ext uri="{FF2B5EF4-FFF2-40B4-BE49-F238E27FC236}">
                <a16:creationId xmlns:a16="http://schemas.microsoft.com/office/drawing/2014/main" id="{FC7BDB1F-8BC0-E276-DBA7-D5195DB9175E}"/>
              </a:ext>
            </a:extLst>
          </p:cNvPr>
          <p:cNvSpPr txBox="1"/>
          <p:nvPr/>
        </p:nvSpPr>
        <p:spPr>
          <a:xfrm>
            <a:off x="801187" y="1710342"/>
            <a:ext cx="2795016" cy="673608"/>
          </a:xfrm>
          <a:prstGeom prst="rect">
            <a:avLst/>
          </a:prstGeom>
          <a:noFill/>
          <a:ln/>
        </p:spPr>
        <p:txBody>
          <a:bodyPr wrap="square" lIns="0" tIns="0" rIns="0" bIns="0" rtlCol="0" anchor="t"/>
          <a:lstStyle/>
          <a:p>
            <a:pPr marL="0" indent="0" algn="l">
              <a:lnSpc>
                <a:spcPct val="106000"/>
              </a:lnSpc>
              <a:spcAft>
                <a:spcPts val="100"/>
              </a:spcAft>
              <a:buNone/>
            </a:pPr>
            <a:r>
              <a:rPr lang="en-US" sz="1400" b="1" dirty="0">
                <a:solidFill>
                  <a:srgbClr val="1B1B1B"/>
                </a:solidFill>
                <a:latin typeface="Calibri" pitchFamily="34" charset="0"/>
                <a:ea typeface="Calibri" pitchFamily="34" charset="-122"/>
                <a:cs typeface="Calibri" pitchFamily="34" charset="-120"/>
              </a:rPr>
              <a:t>Proven, Ready APIs</a:t>
            </a:r>
            <a:endParaRPr lang="en-US" sz="1400" dirty="0"/>
          </a:p>
          <a:p>
            <a:pPr marL="0" indent="0" algn="l">
              <a:lnSpc>
                <a:spcPct val="106000"/>
              </a:lnSpc>
              <a:spcAft>
                <a:spcPts val="100"/>
              </a:spcAft>
              <a:buNone/>
            </a:pPr>
            <a:r>
              <a:rPr lang="en-US" sz="1050" dirty="0">
                <a:solidFill>
                  <a:srgbClr val="3F3F3F"/>
                </a:solidFill>
                <a:latin typeface="Calibri" pitchFamily="34" charset="0"/>
                <a:ea typeface="Calibri" pitchFamily="34" charset="-122"/>
                <a:cs typeface="Calibri" pitchFamily="34" charset="-120"/>
              </a:rPr>
              <a:t>Open-Meteo, IMD, GEE &amp; WhatsApp/SMS APIs plug in directly — no need to build from scratch.</a:t>
            </a:r>
            <a:endParaRPr lang="en-US" sz="1400" dirty="0"/>
          </a:p>
        </p:txBody>
      </p:sp>
      <p:sp>
        <p:nvSpPr>
          <p:cNvPr id="22" name="Shape 10">
            <a:extLst>
              <a:ext uri="{FF2B5EF4-FFF2-40B4-BE49-F238E27FC236}">
                <a16:creationId xmlns:a16="http://schemas.microsoft.com/office/drawing/2014/main" id="{8CF00C51-3C95-35AA-FA3D-BACD7F338F35}"/>
              </a:ext>
            </a:extLst>
          </p:cNvPr>
          <p:cNvSpPr/>
          <p:nvPr/>
        </p:nvSpPr>
        <p:spPr>
          <a:xfrm>
            <a:off x="362275" y="2447958"/>
            <a:ext cx="310896" cy="310896"/>
          </a:xfrm>
          <a:prstGeom prst="ellipse">
            <a:avLst/>
          </a:prstGeom>
          <a:solidFill>
            <a:srgbClr val="003049"/>
          </a:solidFill>
          <a:ln/>
        </p:spPr>
      </p:sp>
      <p:pic>
        <p:nvPicPr>
          <p:cNvPr id="24" name="Image 3" descr="icons/item_indices.png">
            <a:extLst>
              <a:ext uri="{FF2B5EF4-FFF2-40B4-BE49-F238E27FC236}">
                <a16:creationId xmlns:a16="http://schemas.microsoft.com/office/drawing/2014/main" id="{64663ACD-B43E-B8F8-B6AD-2291E7CA9A9E}"/>
              </a:ext>
            </a:extLst>
          </p:cNvPr>
          <p:cNvPicPr>
            <a:picLocks noChangeAspect="1"/>
          </p:cNvPicPr>
          <p:nvPr/>
        </p:nvPicPr>
        <p:blipFill>
          <a:blip r:embed="rId6"/>
          <a:stretch>
            <a:fillRect/>
          </a:stretch>
        </p:blipFill>
        <p:spPr>
          <a:xfrm>
            <a:off x="412018" y="2497701"/>
            <a:ext cx="211409" cy="211409"/>
          </a:xfrm>
          <a:prstGeom prst="rect">
            <a:avLst/>
          </a:prstGeom>
        </p:spPr>
      </p:pic>
      <p:sp>
        <p:nvSpPr>
          <p:cNvPr id="26" name="Text 11">
            <a:extLst>
              <a:ext uri="{FF2B5EF4-FFF2-40B4-BE49-F238E27FC236}">
                <a16:creationId xmlns:a16="http://schemas.microsoft.com/office/drawing/2014/main" id="{47161442-664C-FEE3-44C9-92406C372378}"/>
              </a:ext>
            </a:extLst>
          </p:cNvPr>
          <p:cNvSpPr txBox="1"/>
          <p:nvPr/>
        </p:nvSpPr>
        <p:spPr>
          <a:xfrm>
            <a:off x="801187" y="2420526"/>
            <a:ext cx="2795016" cy="673608"/>
          </a:xfrm>
          <a:prstGeom prst="rect">
            <a:avLst/>
          </a:prstGeom>
          <a:noFill/>
          <a:ln/>
        </p:spPr>
        <p:txBody>
          <a:bodyPr wrap="square" lIns="0" tIns="0" rIns="0" bIns="0" rtlCol="0" anchor="t"/>
          <a:lstStyle/>
          <a:p>
            <a:pPr marL="0" indent="0" algn="l">
              <a:lnSpc>
                <a:spcPct val="106000"/>
              </a:lnSpc>
              <a:spcAft>
                <a:spcPts val="100"/>
              </a:spcAft>
              <a:buNone/>
            </a:pPr>
            <a:r>
              <a:rPr lang="en-US" sz="1400" b="1" dirty="0">
                <a:solidFill>
                  <a:srgbClr val="1B1B1B"/>
                </a:solidFill>
                <a:latin typeface="Calibri" pitchFamily="34" charset="0"/>
                <a:ea typeface="Calibri" pitchFamily="34" charset="-122"/>
                <a:cs typeface="Calibri" pitchFamily="34" charset="-120"/>
              </a:rPr>
              <a:t>Human-Centered Indices</a:t>
            </a:r>
            <a:endParaRPr lang="en-US" sz="1400" dirty="0"/>
          </a:p>
          <a:p>
            <a:pPr marL="0" indent="0" algn="l">
              <a:lnSpc>
                <a:spcPct val="106000"/>
              </a:lnSpc>
              <a:spcAft>
                <a:spcPts val="100"/>
              </a:spcAft>
              <a:buNone/>
            </a:pPr>
            <a:r>
              <a:rPr lang="en-US" sz="1050" dirty="0">
                <a:solidFill>
                  <a:srgbClr val="3F3F3F"/>
                </a:solidFill>
                <a:latin typeface="Calibri" pitchFamily="34" charset="0"/>
                <a:ea typeface="Calibri" pitchFamily="34" charset="-122"/>
                <a:cs typeface="Calibri" pitchFamily="34" charset="-120"/>
              </a:rPr>
              <a:t>UTCI &amp; WBGT capture true physiological heat stress, not just air temperature.</a:t>
            </a:r>
            <a:endParaRPr lang="en-US" sz="1400" dirty="0"/>
          </a:p>
        </p:txBody>
      </p:sp>
      <p:sp>
        <p:nvSpPr>
          <p:cNvPr id="28" name="Shape 12">
            <a:extLst>
              <a:ext uri="{FF2B5EF4-FFF2-40B4-BE49-F238E27FC236}">
                <a16:creationId xmlns:a16="http://schemas.microsoft.com/office/drawing/2014/main" id="{AC03EA81-A894-DCC7-C4D3-D2D78C124091}"/>
              </a:ext>
            </a:extLst>
          </p:cNvPr>
          <p:cNvSpPr/>
          <p:nvPr/>
        </p:nvSpPr>
        <p:spPr>
          <a:xfrm>
            <a:off x="362275" y="3158142"/>
            <a:ext cx="310896" cy="310896"/>
          </a:xfrm>
          <a:prstGeom prst="ellipse">
            <a:avLst/>
          </a:prstGeom>
          <a:solidFill>
            <a:srgbClr val="003049"/>
          </a:solidFill>
          <a:ln/>
        </p:spPr>
      </p:sp>
      <p:pic>
        <p:nvPicPr>
          <p:cNvPr id="30" name="Image 4" descr="icons/item_public_data.png">
            <a:extLst>
              <a:ext uri="{FF2B5EF4-FFF2-40B4-BE49-F238E27FC236}">
                <a16:creationId xmlns:a16="http://schemas.microsoft.com/office/drawing/2014/main" id="{177D6C96-8F91-19A7-8D77-2C08E9C52D58}"/>
              </a:ext>
            </a:extLst>
          </p:cNvPr>
          <p:cNvPicPr>
            <a:picLocks noChangeAspect="1"/>
          </p:cNvPicPr>
          <p:nvPr/>
        </p:nvPicPr>
        <p:blipFill>
          <a:blip r:embed="rId7"/>
          <a:stretch>
            <a:fillRect/>
          </a:stretch>
        </p:blipFill>
        <p:spPr>
          <a:xfrm>
            <a:off x="412018" y="3207885"/>
            <a:ext cx="211409" cy="211409"/>
          </a:xfrm>
          <a:prstGeom prst="rect">
            <a:avLst/>
          </a:prstGeom>
        </p:spPr>
      </p:pic>
      <p:sp>
        <p:nvSpPr>
          <p:cNvPr id="32" name="Text 13">
            <a:extLst>
              <a:ext uri="{FF2B5EF4-FFF2-40B4-BE49-F238E27FC236}">
                <a16:creationId xmlns:a16="http://schemas.microsoft.com/office/drawing/2014/main" id="{B30942A6-1527-72B5-6E13-69EAAE2FD8DA}"/>
              </a:ext>
            </a:extLst>
          </p:cNvPr>
          <p:cNvSpPr txBox="1"/>
          <p:nvPr/>
        </p:nvSpPr>
        <p:spPr>
          <a:xfrm>
            <a:off x="801187" y="3130710"/>
            <a:ext cx="2795016" cy="673608"/>
          </a:xfrm>
          <a:prstGeom prst="rect">
            <a:avLst/>
          </a:prstGeom>
          <a:noFill/>
          <a:ln/>
        </p:spPr>
        <p:txBody>
          <a:bodyPr wrap="square" lIns="0" tIns="0" rIns="0" bIns="0" rtlCol="0" anchor="t"/>
          <a:lstStyle/>
          <a:p>
            <a:pPr marL="0" indent="0" algn="l">
              <a:lnSpc>
                <a:spcPct val="106000"/>
              </a:lnSpc>
              <a:spcAft>
                <a:spcPts val="100"/>
              </a:spcAft>
              <a:buNone/>
            </a:pPr>
            <a:r>
              <a:rPr lang="en-US" sz="1400" b="1" dirty="0">
                <a:solidFill>
                  <a:srgbClr val="1B1B1B"/>
                </a:solidFill>
                <a:latin typeface="Calibri" pitchFamily="34" charset="0"/>
                <a:ea typeface="Calibri" pitchFamily="34" charset="-122"/>
                <a:cs typeface="Calibri" pitchFamily="34" charset="-120"/>
              </a:rPr>
              <a:t>Rich Public Data</a:t>
            </a:r>
            <a:endParaRPr lang="en-US" sz="1400" dirty="0"/>
          </a:p>
          <a:p>
            <a:pPr marL="0" indent="0" algn="l">
              <a:lnSpc>
                <a:spcPct val="106000"/>
              </a:lnSpc>
              <a:spcAft>
                <a:spcPts val="100"/>
              </a:spcAft>
              <a:buNone/>
            </a:pPr>
            <a:r>
              <a:rPr lang="en-US" sz="1050" dirty="0">
                <a:solidFill>
                  <a:srgbClr val="3F3F3F"/>
                </a:solidFill>
                <a:latin typeface="Calibri" pitchFamily="34" charset="0"/>
                <a:ea typeface="Calibri" pitchFamily="34" charset="-122"/>
                <a:cs typeface="Calibri" pitchFamily="34" charset="-120"/>
              </a:rPr>
              <a:t>Combines weather, satellite, population &amp; vulnerability datasets.</a:t>
            </a:r>
            <a:endParaRPr lang="en-US" sz="1400" dirty="0"/>
          </a:p>
        </p:txBody>
      </p:sp>
      <p:sp>
        <p:nvSpPr>
          <p:cNvPr id="34" name="Shape 14">
            <a:extLst>
              <a:ext uri="{FF2B5EF4-FFF2-40B4-BE49-F238E27FC236}">
                <a16:creationId xmlns:a16="http://schemas.microsoft.com/office/drawing/2014/main" id="{21F3C238-9870-0883-7175-8D7A846CF539}"/>
              </a:ext>
            </a:extLst>
          </p:cNvPr>
          <p:cNvSpPr/>
          <p:nvPr/>
        </p:nvSpPr>
        <p:spPr>
          <a:xfrm>
            <a:off x="362275" y="3868326"/>
            <a:ext cx="310896" cy="310896"/>
          </a:xfrm>
          <a:prstGeom prst="ellipse">
            <a:avLst/>
          </a:prstGeom>
          <a:solidFill>
            <a:srgbClr val="003049"/>
          </a:solidFill>
          <a:ln/>
        </p:spPr>
      </p:sp>
      <p:pic>
        <p:nvPicPr>
          <p:cNvPr id="36" name="Image 5" descr="icons/item_scalable.png">
            <a:extLst>
              <a:ext uri="{FF2B5EF4-FFF2-40B4-BE49-F238E27FC236}">
                <a16:creationId xmlns:a16="http://schemas.microsoft.com/office/drawing/2014/main" id="{1FF193F3-BBCE-495B-4404-3B7F15382E3D}"/>
              </a:ext>
            </a:extLst>
          </p:cNvPr>
          <p:cNvPicPr>
            <a:picLocks noChangeAspect="1"/>
          </p:cNvPicPr>
          <p:nvPr/>
        </p:nvPicPr>
        <p:blipFill>
          <a:blip r:embed="rId8"/>
          <a:stretch>
            <a:fillRect/>
          </a:stretch>
        </p:blipFill>
        <p:spPr>
          <a:xfrm>
            <a:off x="412018" y="3918069"/>
            <a:ext cx="211409" cy="211409"/>
          </a:xfrm>
          <a:prstGeom prst="rect">
            <a:avLst/>
          </a:prstGeom>
        </p:spPr>
      </p:pic>
      <p:sp>
        <p:nvSpPr>
          <p:cNvPr id="38" name="Text 15">
            <a:extLst>
              <a:ext uri="{FF2B5EF4-FFF2-40B4-BE49-F238E27FC236}">
                <a16:creationId xmlns:a16="http://schemas.microsoft.com/office/drawing/2014/main" id="{391610DF-1C70-B34B-D5A7-D022A6C1E10E}"/>
              </a:ext>
            </a:extLst>
          </p:cNvPr>
          <p:cNvSpPr txBox="1"/>
          <p:nvPr/>
        </p:nvSpPr>
        <p:spPr>
          <a:xfrm>
            <a:off x="801187" y="3840894"/>
            <a:ext cx="2795016" cy="673608"/>
          </a:xfrm>
          <a:prstGeom prst="rect">
            <a:avLst/>
          </a:prstGeom>
          <a:noFill/>
          <a:ln/>
        </p:spPr>
        <p:txBody>
          <a:bodyPr wrap="square" lIns="0" tIns="0" rIns="0" bIns="0" rtlCol="0" anchor="t"/>
          <a:lstStyle/>
          <a:p>
            <a:pPr marL="0" indent="0" algn="l">
              <a:lnSpc>
                <a:spcPct val="106000"/>
              </a:lnSpc>
              <a:spcAft>
                <a:spcPts val="100"/>
              </a:spcAft>
              <a:buNone/>
            </a:pPr>
            <a:r>
              <a:rPr lang="en-US" sz="1400" b="1" dirty="0">
                <a:solidFill>
                  <a:srgbClr val="1B1B1B"/>
                </a:solidFill>
                <a:latin typeface="Calibri" pitchFamily="34" charset="0"/>
                <a:ea typeface="Calibri" pitchFamily="34" charset="-122"/>
                <a:cs typeface="Calibri" pitchFamily="34" charset="-120"/>
              </a:rPr>
              <a:t>Lean &amp; Scalable</a:t>
            </a:r>
            <a:endParaRPr lang="en-US" sz="1400" dirty="0"/>
          </a:p>
          <a:p>
            <a:pPr marL="0" indent="0" algn="l">
              <a:lnSpc>
                <a:spcPct val="106000"/>
              </a:lnSpc>
              <a:spcAft>
                <a:spcPts val="100"/>
              </a:spcAft>
              <a:buNone/>
            </a:pPr>
            <a:r>
              <a:rPr lang="en-US" sz="1050" dirty="0">
                <a:solidFill>
                  <a:srgbClr val="3F3F3F"/>
                </a:solidFill>
                <a:latin typeface="Calibri" pitchFamily="34" charset="0"/>
                <a:ea typeface="Calibri" pitchFamily="34" charset="-122"/>
                <a:cs typeface="Calibri" pitchFamily="34" charset="-120"/>
              </a:rPr>
              <a:t>Open-source software &amp; standard cloud infra; GPU optional — the same pipeline expands to new cities.</a:t>
            </a:r>
            <a:endParaRPr lang="en-US" sz="1400" dirty="0"/>
          </a:p>
        </p:txBody>
      </p:sp>
      <p:sp>
        <p:nvSpPr>
          <p:cNvPr id="40" name="Shape 16">
            <a:extLst>
              <a:ext uri="{FF2B5EF4-FFF2-40B4-BE49-F238E27FC236}">
                <a16:creationId xmlns:a16="http://schemas.microsoft.com/office/drawing/2014/main" id="{1A078976-DD8E-A62F-DF27-033010D95705}"/>
              </a:ext>
            </a:extLst>
          </p:cNvPr>
          <p:cNvSpPr/>
          <p:nvPr/>
        </p:nvSpPr>
        <p:spPr>
          <a:xfrm>
            <a:off x="362275" y="4578510"/>
            <a:ext cx="310896" cy="310896"/>
          </a:xfrm>
          <a:prstGeom prst="ellipse">
            <a:avLst/>
          </a:prstGeom>
          <a:solidFill>
            <a:srgbClr val="003049"/>
          </a:solidFill>
          <a:ln/>
        </p:spPr>
      </p:sp>
      <p:pic>
        <p:nvPicPr>
          <p:cNvPr id="42" name="Image 6" descr="icons/item_mass_reach.png">
            <a:extLst>
              <a:ext uri="{FF2B5EF4-FFF2-40B4-BE49-F238E27FC236}">
                <a16:creationId xmlns:a16="http://schemas.microsoft.com/office/drawing/2014/main" id="{70933D10-4605-B243-47F1-2D2784269E51}"/>
              </a:ext>
            </a:extLst>
          </p:cNvPr>
          <p:cNvPicPr>
            <a:picLocks noChangeAspect="1"/>
          </p:cNvPicPr>
          <p:nvPr/>
        </p:nvPicPr>
        <p:blipFill>
          <a:blip r:embed="rId9"/>
          <a:stretch>
            <a:fillRect/>
          </a:stretch>
        </p:blipFill>
        <p:spPr>
          <a:xfrm>
            <a:off x="412018" y="4628253"/>
            <a:ext cx="211409" cy="211409"/>
          </a:xfrm>
          <a:prstGeom prst="rect">
            <a:avLst/>
          </a:prstGeom>
        </p:spPr>
      </p:pic>
      <p:sp>
        <p:nvSpPr>
          <p:cNvPr id="44" name="Text 17">
            <a:extLst>
              <a:ext uri="{FF2B5EF4-FFF2-40B4-BE49-F238E27FC236}">
                <a16:creationId xmlns:a16="http://schemas.microsoft.com/office/drawing/2014/main" id="{AC2EF80E-F805-00F2-47E3-C9E7C71B0D92}"/>
              </a:ext>
            </a:extLst>
          </p:cNvPr>
          <p:cNvSpPr txBox="1"/>
          <p:nvPr/>
        </p:nvSpPr>
        <p:spPr>
          <a:xfrm>
            <a:off x="801187" y="4551078"/>
            <a:ext cx="2795016" cy="673608"/>
          </a:xfrm>
          <a:prstGeom prst="rect">
            <a:avLst/>
          </a:prstGeom>
          <a:noFill/>
          <a:ln/>
        </p:spPr>
        <p:txBody>
          <a:bodyPr wrap="square" lIns="0" tIns="0" rIns="0" bIns="0" rtlCol="0" anchor="t"/>
          <a:lstStyle/>
          <a:p>
            <a:pPr marL="0" indent="0" algn="l">
              <a:lnSpc>
                <a:spcPct val="106000"/>
              </a:lnSpc>
              <a:spcAft>
                <a:spcPts val="100"/>
              </a:spcAft>
              <a:buNone/>
            </a:pPr>
            <a:r>
              <a:rPr lang="en-US" sz="1400" b="1" dirty="0">
                <a:solidFill>
                  <a:srgbClr val="1B1B1B"/>
                </a:solidFill>
                <a:latin typeface="Calibri" pitchFamily="34" charset="0"/>
                <a:ea typeface="Calibri" pitchFamily="34" charset="-122"/>
                <a:cs typeface="Calibri" pitchFamily="34" charset="-120"/>
              </a:rPr>
              <a:t>Mass-Reach Channels</a:t>
            </a:r>
            <a:endParaRPr lang="en-US" sz="1400" dirty="0"/>
          </a:p>
          <a:p>
            <a:pPr marL="0" indent="0" algn="l">
              <a:lnSpc>
                <a:spcPct val="106000"/>
              </a:lnSpc>
              <a:spcAft>
                <a:spcPts val="100"/>
              </a:spcAft>
              <a:buNone/>
            </a:pPr>
            <a:r>
              <a:rPr lang="en-US" sz="1050" dirty="0">
                <a:solidFill>
                  <a:srgbClr val="3F3F3F"/>
                </a:solidFill>
                <a:latin typeface="Calibri" pitchFamily="34" charset="0"/>
                <a:ea typeface="Calibri" pitchFamily="34" charset="-122"/>
                <a:cs typeface="Calibri" pitchFamily="34" charset="-120"/>
              </a:rPr>
              <a:t>SMS/WhatsApp alerts plus a citizen dashboard for wide accessibility.</a:t>
            </a:r>
            <a:endParaRPr lang="en-US" sz="1400" dirty="0"/>
          </a:p>
        </p:txBody>
      </p:sp>
      <p:sp>
        <p:nvSpPr>
          <p:cNvPr id="46" name="Shape 18">
            <a:extLst>
              <a:ext uri="{FF2B5EF4-FFF2-40B4-BE49-F238E27FC236}">
                <a16:creationId xmlns:a16="http://schemas.microsoft.com/office/drawing/2014/main" id="{2F4243EB-3B14-D204-D75B-D5BE7363EAC4}"/>
              </a:ext>
            </a:extLst>
          </p:cNvPr>
          <p:cNvSpPr/>
          <p:nvPr/>
        </p:nvSpPr>
        <p:spPr>
          <a:xfrm>
            <a:off x="362275" y="5288694"/>
            <a:ext cx="310896" cy="310896"/>
          </a:xfrm>
          <a:prstGeom prst="ellipse">
            <a:avLst/>
          </a:prstGeom>
          <a:solidFill>
            <a:srgbClr val="003049"/>
          </a:solidFill>
          <a:ln/>
        </p:spPr>
      </p:sp>
      <p:pic>
        <p:nvPicPr>
          <p:cNvPr id="48" name="Image 7" descr="icons/item_inclusive.png">
            <a:extLst>
              <a:ext uri="{FF2B5EF4-FFF2-40B4-BE49-F238E27FC236}">
                <a16:creationId xmlns:a16="http://schemas.microsoft.com/office/drawing/2014/main" id="{9F1CE622-FD73-7688-4D2E-1BDC79BB3502}"/>
              </a:ext>
            </a:extLst>
          </p:cNvPr>
          <p:cNvPicPr>
            <a:picLocks noChangeAspect="1"/>
          </p:cNvPicPr>
          <p:nvPr/>
        </p:nvPicPr>
        <p:blipFill>
          <a:blip r:embed="rId10"/>
          <a:stretch>
            <a:fillRect/>
          </a:stretch>
        </p:blipFill>
        <p:spPr>
          <a:xfrm>
            <a:off x="412018" y="5338437"/>
            <a:ext cx="211409" cy="211409"/>
          </a:xfrm>
          <a:prstGeom prst="rect">
            <a:avLst/>
          </a:prstGeom>
        </p:spPr>
      </p:pic>
      <p:sp>
        <p:nvSpPr>
          <p:cNvPr id="50" name="Text 19">
            <a:extLst>
              <a:ext uri="{FF2B5EF4-FFF2-40B4-BE49-F238E27FC236}">
                <a16:creationId xmlns:a16="http://schemas.microsoft.com/office/drawing/2014/main" id="{114656FA-B69D-1A6E-4A24-7E64BC566D4E}"/>
              </a:ext>
            </a:extLst>
          </p:cNvPr>
          <p:cNvSpPr txBox="1"/>
          <p:nvPr/>
        </p:nvSpPr>
        <p:spPr>
          <a:xfrm>
            <a:off x="801187" y="5261262"/>
            <a:ext cx="2795016" cy="673608"/>
          </a:xfrm>
          <a:prstGeom prst="rect">
            <a:avLst/>
          </a:prstGeom>
          <a:noFill/>
          <a:ln/>
        </p:spPr>
        <p:txBody>
          <a:bodyPr wrap="square" lIns="0" tIns="0" rIns="0" bIns="0" rtlCol="0" anchor="t"/>
          <a:lstStyle/>
          <a:p>
            <a:pPr marL="0" indent="0" algn="l">
              <a:lnSpc>
                <a:spcPct val="106000"/>
              </a:lnSpc>
              <a:spcAft>
                <a:spcPts val="100"/>
              </a:spcAft>
              <a:buNone/>
            </a:pPr>
            <a:r>
              <a:rPr lang="en-US" sz="1400" b="1" dirty="0">
                <a:solidFill>
                  <a:srgbClr val="1B1B1B"/>
                </a:solidFill>
                <a:latin typeface="Calibri" pitchFamily="34" charset="0"/>
                <a:ea typeface="Calibri" pitchFamily="34" charset="-122"/>
                <a:cs typeface="Calibri" pitchFamily="34" charset="-120"/>
              </a:rPr>
              <a:t>Inclusive by Design</a:t>
            </a:r>
            <a:endParaRPr lang="en-US" sz="1400" dirty="0"/>
          </a:p>
          <a:p>
            <a:pPr marL="0" indent="0" algn="l">
              <a:lnSpc>
                <a:spcPct val="106000"/>
              </a:lnSpc>
              <a:spcAft>
                <a:spcPts val="100"/>
              </a:spcAft>
              <a:buNone/>
            </a:pPr>
            <a:r>
              <a:rPr lang="en-US" sz="1050" dirty="0">
                <a:solidFill>
                  <a:srgbClr val="3F3F3F"/>
                </a:solidFill>
                <a:latin typeface="Calibri" pitchFamily="34" charset="0"/>
                <a:ea typeface="Calibri" pitchFamily="34" charset="-122"/>
                <a:cs typeface="Calibri" pitchFamily="34" charset="-120"/>
              </a:rPr>
              <a:t>Local-language alerts &amp; simple, actionable guidance for citizens, hospitals and authorities.</a:t>
            </a:r>
            <a:endParaRPr lang="en-US" sz="1400" dirty="0"/>
          </a:p>
        </p:txBody>
      </p:sp>
      <p:sp>
        <p:nvSpPr>
          <p:cNvPr id="52" name="Shape 29">
            <a:extLst>
              <a:ext uri="{FF2B5EF4-FFF2-40B4-BE49-F238E27FC236}">
                <a16:creationId xmlns:a16="http://schemas.microsoft.com/office/drawing/2014/main" id="{E91B4736-0F5D-DD8F-565A-D89E54D0F68E}"/>
              </a:ext>
            </a:extLst>
          </p:cNvPr>
          <p:cNvSpPr/>
          <p:nvPr/>
        </p:nvSpPr>
        <p:spPr>
          <a:xfrm>
            <a:off x="4030414" y="3413217"/>
            <a:ext cx="4749007" cy="2887760"/>
          </a:xfrm>
          <a:prstGeom prst="roundRect">
            <a:avLst>
              <a:gd name="adj" fmla="val 3033"/>
            </a:avLst>
          </a:prstGeom>
          <a:solidFill>
            <a:srgbClr val="FDF0DA"/>
          </a:solidFill>
          <a:ln/>
          <a:effectLst>
            <a:outerShdw blurRad="88900" dist="25400" dir="5400000" algn="bl" rotWithShape="0">
              <a:srgbClr val="1B1B1B">
                <a:alpha val="18000"/>
              </a:srgbClr>
            </a:outerShdw>
          </a:effectLst>
        </p:spPr>
      </p:sp>
      <p:sp>
        <p:nvSpPr>
          <p:cNvPr id="54" name="Shape 30">
            <a:extLst>
              <a:ext uri="{FF2B5EF4-FFF2-40B4-BE49-F238E27FC236}">
                <a16:creationId xmlns:a16="http://schemas.microsoft.com/office/drawing/2014/main" id="{472B89FE-8A12-C966-9F1A-7DD220801C95}"/>
              </a:ext>
            </a:extLst>
          </p:cNvPr>
          <p:cNvSpPr/>
          <p:nvPr/>
        </p:nvSpPr>
        <p:spPr>
          <a:xfrm>
            <a:off x="4502763" y="3489632"/>
            <a:ext cx="402336" cy="402336"/>
          </a:xfrm>
          <a:prstGeom prst="ellipse">
            <a:avLst/>
          </a:prstGeom>
          <a:solidFill>
            <a:srgbClr val="B5720A"/>
          </a:solidFill>
          <a:ln/>
        </p:spPr>
      </p:sp>
      <p:pic>
        <p:nvPicPr>
          <p:cNvPr id="56" name="Image 13" descr="icons/header_strategies.png">
            <a:extLst>
              <a:ext uri="{FF2B5EF4-FFF2-40B4-BE49-F238E27FC236}">
                <a16:creationId xmlns:a16="http://schemas.microsoft.com/office/drawing/2014/main" id="{89D7C9AD-3F9B-3783-8871-31A481424260}"/>
              </a:ext>
            </a:extLst>
          </p:cNvPr>
          <p:cNvPicPr>
            <a:picLocks noChangeAspect="1"/>
          </p:cNvPicPr>
          <p:nvPr/>
        </p:nvPicPr>
        <p:blipFill>
          <a:blip r:embed="rId11"/>
          <a:stretch>
            <a:fillRect/>
          </a:stretch>
        </p:blipFill>
        <p:spPr>
          <a:xfrm>
            <a:off x="4585059" y="3571928"/>
            <a:ext cx="237744" cy="237744"/>
          </a:xfrm>
          <a:prstGeom prst="rect">
            <a:avLst/>
          </a:prstGeom>
        </p:spPr>
      </p:pic>
      <p:sp>
        <p:nvSpPr>
          <p:cNvPr id="58" name="Text 31">
            <a:extLst>
              <a:ext uri="{FF2B5EF4-FFF2-40B4-BE49-F238E27FC236}">
                <a16:creationId xmlns:a16="http://schemas.microsoft.com/office/drawing/2014/main" id="{ECC8AFBA-81B5-38A3-CB93-BA0B757E7734}"/>
              </a:ext>
            </a:extLst>
          </p:cNvPr>
          <p:cNvSpPr txBox="1"/>
          <p:nvPr/>
        </p:nvSpPr>
        <p:spPr>
          <a:xfrm>
            <a:off x="4957749" y="3497968"/>
            <a:ext cx="2953428" cy="416703"/>
          </a:xfrm>
          <a:prstGeom prst="rect">
            <a:avLst/>
          </a:prstGeom>
          <a:noFill/>
          <a:ln/>
        </p:spPr>
        <p:txBody>
          <a:bodyPr wrap="square" lIns="0" tIns="0" rIns="0" bIns="0" rtlCol="0" anchor="ctr"/>
          <a:lstStyle/>
          <a:p>
            <a:pPr marL="0" indent="0" algn="l">
              <a:lnSpc>
                <a:spcPct val="95000"/>
              </a:lnSpc>
              <a:buNone/>
            </a:pPr>
            <a:r>
              <a:rPr lang="en-US" sz="1600" b="1" dirty="0">
                <a:solidFill>
                  <a:srgbClr val="B5720A"/>
                </a:solidFill>
                <a:latin typeface="Cambria" pitchFamily="34" charset="0"/>
                <a:ea typeface="Cambria" pitchFamily="34" charset="-122"/>
                <a:cs typeface="Cambria" pitchFamily="34" charset="-120"/>
              </a:rPr>
              <a:t>Strategies to Overcome Them</a:t>
            </a:r>
            <a:endParaRPr lang="en-US" sz="1600" dirty="0"/>
          </a:p>
        </p:txBody>
      </p:sp>
      <p:sp>
        <p:nvSpPr>
          <p:cNvPr id="60" name="Shape 32">
            <a:extLst>
              <a:ext uri="{FF2B5EF4-FFF2-40B4-BE49-F238E27FC236}">
                <a16:creationId xmlns:a16="http://schemas.microsoft.com/office/drawing/2014/main" id="{E2D31E9A-EDAC-A603-3A44-B13DFCF520D2}"/>
              </a:ext>
            </a:extLst>
          </p:cNvPr>
          <p:cNvSpPr/>
          <p:nvPr/>
        </p:nvSpPr>
        <p:spPr>
          <a:xfrm>
            <a:off x="4201772" y="4016830"/>
            <a:ext cx="365760" cy="365760"/>
          </a:xfrm>
          <a:prstGeom prst="ellipse">
            <a:avLst/>
          </a:prstGeom>
          <a:solidFill>
            <a:srgbClr val="B5720A"/>
          </a:solidFill>
          <a:ln/>
        </p:spPr>
      </p:sp>
      <p:pic>
        <p:nvPicPr>
          <p:cNvPr id="62" name="Image 14" descr="icons/item_ai_validation.png">
            <a:extLst>
              <a:ext uri="{FF2B5EF4-FFF2-40B4-BE49-F238E27FC236}">
                <a16:creationId xmlns:a16="http://schemas.microsoft.com/office/drawing/2014/main" id="{00CAC2B5-C07C-EEA3-DBCF-6E2E0E8C64BE}"/>
              </a:ext>
            </a:extLst>
          </p:cNvPr>
          <p:cNvPicPr>
            <a:picLocks noChangeAspect="1"/>
          </p:cNvPicPr>
          <p:nvPr/>
        </p:nvPicPr>
        <p:blipFill>
          <a:blip r:embed="rId12"/>
          <a:stretch>
            <a:fillRect/>
          </a:stretch>
        </p:blipFill>
        <p:spPr>
          <a:xfrm>
            <a:off x="4260294" y="4075352"/>
            <a:ext cx="248717" cy="248717"/>
          </a:xfrm>
          <a:prstGeom prst="rect">
            <a:avLst/>
          </a:prstGeom>
        </p:spPr>
      </p:pic>
      <p:sp>
        <p:nvSpPr>
          <p:cNvPr id="17408" name="Text 33">
            <a:extLst>
              <a:ext uri="{FF2B5EF4-FFF2-40B4-BE49-F238E27FC236}">
                <a16:creationId xmlns:a16="http://schemas.microsoft.com/office/drawing/2014/main" id="{00F7F592-4341-4220-3754-CE0A8441DA39}"/>
              </a:ext>
            </a:extLst>
          </p:cNvPr>
          <p:cNvSpPr txBox="1"/>
          <p:nvPr/>
        </p:nvSpPr>
        <p:spPr>
          <a:xfrm>
            <a:off x="4676006" y="3951845"/>
            <a:ext cx="3805644" cy="877824"/>
          </a:xfrm>
          <a:prstGeom prst="rect">
            <a:avLst/>
          </a:prstGeom>
          <a:noFill/>
          <a:ln/>
        </p:spPr>
        <p:txBody>
          <a:bodyPr wrap="square" lIns="0" tIns="0" rIns="0" bIns="0" rtlCol="0" anchor="t"/>
          <a:lstStyle/>
          <a:p>
            <a:pPr marL="0" indent="0" algn="l">
              <a:lnSpc>
                <a:spcPct val="106000"/>
              </a:lnSpc>
              <a:spcAft>
                <a:spcPts val="100"/>
              </a:spcAft>
              <a:buNone/>
            </a:pPr>
            <a:r>
              <a:rPr lang="en-US" sz="1600" b="1" dirty="0">
                <a:solidFill>
                  <a:srgbClr val="1B1B1B"/>
                </a:solidFill>
                <a:latin typeface="Calibri" pitchFamily="34" charset="0"/>
                <a:ea typeface="Calibri" pitchFamily="34" charset="-122"/>
                <a:cs typeface="Calibri" pitchFamily="34" charset="-120"/>
              </a:rPr>
              <a:t>Continuous AI Validation</a:t>
            </a:r>
            <a:endParaRPr lang="en-US" sz="1600" dirty="0"/>
          </a:p>
          <a:p>
            <a:pPr marL="0" indent="0" algn="l">
              <a:lnSpc>
                <a:spcPct val="106000"/>
              </a:lnSpc>
              <a:spcAft>
                <a:spcPts val="100"/>
              </a:spcAft>
              <a:buNone/>
            </a:pPr>
            <a:r>
              <a:rPr lang="en-US" sz="1400" dirty="0">
                <a:solidFill>
                  <a:srgbClr val="3F3F3F"/>
                </a:solidFill>
                <a:latin typeface="Calibri" pitchFamily="34" charset="0"/>
                <a:ea typeface="Calibri" pitchFamily="34" charset="-122"/>
                <a:cs typeface="Calibri" pitchFamily="34" charset="-120"/>
              </a:rPr>
              <a:t>Explainable models, confidence thresholds, human-in-the-loop review &amp; fallback alerts boost reliability.</a:t>
            </a:r>
            <a:endParaRPr lang="en-US" sz="1600" dirty="0"/>
          </a:p>
        </p:txBody>
      </p:sp>
      <p:sp>
        <p:nvSpPr>
          <p:cNvPr id="17411" name="Shape 34">
            <a:extLst>
              <a:ext uri="{FF2B5EF4-FFF2-40B4-BE49-F238E27FC236}">
                <a16:creationId xmlns:a16="http://schemas.microsoft.com/office/drawing/2014/main" id="{5DCDB238-9B8E-5F1D-0488-93B38EED118B}"/>
              </a:ext>
            </a:extLst>
          </p:cNvPr>
          <p:cNvSpPr/>
          <p:nvPr/>
        </p:nvSpPr>
        <p:spPr>
          <a:xfrm>
            <a:off x="4201625" y="4878805"/>
            <a:ext cx="365760" cy="365760"/>
          </a:xfrm>
          <a:prstGeom prst="ellipse">
            <a:avLst/>
          </a:prstGeom>
          <a:solidFill>
            <a:srgbClr val="B5720A"/>
          </a:solidFill>
          <a:ln/>
        </p:spPr>
      </p:sp>
      <p:pic>
        <p:nvPicPr>
          <p:cNvPr id="17413" name="Image 15" descr="icons/item_connectivity.png">
            <a:extLst>
              <a:ext uri="{FF2B5EF4-FFF2-40B4-BE49-F238E27FC236}">
                <a16:creationId xmlns:a16="http://schemas.microsoft.com/office/drawing/2014/main" id="{ADD9B7EF-B491-1A04-B5A2-60741E715E84}"/>
              </a:ext>
            </a:extLst>
          </p:cNvPr>
          <p:cNvPicPr>
            <a:picLocks noChangeAspect="1"/>
          </p:cNvPicPr>
          <p:nvPr/>
        </p:nvPicPr>
        <p:blipFill>
          <a:blip r:embed="rId13"/>
          <a:stretch>
            <a:fillRect/>
          </a:stretch>
        </p:blipFill>
        <p:spPr>
          <a:xfrm>
            <a:off x="4260147" y="4937327"/>
            <a:ext cx="248717" cy="248717"/>
          </a:xfrm>
          <a:prstGeom prst="rect">
            <a:avLst/>
          </a:prstGeom>
        </p:spPr>
      </p:pic>
      <p:sp>
        <p:nvSpPr>
          <p:cNvPr id="17415" name="Text 35">
            <a:extLst>
              <a:ext uri="{FF2B5EF4-FFF2-40B4-BE49-F238E27FC236}">
                <a16:creationId xmlns:a16="http://schemas.microsoft.com/office/drawing/2014/main" id="{3D598517-F1FC-793D-65F1-1DF3EC8FAD3C}"/>
              </a:ext>
            </a:extLst>
          </p:cNvPr>
          <p:cNvSpPr txBox="1"/>
          <p:nvPr/>
        </p:nvSpPr>
        <p:spPr>
          <a:xfrm>
            <a:off x="4709295" y="4706549"/>
            <a:ext cx="3829983" cy="877824"/>
          </a:xfrm>
          <a:prstGeom prst="rect">
            <a:avLst/>
          </a:prstGeom>
          <a:noFill/>
          <a:ln/>
        </p:spPr>
        <p:txBody>
          <a:bodyPr wrap="square" lIns="0" tIns="0" rIns="0" bIns="0" rtlCol="0" anchor="t"/>
          <a:lstStyle/>
          <a:p>
            <a:pPr marL="0" indent="0" algn="l">
              <a:lnSpc>
                <a:spcPct val="106000"/>
              </a:lnSpc>
              <a:spcAft>
                <a:spcPts val="100"/>
              </a:spcAft>
              <a:buNone/>
            </a:pPr>
            <a:r>
              <a:rPr lang="en-US" sz="1600" b="1" dirty="0">
                <a:solidFill>
                  <a:srgbClr val="1B1B1B"/>
                </a:solidFill>
                <a:latin typeface="Calibri" pitchFamily="34" charset="0"/>
                <a:ea typeface="Calibri" pitchFamily="34" charset="-122"/>
                <a:cs typeface="Calibri" pitchFamily="34" charset="-120"/>
              </a:rPr>
              <a:t>Built for Low Connectivity</a:t>
            </a:r>
            <a:endParaRPr lang="en-US" sz="1600" dirty="0"/>
          </a:p>
          <a:p>
            <a:pPr marL="0" indent="0" algn="l">
              <a:lnSpc>
                <a:spcPct val="106000"/>
              </a:lnSpc>
              <a:spcAft>
                <a:spcPts val="100"/>
              </a:spcAft>
              <a:buNone/>
            </a:pPr>
            <a:r>
              <a:rPr lang="en-US" sz="1400" dirty="0">
                <a:solidFill>
                  <a:srgbClr val="3F3F3F"/>
                </a:solidFill>
                <a:latin typeface="Calibri" pitchFamily="34" charset="0"/>
                <a:ea typeface="Calibri" pitchFamily="34" charset="-122"/>
                <a:cs typeface="Calibri" pitchFamily="34" charset="-120"/>
              </a:rPr>
              <a:t>Offline/SMS support, compressed alerts, multilingual NLP &amp; gradual local calibration close the gap.</a:t>
            </a:r>
            <a:endParaRPr lang="en-US" sz="1600" dirty="0"/>
          </a:p>
        </p:txBody>
      </p:sp>
      <p:sp>
        <p:nvSpPr>
          <p:cNvPr id="17417" name="Shape 36">
            <a:extLst>
              <a:ext uri="{FF2B5EF4-FFF2-40B4-BE49-F238E27FC236}">
                <a16:creationId xmlns:a16="http://schemas.microsoft.com/office/drawing/2014/main" id="{487B0ABF-D4FE-2F15-AAB2-CF8B917EE218}"/>
              </a:ext>
            </a:extLst>
          </p:cNvPr>
          <p:cNvSpPr/>
          <p:nvPr/>
        </p:nvSpPr>
        <p:spPr>
          <a:xfrm>
            <a:off x="4222093" y="5668210"/>
            <a:ext cx="365760" cy="365760"/>
          </a:xfrm>
          <a:prstGeom prst="ellipse">
            <a:avLst/>
          </a:prstGeom>
          <a:solidFill>
            <a:srgbClr val="B5720A"/>
          </a:solidFill>
          <a:ln/>
        </p:spPr>
      </p:sp>
      <p:pic>
        <p:nvPicPr>
          <p:cNvPr id="17419" name="Image 16" descr="icons/item_privacy_secure.png">
            <a:extLst>
              <a:ext uri="{FF2B5EF4-FFF2-40B4-BE49-F238E27FC236}">
                <a16:creationId xmlns:a16="http://schemas.microsoft.com/office/drawing/2014/main" id="{216244AE-4CBE-3601-ADB9-03FA71AFEEEC}"/>
              </a:ext>
            </a:extLst>
          </p:cNvPr>
          <p:cNvPicPr>
            <a:picLocks noChangeAspect="1"/>
          </p:cNvPicPr>
          <p:nvPr/>
        </p:nvPicPr>
        <p:blipFill>
          <a:blip r:embed="rId14"/>
          <a:stretch>
            <a:fillRect/>
          </a:stretch>
        </p:blipFill>
        <p:spPr>
          <a:xfrm>
            <a:off x="4280615" y="5726732"/>
            <a:ext cx="248717" cy="248717"/>
          </a:xfrm>
          <a:prstGeom prst="rect">
            <a:avLst/>
          </a:prstGeom>
        </p:spPr>
      </p:pic>
      <p:sp>
        <p:nvSpPr>
          <p:cNvPr id="17421" name="Text 37">
            <a:extLst>
              <a:ext uri="{FF2B5EF4-FFF2-40B4-BE49-F238E27FC236}">
                <a16:creationId xmlns:a16="http://schemas.microsoft.com/office/drawing/2014/main" id="{66CEF522-7177-690B-C693-97B7E37A205F}"/>
              </a:ext>
            </a:extLst>
          </p:cNvPr>
          <p:cNvSpPr txBox="1"/>
          <p:nvPr/>
        </p:nvSpPr>
        <p:spPr>
          <a:xfrm>
            <a:off x="4688966" y="5508851"/>
            <a:ext cx="3829983" cy="877824"/>
          </a:xfrm>
          <a:prstGeom prst="rect">
            <a:avLst/>
          </a:prstGeom>
          <a:noFill/>
          <a:ln/>
        </p:spPr>
        <p:txBody>
          <a:bodyPr wrap="square" lIns="0" tIns="0" rIns="0" bIns="0" rtlCol="0" anchor="t"/>
          <a:lstStyle/>
          <a:p>
            <a:pPr marL="0" indent="0" algn="l">
              <a:lnSpc>
                <a:spcPct val="106000"/>
              </a:lnSpc>
              <a:spcAft>
                <a:spcPts val="100"/>
              </a:spcAft>
              <a:buNone/>
            </a:pPr>
            <a:r>
              <a:rPr lang="en-US" sz="1600" b="1" dirty="0">
                <a:solidFill>
                  <a:srgbClr val="1B1B1B"/>
                </a:solidFill>
                <a:latin typeface="Calibri" pitchFamily="34" charset="0"/>
                <a:ea typeface="Calibri" pitchFamily="34" charset="-122"/>
                <a:cs typeface="Calibri" pitchFamily="34" charset="-120"/>
              </a:rPr>
              <a:t>Privacy-First Integration</a:t>
            </a:r>
            <a:endParaRPr lang="en-US" sz="1600" dirty="0"/>
          </a:p>
          <a:p>
            <a:pPr marL="0" indent="0" algn="l">
              <a:lnSpc>
                <a:spcPct val="106000"/>
              </a:lnSpc>
              <a:spcAft>
                <a:spcPts val="100"/>
              </a:spcAft>
              <a:buNone/>
            </a:pPr>
            <a:r>
              <a:rPr lang="en-US" sz="1400" dirty="0">
                <a:solidFill>
                  <a:srgbClr val="3F3F3F"/>
                </a:solidFill>
                <a:latin typeface="Calibri" pitchFamily="34" charset="0"/>
                <a:ea typeface="Calibri" pitchFamily="34" charset="-122"/>
                <a:cs typeface="Calibri" pitchFamily="34" charset="-120"/>
              </a:rPr>
              <a:t>Data minimization, encryption, role-based access &amp; cached government data ensure a secure rollout.</a:t>
            </a:r>
            <a:endParaRPr lang="en-US" sz="1600" dirty="0"/>
          </a:p>
        </p:txBody>
      </p:sp>
      <p:sp>
        <p:nvSpPr>
          <p:cNvPr id="17423" name="Shape 20">
            <a:extLst>
              <a:ext uri="{FF2B5EF4-FFF2-40B4-BE49-F238E27FC236}">
                <a16:creationId xmlns:a16="http://schemas.microsoft.com/office/drawing/2014/main" id="{4313D4CC-EC6E-3E0D-76C9-EA0254CD3C6B}"/>
              </a:ext>
            </a:extLst>
          </p:cNvPr>
          <p:cNvSpPr/>
          <p:nvPr/>
        </p:nvSpPr>
        <p:spPr>
          <a:xfrm>
            <a:off x="4030413" y="590549"/>
            <a:ext cx="4749009" cy="2708359"/>
          </a:xfrm>
          <a:prstGeom prst="roundRect">
            <a:avLst>
              <a:gd name="adj" fmla="val 3033"/>
            </a:avLst>
          </a:prstGeom>
          <a:solidFill>
            <a:srgbClr val="FBE4E2"/>
          </a:solidFill>
          <a:ln/>
          <a:effectLst>
            <a:outerShdw blurRad="88900" dist="25400" dir="5400000" algn="bl" rotWithShape="0">
              <a:srgbClr val="1B1B1B">
                <a:alpha val="18000"/>
              </a:srgbClr>
            </a:outerShdw>
          </a:effectLst>
        </p:spPr>
        <p:txBody>
          <a:bodyPr/>
          <a:lstStyle/>
          <a:p>
            <a:endParaRPr lang="en-IN" dirty="0"/>
          </a:p>
        </p:txBody>
      </p:sp>
      <p:sp>
        <p:nvSpPr>
          <p:cNvPr id="17425" name="Shape 21">
            <a:extLst>
              <a:ext uri="{FF2B5EF4-FFF2-40B4-BE49-F238E27FC236}">
                <a16:creationId xmlns:a16="http://schemas.microsoft.com/office/drawing/2014/main" id="{AD3D6D68-3645-E36A-08A9-84EE4C311679}"/>
              </a:ext>
            </a:extLst>
          </p:cNvPr>
          <p:cNvSpPr/>
          <p:nvPr/>
        </p:nvSpPr>
        <p:spPr>
          <a:xfrm>
            <a:off x="4580193" y="666528"/>
            <a:ext cx="343814" cy="365760"/>
          </a:xfrm>
          <a:prstGeom prst="ellipse">
            <a:avLst/>
          </a:prstGeom>
          <a:solidFill>
            <a:srgbClr val="C1121F"/>
          </a:solidFill>
          <a:ln/>
        </p:spPr>
      </p:sp>
      <p:pic>
        <p:nvPicPr>
          <p:cNvPr id="17427" name="Image 8" descr="icons/header_challenges.png">
            <a:extLst>
              <a:ext uri="{FF2B5EF4-FFF2-40B4-BE49-F238E27FC236}">
                <a16:creationId xmlns:a16="http://schemas.microsoft.com/office/drawing/2014/main" id="{D5CAF7CD-4548-57E0-9C29-0D7F2DD04FC7}"/>
              </a:ext>
            </a:extLst>
          </p:cNvPr>
          <p:cNvPicPr>
            <a:picLocks noChangeAspect="1"/>
          </p:cNvPicPr>
          <p:nvPr/>
        </p:nvPicPr>
        <p:blipFill>
          <a:blip r:embed="rId15"/>
          <a:stretch>
            <a:fillRect/>
          </a:stretch>
        </p:blipFill>
        <p:spPr>
          <a:xfrm>
            <a:off x="4645641" y="712250"/>
            <a:ext cx="212918" cy="212918"/>
          </a:xfrm>
          <a:prstGeom prst="rect">
            <a:avLst/>
          </a:prstGeom>
        </p:spPr>
      </p:pic>
      <p:sp>
        <p:nvSpPr>
          <p:cNvPr id="17429" name="Text 22">
            <a:extLst>
              <a:ext uri="{FF2B5EF4-FFF2-40B4-BE49-F238E27FC236}">
                <a16:creationId xmlns:a16="http://schemas.microsoft.com/office/drawing/2014/main" id="{F393ED1C-21F8-2760-D4D2-AC449C6DDAD1}"/>
              </a:ext>
            </a:extLst>
          </p:cNvPr>
          <p:cNvSpPr txBox="1"/>
          <p:nvPr/>
        </p:nvSpPr>
        <p:spPr>
          <a:xfrm>
            <a:off x="5040963" y="635857"/>
            <a:ext cx="3079953" cy="408976"/>
          </a:xfrm>
          <a:prstGeom prst="rect">
            <a:avLst/>
          </a:prstGeom>
          <a:noFill/>
          <a:ln/>
        </p:spPr>
        <p:txBody>
          <a:bodyPr wrap="square" lIns="0" tIns="0" rIns="0" bIns="0" rtlCol="0" anchor="ctr"/>
          <a:lstStyle/>
          <a:p>
            <a:pPr marL="0" indent="0" algn="l">
              <a:lnSpc>
                <a:spcPct val="95000"/>
              </a:lnSpc>
              <a:buNone/>
            </a:pPr>
            <a:r>
              <a:rPr lang="en-US" sz="1550" b="1" dirty="0">
                <a:solidFill>
                  <a:srgbClr val="C1121F"/>
                </a:solidFill>
                <a:latin typeface="Cambria" pitchFamily="34" charset="0"/>
                <a:ea typeface="Cambria" pitchFamily="34" charset="-122"/>
                <a:cs typeface="Cambria" pitchFamily="34" charset="-120"/>
              </a:rPr>
              <a:t>Potential Challenges &amp; Risks</a:t>
            </a:r>
            <a:endParaRPr lang="en-US" sz="1550" dirty="0"/>
          </a:p>
        </p:txBody>
      </p:sp>
      <p:sp>
        <p:nvSpPr>
          <p:cNvPr id="17431" name="Shape 23">
            <a:extLst>
              <a:ext uri="{FF2B5EF4-FFF2-40B4-BE49-F238E27FC236}">
                <a16:creationId xmlns:a16="http://schemas.microsoft.com/office/drawing/2014/main" id="{2D42B86B-C345-69F9-C152-57647C4799EA}"/>
              </a:ext>
            </a:extLst>
          </p:cNvPr>
          <p:cNvSpPr/>
          <p:nvPr/>
        </p:nvSpPr>
        <p:spPr>
          <a:xfrm>
            <a:off x="4038440" y="1052915"/>
            <a:ext cx="365760" cy="365760"/>
          </a:xfrm>
          <a:prstGeom prst="ellipse">
            <a:avLst/>
          </a:prstGeom>
          <a:solidFill>
            <a:srgbClr val="C1121F"/>
          </a:solidFill>
          <a:ln/>
        </p:spPr>
      </p:sp>
      <p:pic>
        <p:nvPicPr>
          <p:cNvPr id="17433" name="Image 9" descr="icons/item_data_uncertainty.png">
            <a:extLst>
              <a:ext uri="{FF2B5EF4-FFF2-40B4-BE49-F238E27FC236}">
                <a16:creationId xmlns:a16="http://schemas.microsoft.com/office/drawing/2014/main" id="{D8434437-689D-AC68-2901-E81601EEF01B}"/>
              </a:ext>
            </a:extLst>
          </p:cNvPr>
          <p:cNvPicPr>
            <a:picLocks noChangeAspect="1"/>
          </p:cNvPicPr>
          <p:nvPr/>
        </p:nvPicPr>
        <p:blipFill>
          <a:blip r:embed="rId16"/>
          <a:stretch>
            <a:fillRect/>
          </a:stretch>
        </p:blipFill>
        <p:spPr>
          <a:xfrm>
            <a:off x="4096962" y="1111437"/>
            <a:ext cx="248717" cy="248717"/>
          </a:xfrm>
          <a:prstGeom prst="rect">
            <a:avLst/>
          </a:prstGeom>
        </p:spPr>
      </p:pic>
      <p:sp>
        <p:nvSpPr>
          <p:cNvPr id="17435" name="Text 24">
            <a:extLst>
              <a:ext uri="{FF2B5EF4-FFF2-40B4-BE49-F238E27FC236}">
                <a16:creationId xmlns:a16="http://schemas.microsoft.com/office/drawing/2014/main" id="{73B0F681-9F9B-1AA9-71F0-08294E7A7523}"/>
              </a:ext>
            </a:extLst>
          </p:cNvPr>
          <p:cNvSpPr txBox="1"/>
          <p:nvPr/>
        </p:nvSpPr>
        <p:spPr>
          <a:xfrm>
            <a:off x="4542152" y="1065400"/>
            <a:ext cx="4245297" cy="659666"/>
          </a:xfrm>
          <a:prstGeom prst="rect">
            <a:avLst/>
          </a:prstGeom>
          <a:noFill/>
          <a:ln/>
        </p:spPr>
        <p:txBody>
          <a:bodyPr wrap="square" lIns="0" tIns="0" rIns="0" bIns="0" rtlCol="0" anchor="t"/>
          <a:lstStyle/>
          <a:p>
            <a:pPr marL="0" indent="0" algn="l">
              <a:lnSpc>
                <a:spcPct val="106000"/>
              </a:lnSpc>
              <a:spcAft>
                <a:spcPts val="100"/>
              </a:spcAft>
              <a:buNone/>
            </a:pPr>
            <a:r>
              <a:rPr lang="en-US" sz="1600" b="1" dirty="0">
                <a:solidFill>
                  <a:srgbClr val="1B1B1B"/>
                </a:solidFill>
                <a:latin typeface="Calibri" pitchFamily="34" charset="0"/>
                <a:ea typeface="Calibri" pitchFamily="34" charset="-122"/>
                <a:cs typeface="Calibri" pitchFamily="34" charset="-120"/>
              </a:rPr>
              <a:t>Data &amp; Prediction Uncertainty</a:t>
            </a:r>
            <a:endParaRPr lang="en-US" sz="1600" dirty="0"/>
          </a:p>
          <a:p>
            <a:pPr marL="0" indent="0" algn="l">
              <a:lnSpc>
                <a:spcPct val="106000"/>
              </a:lnSpc>
              <a:spcAft>
                <a:spcPts val="100"/>
              </a:spcAft>
              <a:buNone/>
            </a:pPr>
            <a:r>
              <a:rPr lang="en-US" sz="1400" dirty="0">
                <a:solidFill>
                  <a:srgbClr val="3F3F3F"/>
                </a:solidFill>
                <a:latin typeface="Calibri" pitchFamily="34" charset="0"/>
                <a:ea typeface="Calibri" pitchFamily="34" charset="-122"/>
                <a:cs typeface="Calibri" pitchFamily="34" charset="-120"/>
              </a:rPr>
              <a:t>Weather/satellite gaps and AI model errors can affect ward-level accuracy.</a:t>
            </a:r>
            <a:endParaRPr lang="en-US" sz="1600" dirty="0"/>
          </a:p>
        </p:txBody>
      </p:sp>
      <p:sp>
        <p:nvSpPr>
          <p:cNvPr id="17437" name="Shape 25">
            <a:extLst>
              <a:ext uri="{FF2B5EF4-FFF2-40B4-BE49-F238E27FC236}">
                <a16:creationId xmlns:a16="http://schemas.microsoft.com/office/drawing/2014/main" id="{646B0054-4CEE-5878-F97B-0998091D9F2A}"/>
              </a:ext>
            </a:extLst>
          </p:cNvPr>
          <p:cNvSpPr/>
          <p:nvPr/>
        </p:nvSpPr>
        <p:spPr>
          <a:xfrm>
            <a:off x="4072347" y="1749294"/>
            <a:ext cx="365760" cy="365760"/>
          </a:xfrm>
          <a:prstGeom prst="ellipse">
            <a:avLst/>
          </a:prstGeom>
          <a:solidFill>
            <a:srgbClr val="C1121F"/>
          </a:solidFill>
          <a:ln/>
        </p:spPr>
      </p:sp>
      <p:pic>
        <p:nvPicPr>
          <p:cNvPr id="17439" name="Image 10" descr="icons/item_tech_language.png">
            <a:extLst>
              <a:ext uri="{FF2B5EF4-FFF2-40B4-BE49-F238E27FC236}">
                <a16:creationId xmlns:a16="http://schemas.microsoft.com/office/drawing/2014/main" id="{2D4F1CE6-8932-CE46-490A-AE16BC8CA74B}"/>
              </a:ext>
            </a:extLst>
          </p:cNvPr>
          <p:cNvPicPr>
            <a:picLocks noChangeAspect="1"/>
          </p:cNvPicPr>
          <p:nvPr/>
        </p:nvPicPr>
        <p:blipFill>
          <a:blip r:embed="rId17"/>
          <a:stretch>
            <a:fillRect/>
          </a:stretch>
        </p:blipFill>
        <p:spPr>
          <a:xfrm>
            <a:off x="4130869" y="1807816"/>
            <a:ext cx="248717" cy="248717"/>
          </a:xfrm>
          <a:prstGeom prst="rect">
            <a:avLst/>
          </a:prstGeom>
        </p:spPr>
      </p:pic>
      <p:sp>
        <p:nvSpPr>
          <p:cNvPr id="17441" name="Text 26">
            <a:extLst>
              <a:ext uri="{FF2B5EF4-FFF2-40B4-BE49-F238E27FC236}">
                <a16:creationId xmlns:a16="http://schemas.microsoft.com/office/drawing/2014/main" id="{F56C8CE3-EFEA-5E03-ABA0-78A617E8AB74}"/>
              </a:ext>
            </a:extLst>
          </p:cNvPr>
          <p:cNvSpPr txBox="1"/>
          <p:nvPr/>
        </p:nvSpPr>
        <p:spPr>
          <a:xfrm>
            <a:off x="4558937" y="1792547"/>
            <a:ext cx="4228512" cy="621359"/>
          </a:xfrm>
          <a:prstGeom prst="rect">
            <a:avLst/>
          </a:prstGeom>
          <a:noFill/>
          <a:ln/>
        </p:spPr>
        <p:txBody>
          <a:bodyPr wrap="square" lIns="0" tIns="0" rIns="0" bIns="0" rtlCol="0" anchor="t"/>
          <a:lstStyle/>
          <a:p>
            <a:pPr marL="0" indent="0" algn="l">
              <a:lnSpc>
                <a:spcPct val="106000"/>
              </a:lnSpc>
              <a:spcAft>
                <a:spcPts val="100"/>
              </a:spcAft>
              <a:buNone/>
            </a:pPr>
            <a:r>
              <a:rPr lang="en-US" sz="1600" b="1" dirty="0">
                <a:solidFill>
                  <a:srgbClr val="1B1B1B"/>
                </a:solidFill>
                <a:latin typeface="Calibri" pitchFamily="34" charset="0"/>
                <a:ea typeface="Calibri" pitchFamily="34" charset="-122"/>
                <a:cs typeface="Calibri" pitchFamily="34" charset="-120"/>
              </a:rPr>
              <a:t>Tech &amp; Language Barriers</a:t>
            </a:r>
            <a:endParaRPr lang="en-US" sz="1600" dirty="0"/>
          </a:p>
          <a:p>
            <a:pPr marL="0" indent="0" algn="l">
              <a:lnSpc>
                <a:spcPct val="106000"/>
              </a:lnSpc>
              <a:spcAft>
                <a:spcPts val="100"/>
              </a:spcAft>
              <a:buNone/>
            </a:pPr>
            <a:r>
              <a:rPr lang="en-US" sz="1400" dirty="0">
                <a:solidFill>
                  <a:srgbClr val="3F3F3F"/>
                </a:solidFill>
                <a:latin typeface="Calibri" pitchFamily="34" charset="0"/>
                <a:ea typeface="Calibri" pitchFamily="34" charset="-122"/>
                <a:cs typeface="Calibri" pitchFamily="34" charset="-120"/>
              </a:rPr>
              <a:t>Patchy internet, low smartphone access, local dialects &amp; code-mixing limit reach.</a:t>
            </a:r>
            <a:endParaRPr lang="en-US" sz="1600" dirty="0"/>
          </a:p>
        </p:txBody>
      </p:sp>
      <p:sp>
        <p:nvSpPr>
          <p:cNvPr id="17443" name="Shape 27">
            <a:extLst>
              <a:ext uri="{FF2B5EF4-FFF2-40B4-BE49-F238E27FC236}">
                <a16:creationId xmlns:a16="http://schemas.microsoft.com/office/drawing/2014/main" id="{CAE0F9FD-B7EE-E252-836D-D1E6EA4E08F4}"/>
              </a:ext>
            </a:extLst>
          </p:cNvPr>
          <p:cNvSpPr/>
          <p:nvPr/>
        </p:nvSpPr>
        <p:spPr>
          <a:xfrm>
            <a:off x="4053403" y="2544432"/>
            <a:ext cx="365760" cy="365760"/>
          </a:xfrm>
          <a:prstGeom prst="ellipse">
            <a:avLst/>
          </a:prstGeom>
          <a:solidFill>
            <a:srgbClr val="C1121F"/>
          </a:solidFill>
          <a:ln/>
        </p:spPr>
      </p:sp>
      <p:pic>
        <p:nvPicPr>
          <p:cNvPr id="17445" name="Image 11" descr="icons/item_privacy_gov.png">
            <a:extLst>
              <a:ext uri="{FF2B5EF4-FFF2-40B4-BE49-F238E27FC236}">
                <a16:creationId xmlns:a16="http://schemas.microsoft.com/office/drawing/2014/main" id="{5DA448F9-94BB-C0C7-2B11-68432177B04B}"/>
              </a:ext>
            </a:extLst>
          </p:cNvPr>
          <p:cNvPicPr>
            <a:picLocks noChangeAspect="1"/>
          </p:cNvPicPr>
          <p:nvPr/>
        </p:nvPicPr>
        <p:blipFill>
          <a:blip r:embed="rId18"/>
          <a:stretch>
            <a:fillRect/>
          </a:stretch>
        </p:blipFill>
        <p:spPr>
          <a:xfrm>
            <a:off x="4111925" y="2602954"/>
            <a:ext cx="248717" cy="248717"/>
          </a:xfrm>
          <a:prstGeom prst="rect">
            <a:avLst/>
          </a:prstGeom>
        </p:spPr>
      </p:pic>
      <p:sp>
        <p:nvSpPr>
          <p:cNvPr id="17447" name="Text 28">
            <a:extLst>
              <a:ext uri="{FF2B5EF4-FFF2-40B4-BE49-F238E27FC236}">
                <a16:creationId xmlns:a16="http://schemas.microsoft.com/office/drawing/2014/main" id="{03F600B6-B0FE-053B-2CD2-8D08AAEBE41D}"/>
              </a:ext>
            </a:extLst>
          </p:cNvPr>
          <p:cNvSpPr txBox="1"/>
          <p:nvPr/>
        </p:nvSpPr>
        <p:spPr>
          <a:xfrm>
            <a:off x="4508864" y="2566090"/>
            <a:ext cx="4329080" cy="628539"/>
          </a:xfrm>
          <a:prstGeom prst="rect">
            <a:avLst/>
          </a:prstGeom>
          <a:noFill/>
          <a:ln/>
        </p:spPr>
        <p:txBody>
          <a:bodyPr wrap="square" lIns="0" tIns="0" rIns="0" bIns="0" rtlCol="0" anchor="t"/>
          <a:lstStyle/>
          <a:p>
            <a:pPr marL="0" indent="0" algn="l">
              <a:lnSpc>
                <a:spcPct val="106000"/>
              </a:lnSpc>
              <a:spcAft>
                <a:spcPts val="100"/>
              </a:spcAft>
              <a:buNone/>
            </a:pPr>
            <a:r>
              <a:rPr lang="en-US" sz="1600" b="1" dirty="0">
                <a:solidFill>
                  <a:srgbClr val="1B1B1B"/>
                </a:solidFill>
                <a:latin typeface="Calibri" pitchFamily="34" charset="0"/>
                <a:ea typeface="Calibri" pitchFamily="34" charset="-122"/>
                <a:cs typeface="Calibri" pitchFamily="34" charset="-120"/>
              </a:rPr>
              <a:t>Privacy &amp; Govt. Integration</a:t>
            </a:r>
            <a:endParaRPr lang="en-US" sz="1600" dirty="0"/>
          </a:p>
          <a:p>
            <a:pPr marL="0" indent="0" algn="l">
              <a:lnSpc>
                <a:spcPct val="106000"/>
              </a:lnSpc>
              <a:spcAft>
                <a:spcPts val="100"/>
              </a:spcAft>
              <a:buNone/>
            </a:pPr>
            <a:r>
              <a:rPr lang="en-US" sz="1400" dirty="0">
                <a:solidFill>
                  <a:srgbClr val="3F3F3F"/>
                </a:solidFill>
                <a:latin typeface="Calibri" pitchFamily="34" charset="0"/>
                <a:ea typeface="Calibri" pitchFamily="34" charset="-122"/>
                <a:cs typeface="Calibri" pitchFamily="34" charset="-120"/>
              </a:rPr>
              <a:t>Consent, secure data handling, API changes &amp; coordination delays complicate rollout.</a:t>
            </a:r>
            <a:endParaRPr lang="en-US" sz="1600" dirty="0"/>
          </a:p>
        </p:txBody>
      </p:sp>
      <p:sp>
        <p:nvSpPr>
          <p:cNvPr id="17460" name="Rectangle 17459">
            <a:extLst>
              <a:ext uri="{FF2B5EF4-FFF2-40B4-BE49-F238E27FC236}">
                <a16:creationId xmlns:a16="http://schemas.microsoft.com/office/drawing/2014/main" id="{95649CBC-0BF2-FB9C-397B-B517AF9AA932}"/>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61" name="Slide Number Placeholder 5">
            <a:extLst>
              <a:ext uri="{FF2B5EF4-FFF2-40B4-BE49-F238E27FC236}">
                <a16:creationId xmlns:a16="http://schemas.microsoft.com/office/drawing/2014/main" id="{5BC1A4DD-5021-F513-ECEA-73423192895C}"/>
              </a:ext>
            </a:extLst>
          </p:cNvPr>
          <p:cNvSpPr>
            <a:spLocks noGrp="1"/>
          </p:cNvSpPr>
          <p:nvPr>
            <p:ph type="sldNum" sz="quarter" idx="12"/>
          </p:nvPr>
        </p:nvSpPr>
        <p:spPr>
          <a:xfrm>
            <a:off x="8564880" y="6356353"/>
            <a:ext cx="2844800" cy="365125"/>
          </a:xfrm>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7462" name="Footer Placeholder 6">
            <a:extLst>
              <a:ext uri="{FF2B5EF4-FFF2-40B4-BE49-F238E27FC236}">
                <a16:creationId xmlns:a16="http://schemas.microsoft.com/office/drawing/2014/main" id="{01062F5B-78A9-8E2C-A7C3-B63120D2FAF6}"/>
              </a:ext>
            </a:extLst>
          </p:cNvPr>
          <p:cNvSpPr>
            <a:spLocks noGrp="1"/>
          </p:cNvSpPr>
          <p:nvPr>
            <p:ph type="ftr" sz="quarter" idx="11"/>
          </p:nvPr>
        </p:nvSpPr>
        <p:spPr>
          <a:xfrm>
            <a:off x="447548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3" name="Picture 2">
            <a:extLst>
              <a:ext uri="{FF2B5EF4-FFF2-40B4-BE49-F238E27FC236}">
                <a16:creationId xmlns:a16="http://schemas.microsoft.com/office/drawing/2014/main" id="{7BB0520C-0A17-D2A2-FF15-C49FFBB97813}"/>
              </a:ext>
            </a:extLst>
          </p:cNvPr>
          <p:cNvPicPr>
            <a:picLocks noChangeAspect="1"/>
          </p:cNvPicPr>
          <p:nvPr/>
        </p:nvPicPr>
        <p:blipFill>
          <a:blip r:embed="rId19"/>
          <a:srcRect/>
          <a:stretch/>
        </p:blipFill>
        <p:spPr>
          <a:xfrm>
            <a:off x="8895923" y="1360154"/>
            <a:ext cx="3093018" cy="4308056"/>
          </a:xfrm>
          <a:prstGeom prst="rect">
            <a:avLst/>
          </a:prstGeom>
        </p:spPr>
      </p:pic>
      <p:sp>
        <p:nvSpPr>
          <p:cNvPr id="5" name="Oval 4" descr="Your startup LOGO">
            <a:extLst>
              <a:ext uri="{FF2B5EF4-FFF2-40B4-BE49-F238E27FC236}">
                <a16:creationId xmlns:a16="http://schemas.microsoft.com/office/drawing/2014/main" id="{FB6A1CA7-B4CC-01F7-4A3E-511B1C78775B}"/>
              </a:ext>
              <a:ext uri="{C183D7F6-B498-43B3-948B-1728B52AA6E4}">
                <adec:decorative xmlns:adec="http://schemas.microsoft.com/office/drawing/2017/decorative" val="0"/>
              </a:ext>
            </a:extLst>
          </p:cNvPr>
          <p:cNvSpPr/>
          <p:nvPr/>
        </p:nvSpPr>
        <p:spPr>
          <a:xfrm>
            <a:off x="117223" y="132080"/>
            <a:ext cx="1843657" cy="651641"/>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err="1"/>
              <a:t>DataShield</a:t>
            </a:r>
            <a:endParaRPr lang="en-US" dirty="0"/>
          </a:p>
        </p:txBody>
      </p:sp>
    </p:spTree>
    <p:extLst>
      <p:ext uri="{BB962C8B-B14F-4D97-AF65-F5344CB8AC3E}">
        <p14:creationId xmlns:p14="http://schemas.microsoft.com/office/powerpoint/2010/main" val="2900979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hape 23">
            <a:extLst>
              <a:ext uri="{FF2B5EF4-FFF2-40B4-BE49-F238E27FC236}">
                <a16:creationId xmlns:a16="http://schemas.microsoft.com/office/drawing/2014/main" id="{0F1C6EB8-6A05-631A-D807-FE1949FBE038}"/>
              </a:ext>
            </a:extLst>
          </p:cNvPr>
          <p:cNvSpPr/>
          <p:nvPr/>
        </p:nvSpPr>
        <p:spPr>
          <a:xfrm>
            <a:off x="6004560" y="843280"/>
            <a:ext cx="6025376" cy="5438330"/>
          </a:xfrm>
          <a:prstGeom prst="roundRect">
            <a:avLst>
              <a:gd name="adj" fmla="val 2222"/>
            </a:avLst>
          </a:prstGeom>
          <a:solidFill>
            <a:srgbClr val="FFFFFF"/>
          </a:solidFill>
          <a:ln w="19050">
            <a:solidFill>
              <a:srgbClr val="93C5FD"/>
            </a:solidFill>
            <a:prstDash val="solid"/>
          </a:ln>
        </p:spPr>
      </p:sp>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609600" y="-47625"/>
            <a:ext cx="10972800" cy="671142"/>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a:xfrm>
            <a:off x="8564880" y="6356353"/>
            <a:ext cx="2844800" cy="365125"/>
          </a:xfrm>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47548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3" name="Shape 5">
            <a:extLst>
              <a:ext uri="{FF2B5EF4-FFF2-40B4-BE49-F238E27FC236}">
                <a16:creationId xmlns:a16="http://schemas.microsoft.com/office/drawing/2014/main" id="{9BCC6D3B-FB25-E944-B01C-EAB665C43FEE}"/>
              </a:ext>
            </a:extLst>
          </p:cNvPr>
          <p:cNvSpPr/>
          <p:nvPr/>
        </p:nvSpPr>
        <p:spPr>
          <a:xfrm>
            <a:off x="162560" y="843280"/>
            <a:ext cx="5730240" cy="5486400"/>
          </a:xfrm>
          <a:prstGeom prst="roundRect">
            <a:avLst>
              <a:gd name="adj" fmla="val 2222"/>
            </a:avLst>
          </a:prstGeom>
          <a:solidFill>
            <a:srgbClr val="FFFFFF"/>
          </a:solidFill>
          <a:ln w="19050">
            <a:solidFill>
              <a:srgbClr val="93C5FD"/>
            </a:solidFill>
            <a:prstDash val="solid"/>
          </a:ln>
        </p:spPr>
      </p:sp>
      <p:sp>
        <p:nvSpPr>
          <p:cNvPr id="5" name="Shape 6">
            <a:extLst>
              <a:ext uri="{FF2B5EF4-FFF2-40B4-BE49-F238E27FC236}">
                <a16:creationId xmlns:a16="http://schemas.microsoft.com/office/drawing/2014/main" id="{651799D0-C415-6AAE-7C72-EF9A87C5F494}"/>
              </a:ext>
            </a:extLst>
          </p:cNvPr>
          <p:cNvSpPr/>
          <p:nvPr/>
        </p:nvSpPr>
        <p:spPr>
          <a:xfrm>
            <a:off x="162560" y="843280"/>
            <a:ext cx="5730240" cy="438912"/>
          </a:xfrm>
          <a:prstGeom prst="rect">
            <a:avLst/>
          </a:prstGeom>
          <a:solidFill>
            <a:srgbClr val="DBEAFE"/>
          </a:solidFill>
          <a:ln/>
        </p:spPr>
      </p:sp>
      <p:pic>
        <p:nvPicPr>
          <p:cNvPr id="9" name="Image 0" descr="preencoded.png">
            <a:extLst>
              <a:ext uri="{FF2B5EF4-FFF2-40B4-BE49-F238E27FC236}">
                <a16:creationId xmlns:a16="http://schemas.microsoft.com/office/drawing/2014/main" id="{57DCCB9D-F476-3095-86E7-49532C19FE74}"/>
              </a:ext>
            </a:extLst>
          </p:cNvPr>
          <p:cNvPicPr>
            <a:picLocks noChangeAspect="1"/>
          </p:cNvPicPr>
          <p:nvPr/>
        </p:nvPicPr>
        <p:blipFill>
          <a:blip r:embed="rId3"/>
          <a:stretch>
            <a:fillRect/>
          </a:stretch>
        </p:blipFill>
        <p:spPr>
          <a:xfrm>
            <a:off x="345440" y="904240"/>
            <a:ext cx="304800" cy="304800"/>
          </a:xfrm>
          <a:prstGeom prst="rect">
            <a:avLst/>
          </a:prstGeom>
        </p:spPr>
      </p:pic>
      <p:sp>
        <p:nvSpPr>
          <p:cNvPr id="14" name="Text 7">
            <a:extLst>
              <a:ext uri="{FF2B5EF4-FFF2-40B4-BE49-F238E27FC236}">
                <a16:creationId xmlns:a16="http://schemas.microsoft.com/office/drawing/2014/main" id="{0696A1C9-38F1-88FB-72CE-EBF366F7043B}"/>
              </a:ext>
            </a:extLst>
          </p:cNvPr>
          <p:cNvSpPr/>
          <p:nvPr/>
        </p:nvSpPr>
        <p:spPr>
          <a:xfrm>
            <a:off x="711200" y="843280"/>
            <a:ext cx="4876800" cy="438912"/>
          </a:xfrm>
          <a:prstGeom prst="rect">
            <a:avLst/>
          </a:prstGeom>
          <a:noFill/>
          <a:ln/>
        </p:spPr>
        <p:txBody>
          <a:bodyPr wrap="square" lIns="0" tIns="0" rIns="0" bIns="0" rtlCol="0" anchor="ctr"/>
          <a:lstStyle/>
          <a:p>
            <a:r>
              <a:rPr lang="en-US" sz="1600" b="1" dirty="0">
                <a:solidFill>
                  <a:srgbClr val="1D4ED8"/>
                </a:solidFill>
                <a:latin typeface="Arial" pitchFamily="34" charset="0"/>
                <a:ea typeface="Arial" pitchFamily="34" charset="-122"/>
                <a:cs typeface="Arial" pitchFamily="34" charset="-120"/>
              </a:rPr>
              <a:t>Potential impact on the target audience</a:t>
            </a:r>
            <a:endParaRPr lang="en-US" sz="1600" dirty="0"/>
          </a:p>
        </p:txBody>
      </p:sp>
      <p:sp>
        <p:nvSpPr>
          <p:cNvPr id="16" name="Shape 8">
            <a:extLst>
              <a:ext uri="{FF2B5EF4-FFF2-40B4-BE49-F238E27FC236}">
                <a16:creationId xmlns:a16="http://schemas.microsoft.com/office/drawing/2014/main" id="{82404EE2-692D-3F1E-4CD2-F4AE96F08BD3}"/>
              </a:ext>
            </a:extLst>
          </p:cNvPr>
          <p:cNvSpPr/>
          <p:nvPr/>
        </p:nvSpPr>
        <p:spPr>
          <a:xfrm>
            <a:off x="382016" y="1452880"/>
            <a:ext cx="365760" cy="365760"/>
          </a:xfrm>
          <a:prstGeom prst="ellipse">
            <a:avLst/>
          </a:prstGeom>
          <a:solidFill>
            <a:srgbClr val="DBEAFE"/>
          </a:solidFill>
          <a:ln/>
        </p:spPr>
      </p:sp>
      <p:pic>
        <p:nvPicPr>
          <p:cNvPr id="18" name="Image 1" descr="preencoded.png">
            <a:extLst>
              <a:ext uri="{FF2B5EF4-FFF2-40B4-BE49-F238E27FC236}">
                <a16:creationId xmlns:a16="http://schemas.microsoft.com/office/drawing/2014/main" id="{3401179A-1C54-A961-69AA-38B553995A85}"/>
              </a:ext>
            </a:extLst>
          </p:cNvPr>
          <p:cNvPicPr>
            <a:picLocks noChangeAspect="1"/>
          </p:cNvPicPr>
          <p:nvPr/>
        </p:nvPicPr>
        <p:blipFill>
          <a:blip r:embed="rId4"/>
          <a:stretch>
            <a:fillRect/>
          </a:stretch>
        </p:blipFill>
        <p:spPr>
          <a:xfrm>
            <a:off x="430784" y="1501648"/>
            <a:ext cx="268224" cy="268224"/>
          </a:xfrm>
          <a:prstGeom prst="rect">
            <a:avLst/>
          </a:prstGeom>
        </p:spPr>
      </p:pic>
      <p:sp>
        <p:nvSpPr>
          <p:cNvPr id="22" name="Text 9">
            <a:extLst>
              <a:ext uri="{FF2B5EF4-FFF2-40B4-BE49-F238E27FC236}">
                <a16:creationId xmlns:a16="http://schemas.microsoft.com/office/drawing/2014/main" id="{8DE4E501-9BD8-B257-1609-9AB78B4B67B7}"/>
              </a:ext>
            </a:extLst>
          </p:cNvPr>
          <p:cNvSpPr/>
          <p:nvPr/>
        </p:nvSpPr>
        <p:spPr>
          <a:xfrm>
            <a:off x="918464" y="1428496"/>
            <a:ext cx="4754880" cy="243840"/>
          </a:xfrm>
          <a:prstGeom prst="rect">
            <a:avLst/>
          </a:prstGeom>
          <a:noFill/>
          <a:ln/>
        </p:spPr>
        <p:txBody>
          <a:bodyPr wrap="square" lIns="0" tIns="0" rIns="0" bIns="0" rtlCol="0" anchor="ctr"/>
          <a:lstStyle/>
          <a:p>
            <a:r>
              <a:rPr lang="en-US" sz="1533" b="1" dirty="0">
                <a:solidFill>
                  <a:srgbClr val="1E293B"/>
                </a:solidFill>
                <a:latin typeface="Arial" pitchFamily="34" charset="0"/>
                <a:ea typeface="Arial" pitchFamily="34" charset="-122"/>
                <a:cs typeface="Arial" pitchFamily="34" charset="-120"/>
              </a:rPr>
              <a:t>Citizens</a:t>
            </a:r>
            <a:endParaRPr lang="en-US" sz="1533" dirty="0"/>
          </a:p>
        </p:txBody>
      </p:sp>
      <p:sp>
        <p:nvSpPr>
          <p:cNvPr id="26" name="Text 10">
            <a:extLst>
              <a:ext uri="{FF2B5EF4-FFF2-40B4-BE49-F238E27FC236}">
                <a16:creationId xmlns:a16="http://schemas.microsoft.com/office/drawing/2014/main" id="{372B59B3-80A4-46F5-6296-AEAC7188089E}"/>
              </a:ext>
            </a:extLst>
          </p:cNvPr>
          <p:cNvSpPr/>
          <p:nvPr/>
        </p:nvSpPr>
        <p:spPr>
          <a:xfrm>
            <a:off x="918464" y="1672336"/>
            <a:ext cx="4754880" cy="341376"/>
          </a:xfrm>
          <a:prstGeom prst="rect">
            <a:avLst/>
          </a:prstGeom>
          <a:noFill/>
          <a:ln/>
        </p:spPr>
        <p:txBody>
          <a:bodyPr wrap="square" lIns="0" tIns="0" rIns="0" bIns="0" rtlCol="0" anchor="ctr"/>
          <a:lstStyle/>
          <a:p>
            <a:r>
              <a:rPr lang="en-US" sz="1267" dirty="0">
                <a:solidFill>
                  <a:srgbClr val="475569"/>
                </a:solidFill>
                <a:latin typeface="Arial" pitchFamily="34" charset="0"/>
                <a:ea typeface="Arial" pitchFamily="34" charset="-122"/>
                <a:cs typeface="Arial" pitchFamily="34" charset="-120"/>
              </a:rPr>
              <a:t>Receive hyperlocal heat-risk alerts in advance with personalized safety guidance.</a:t>
            </a:r>
            <a:endParaRPr lang="en-US" sz="1267" dirty="0"/>
          </a:p>
        </p:txBody>
      </p:sp>
      <p:sp>
        <p:nvSpPr>
          <p:cNvPr id="28" name="Shape 11">
            <a:extLst>
              <a:ext uri="{FF2B5EF4-FFF2-40B4-BE49-F238E27FC236}">
                <a16:creationId xmlns:a16="http://schemas.microsoft.com/office/drawing/2014/main" id="{CD7223D4-0CC8-2558-B508-BE9DF30E6968}"/>
              </a:ext>
            </a:extLst>
          </p:cNvPr>
          <p:cNvSpPr/>
          <p:nvPr/>
        </p:nvSpPr>
        <p:spPr>
          <a:xfrm>
            <a:off x="382016" y="2086864"/>
            <a:ext cx="365760" cy="365760"/>
          </a:xfrm>
          <a:prstGeom prst="ellipse">
            <a:avLst/>
          </a:prstGeom>
          <a:solidFill>
            <a:srgbClr val="DBEAFE"/>
          </a:solidFill>
          <a:ln/>
        </p:spPr>
      </p:sp>
      <p:pic>
        <p:nvPicPr>
          <p:cNvPr id="30" name="Image 2" descr="preencoded.png">
            <a:extLst>
              <a:ext uri="{FF2B5EF4-FFF2-40B4-BE49-F238E27FC236}">
                <a16:creationId xmlns:a16="http://schemas.microsoft.com/office/drawing/2014/main" id="{EF8DF463-E02B-5754-4AF3-051912D1CE98}"/>
              </a:ext>
            </a:extLst>
          </p:cNvPr>
          <p:cNvPicPr>
            <a:picLocks noChangeAspect="1"/>
          </p:cNvPicPr>
          <p:nvPr/>
        </p:nvPicPr>
        <p:blipFill>
          <a:blip r:embed="rId5"/>
          <a:stretch>
            <a:fillRect/>
          </a:stretch>
        </p:blipFill>
        <p:spPr>
          <a:xfrm>
            <a:off x="430784" y="2135632"/>
            <a:ext cx="268224" cy="268224"/>
          </a:xfrm>
          <a:prstGeom prst="rect">
            <a:avLst/>
          </a:prstGeom>
        </p:spPr>
      </p:pic>
      <p:sp>
        <p:nvSpPr>
          <p:cNvPr id="32" name="Text 12">
            <a:extLst>
              <a:ext uri="{FF2B5EF4-FFF2-40B4-BE49-F238E27FC236}">
                <a16:creationId xmlns:a16="http://schemas.microsoft.com/office/drawing/2014/main" id="{3DA01DDF-EEB2-4F3B-88B7-ACE8357095FB}"/>
              </a:ext>
            </a:extLst>
          </p:cNvPr>
          <p:cNvSpPr/>
          <p:nvPr/>
        </p:nvSpPr>
        <p:spPr>
          <a:xfrm>
            <a:off x="918464" y="2062480"/>
            <a:ext cx="4754880" cy="243840"/>
          </a:xfrm>
          <a:prstGeom prst="rect">
            <a:avLst/>
          </a:prstGeom>
          <a:noFill/>
          <a:ln/>
        </p:spPr>
        <p:txBody>
          <a:bodyPr wrap="square" lIns="0" tIns="0" rIns="0" bIns="0" rtlCol="0" anchor="ctr"/>
          <a:lstStyle/>
          <a:p>
            <a:r>
              <a:rPr lang="en-US" sz="1533" b="1" dirty="0">
                <a:solidFill>
                  <a:srgbClr val="1E293B"/>
                </a:solidFill>
                <a:latin typeface="Arial" pitchFamily="34" charset="0"/>
                <a:ea typeface="Arial" pitchFamily="34" charset="-122"/>
                <a:cs typeface="Arial" pitchFamily="34" charset="-120"/>
              </a:rPr>
              <a:t>Local Communities</a:t>
            </a:r>
            <a:endParaRPr lang="en-US" sz="1533" dirty="0"/>
          </a:p>
        </p:txBody>
      </p:sp>
      <p:sp>
        <p:nvSpPr>
          <p:cNvPr id="34" name="Text 13">
            <a:extLst>
              <a:ext uri="{FF2B5EF4-FFF2-40B4-BE49-F238E27FC236}">
                <a16:creationId xmlns:a16="http://schemas.microsoft.com/office/drawing/2014/main" id="{2F6DD6A0-55CD-59CD-CE7A-FF2900480158}"/>
              </a:ext>
            </a:extLst>
          </p:cNvPr>
          <p:cNvSpPr/>
          <p:nvPr/>
        </p:nvSpPr>
        <p:spPr>
          <a:xfrm>
            <a:off x="918464" y="2306320"/>
            <a:ext cx="4754880" cy="341376"/>
          </a:xfrm>
          <a:prstGeom prst="rect">
            <a:avLst/>
          </a:prstGeom>
          <a:noFill/>
          <a:ln/>
        </p:spPr>
        <p:txBody>
          <a:bodyPr wrap="square" lIns="0" tIns="0" rIns="0" bIns="0" rtlCol="0" anchor="ctr"/>
          <a:lstStyle/>
          <a:p>
            <a:r>
              <a:rPr lang="en-US" sz="1267" dirty="0">
                <a:solidFill>
                  <a:srgbClr val="475569"/>
                </a:solidFill>
                <a:latin typeface="Arial" pitchFamily="34" charset="0"/>
                <a:ea typeface="Arial" pitchFamily="34" charset="-122"/>
                <a:cs typeface="Arial" pitchFamily="34" charset="-120"/>
              </a:rPr>
              <a:t>Access timely information in local languages for better awareness and preparedness.</a:t>
            </a:r>
            <a:endParaRPr lang="en-US" sz="1267" dirty="0"/>
          </a:p>
        </p:txBody>
      </p:sp>
      <p:sp>
        <p:nvSpPr>
          <p:cNvPr id="36" name="Shape 14">
            <a:extLst>
              <a:ext uri="{FF2B5EF4-FFF2-40B4-BE49-F238E27FC236}">
                <a16:creationId xmlns:a16="http://schemas.microsoft.com/office/drawing/2014/main" id="{3388B2AE-E30E-1446-80FC-B3BB5460ED59}"/>
              </a:ext>
            </a:extLst>
          </p:cNvPr>
          <p:cNvSpPr/>
          <p:nvPr/>
        </p:nvSpPr>
        <p:spPr>
          <a:xfrm>
            <a:off x="382016" y="2720848"/>
            <a:ext cx="365760" cy="365760"/>
          </a:xfrm>
          <a:prstGeom prst="ellipse">
            <a:avLst/>
          </a:prstGeom>
          <a:solidFill>
            <a:srgbClr val="DBEAFE"/>
          </a:solidFill>
          <a:ln/>
        </p:spPr>
      </p:sp>
      <p:pic>
        <p:nvPicPr>
          <p:cNvPr id="38" name="Image 3" descr="preencoded.png">
            <a:extLst>
              <a:ext uri="{FF2B5EF4-FFF2-40B4-BE49-F238E27FC236}">
                <a16:creationId xmlns:a16="http://schemas.microsoft.com/office/drawing/2014/main" id="{CEF3A8CB-6C37-9BDA-8D5D-45135AAF7D02}"/>
              </a:ext>
            </a:extLst>
          </p:cNvPr>
          <p:cNvPicPr>
            <a:picLocks noChangeAspect="1"/>
          </p:cNvPicPr>
          <p:nvPr/>
        </p:nvPicPr>
        <p:blipFill>
          <a:blip r:embed="rId6"/>
          <a:stretch>
            <a:fillRect/>
          </a:stretch>
        </p:blipFill>
        <p:spPr>
          <a:xfrm>
            <a:off x="430784" y="2769616"/>
            <a:ext cx="268224" cy="268224"/>
          </a:xfrm>
          <a:prstGeom prst="rect">
            <a:avLst/>
          </a:prstGeom>
        </p:spPr>
      </p:pic>
      <p:sp>
        <p:nvSpPr>
          <p:cNvPr id="40" name="Text 15">
            <a:extLst>
              <a:ext uri="{FF2B5EF4-FFF2-40B4-BE49-F238E27FC236}">
                <a16:creationId xmlns:a16="http://schemas.microsoft.com/office/drawing/2014/main" id="{8C282FE5-26B5-9F95-5C35-D4EC98716011}"/>
              </a:ext>
            </a:extLst>
          </p:cNvPr>
          <p:cNvSpPr/>
          <p:nvPr/>
        </p:nvSpPr>
        <p:spPr>
          <a:xfrm>
            <a:off x="918464" y="2696464"/>
            <a:ext cx="4754880" cy="243840"/>
          </a:xfrm>
          <a:prstGeom prst="rect">
            <a:avLst/>
          </a:prstGeom>
          <a:noFill/>
          <a:ln/>
        </p:spPr>
        <p:txBody>
          <a:bodyPr wrap="square" lIns="0" tIns="0" rIns="0" bIns="0" rtlCol="0" anchor="ctr"/>
          <a:lstStyle/>
          <a:p>
            <a:r>
              <a:rPr lang="en-US" sz="1533" b="1" dirty="0">
                <a:solidFill>
                  <a:srgbClr val="1E293B"/>
                </a:solidFill>
                <a:latin typeface="Arial" pitchFamily="34" charset="0"/>
                <a:ea typeface="Arial" pitchFamily="34" charset="-122"/>
                <a:cs typeface="Arial" pitchFamily="34" charset="-120"/>
              </a:rPr>
              <a:t>Hospitals</a:t>
            </a:r>
            <a:endParaRPr lang="en-US" sz="1533" dirty="0"/>
          </a:p>
        </p:txBody>
      </p:sp>
      <p:sp>
        <p:nvSpPr>
          <p:cNvPr id="42" name="Text 16">
            <a:extLst>
              <a:ext uri="{FF2B5EF4-FFF2-40B4-BE49-F238E27FC236}">
                <a16:creationId xmlns:a16="http://schemas.microsoft.com/office/drawing/2014/main" id="{713F7BF6-35FE-2BE8-749A-A1A95F73ACD7}"/>
              </a:ext>
            </a:extLst>
          </p:cNvPr>
          <p:cNvSpPr/>
          <p:nvPr/>
        </p:nvSpPr>
        <p:spPr>
          <a:xfrm>
            <a:off x="918464" y="2940304"/>
            <a:ext cx="4754880" cy="341376"/>
          </a:xfrm>
          <a:prstGeom prst="rect">
            <a:avLst/>
          </a:prstGeom>
          <a:noFill/>
          <a:ln/>
        </p:spPr>
        <p:txBody>
          <a:bodyPr wrap="square" lIns="0" tIns="0" rIns="0" bIns="0" rtlCol="0" anchor="ctr"/>
          <a:lstStyle/>
          <a:p>
            <a:r>
              <a:rPr lang="en-US" sz="1267" dirty="0">
                <a:solidFill>
                  <a:srgbClr val="475569"/>
                </a:solidFill>
                <a:latin typeface="Arial" pitchFamily="34" charset="0"/>
                <a:ea typeface="Arial" pitchFamily="34" charset="-122"/>
                <a:cs typeface="Arial" pitchFamily="34" charset="-120"/>
              </a:rPr>
              <a:t>Get early alerts to prepare for a possible increase in heat-related patients.</a:t>
            </a:r>
            <a:endParaRPr lang="en-US" sz="1267" dirty="0"/>
          </a:p>
        </p:txBody>
      </p:sp>
      <p:sp>
        <p:nvSpPr>
          <p:cNvPr id="44" name="Shape 17">
            <a:extLst>
              <a:ext uri="{FF2B5EF4-FFF2-40B4-BE49-F238E27FC236}">
                <a16:creationId xmlns:a16="http://schemas.microsoft.com/office/drawing/2014/main" id="{9BE6BA99-CBF7-D619-B20C-AE7AA6829EC0}"/>
              </a:ext>
            </a:extLst>
          </p:cNvPr>
          <p:cNvSpPr/>
          <p:nvPr/>
        </p:nvSpPr>
        <p:spPr>
          <a:xfrm>
            <a:off x="382016" y="3354832"/>
            <a:ext cx="365760" cy="365760"/>
          </a:xfrm>
          <a:prstGeom prst="ellipse">
            <a:avLst/>
          </a:prstGeom>
          <a:solidFill>
            <a:srgbClr val="DBEAFE"/>
          </a:solidFill>
          <a:ln/>
        </p:spPr>
      </p:sp>
      <p:pic>
        <p:nvPicPr>
          <p:cNvPr id="46" name="Image 4" descr="preencoded.png">
            <a:extLst>
              <a:ext uri="{FF2B5EF4-FFF2-40B4-BE49-F238E27FC236}">
                <a16:creationId xmlns:a16="http://schemas.microsoft.com/office/drawing/2014/main" id="{F2597BDA-E42B-DF58-FC92-DBBC9D8A479F}"/>
              </a:ext>
            </a:extLst>
          </p:cNvPr>
          <p:cNvPicPr>
            <a:picLocks noChangeAspect="1"/>
          </p:cNvPicPr>
          <p:nvPr/>
        </p:nvPicPr>
        <p:blipFill>
          <a:blip r:embed="rId7"/>
          <a:stretch>
            <a:fillRect/>
          </a:stretch>
        </p:blipFill>
        <p:spPr>
          <a:xfrm>
            <a:off x="430784" y="3403600"/>
            <a:ext cx="268224" cy="268224"/>
          </a:xfrm>
          <a:prstGeom prst="rect">
            <a:avLst/>
          </a:prstGeom>
        </p:spPr>
      </p:pic>
      <p:sp>
        <p:nvSpPr>
          <p:cNvPr id="48" name="Text 18">
            <a:extLst>
              <a:ext uri="{FF2B5EF4-FFF2-40B4-BE49-F238E27FC236}">
                <a16:creationId xmlns:a16="http://schemas.microsoft.com/office/drawing/2014/main" id="{B4A6B2BC-6738-E742-92A8-7C95A1BF32D0}"/>
              </a:ext>
            </a:extLst>
          </p:cNvPr>
          <p:cNvSpPr/>
          <p:nvPr/>
        </p:nvSpPr>
        <p:spPr>
          <a:xfrm>
            <a:off x="918464" y="3330448"/>
            <a:ext cx="4754880" cy="243840"/>
          </a:xfrm>
          <a:prstGeom prst="rect">
            <a:avLst/>
          </a:prstGeom>
          <a:noFill/>
          <a:ln/>
        </p:spPr>
        <p:txBody>
          <a:bodyPr wrap="square" lIns="0" tIns="0" rIns="0" bIns="0" rtlCol="0" anchor="ctr"/>
          <a:lstStyle/>
          <a:p>
            <a:r>
              <a:rPr lang="en-US" sz="1533" b="1" dirty="0">
                <a:solidFill>
                  <a:srgbClr val="1E293B"/>
                </a:solidFill>
                <a:latin typeface="Arial" pitchFamily="34" charset="0"/>
                <a:ea typeface="Arial" pitchFamily="34" charset="-122"/>
                <a:cs typeface="Arial" pitchFamily="34" charset="-120"/>
              </a:rPr>
              <a:t>Healthcare Teams</a:t>
            </a:r>
            <a:endParaRPr lang="en-US" sz="1533" dirty="0"/>
          </a:p>
        </p:txBody>
      </p:sp>
      <p:sp>
        <p:nvSpPr>
          <p:cNvPr id="50" name="Text 19">
            <a:extLst>
              <a:ext uri="{FF2B5EF4-FFF2-40B4-BE49-F238E27FC236}">
                <a16:creationId xmlns:a16="http://schemas.microsoft.com/office/drawing/2014/main" id="{A44ECC6E-60BA-5D09-33A1-ECA7697191D7}"/>
              </a:ext>
            </a:extLst>
          </p:cNvPr>
          <p:cNvSpPr/>
          <p:nvPr/>
        </p:nvSpPr>
        <p:spPr>
          <a:xfrm>
            <a:off x="918464" y="3574288"/>
            <a:ext cx="4754880" cy="341376"/>
          </a:xfrm>
          <a:prstGeom prst="rect">
            <a:avLst/>
          </a:prstGeom>
          <a:noFill/>
          <a:ln/>
        </p:spPr>
        <p:txBody>
          <a:bodyPr wrap="square" lIns="0" tIns="0" rIns="0" bIns="0" rtlCol="0" anchor="ctr"/>
          <a:lstStyle/>
          <a:p>
            <a:r>
              <a:rPr lang="en-US" sz="1267" dirty="0">
                <a:solidFill>
                  <a:srgbClr val="475569"/>
                </a:solidFill>
                <a:latin typeface="Arial" pitchFamily="34" charset="0"/>
                <a:ea typeface="Arial" pitchFamily="34" charset="-122"/>
                <a:cs typeface="Arial" pitchFamily="34" charset="-120"/>
              </a:rPr>
              <a:t>Improve resource and staff planning based on predicted heat-related health risks.</a:t>
            </a:r>
            <a:endParaRPr lang="en-US" sz="1267" dirty="0"/>
          </a:p>
        </p:txBody>
      </p:sp>
      <p:sp>
        <p:nvSpPr>
          <p:cNvPr id="52" name="Shape 20">
            <a:extLst>
              <a:ext uri="{FF2B5EF4-FFF2-40B4-BE49-F238E27FC236}">
                <a16:creationId xmlns:a16="http://schemas.microsoft.com/office/drawing/2014/main" id="{80C37FBD-7DE0-7ACA-94B8-82AD1936D374}"/>
              </a:ext>
            </a:extLst>
          </p:cNvPr>
          <p:cNvSpPr/>
          <p:nvPr/>
        </p:nvSpPr>
        <p:spPr>
          <a:xfrm>
            <a:off x="382016" y="3988816"/>
            <a:ext cx="365760" cy="365760"/>
          </a:xfrm>
          <a:prstGeom prst="ellipse">
            <a:avLst/>
          </a:prstGeom>
          <a:solidFill>
            <a:srgbClr val="DBEAFE"/>
          </a:solidFill>
          <a:ln/>
        </p:spPr>
      </p:sp>
      <p:pic>
        <p:nvPicPr>
          <p:cNvPr id="54" name="Image 5" descr="preencoded.png">
            <a:extLst>
              <a:ext uri="{FF2B5EF4-FFF2-40B4-BE49-F238E27FC236}">
                <a16:creationId xmlns:a16="http://schemas.microsoft.com/office/drawing/2014/main" id="{20635FE4-F516-E550-3132-AE4844374A2E}"/>
              </a:ext>
            </a:extLst>
          </p:cNvPr>
          <p:cNvPicPr>
            <a:picLocks noChangeAspect="1"/>
          </p:cNvPicPr>
          <p:nvPr/>
        </p:nvPicPr>
        <p:blipFill>
          <a:blip r:embed="rId8"/>
          <a:stretch>
            <a:fillRect/>
          </a:stretch>
        </p:blipFill>
        <p:spPr>
          <a:xfrm>
            <a:off x="430784" y="4037584"/>
            <a:ext cx="268224" cy="268224"/>
          </a:xfrm>
          <a:prstGeom prst="rect">
            <a:avLst/>
          </a:prstGeom>
        </p:spPr>
      </p:pic>
      <p:sp>
        <p:nvSpPr>
          <p:cNvPr id="56" name="Text 21">
            <a:extLst>
              <a:ext uri="{FF2B5EF4-FFF2-40B4-BE49-F238E27FC236}">
                <a16:creationId xmlns:a16="http://schemas.microsoft.com/office/drawing/2014/main" id="{27F873B1-994A-BB02-1C8E-B0CD00419FC0}"/>
              </a:ext>
            </a:extLst>
          </p:cNvPr>
          <p:cNvSpPr/>
          <p:nvPr/>
        </p:nvSpPr>
        <p:spPr>
          <a:xfrm>
            <a:off x="918464" y="3964432"/>
            <a:ext cx="4754880" cy="243840"/>
          </a:xfrm>
          <a:prstGeom prst="rect">
            <a:avLst/>
          </a:prstGeom>
          <a:noFill/>
          <a:ln/>
        </p:spPr>
        <p:txBody>
          <a:bodyPr wrap="square" lIns="0" tIns="0" rIns="0" bIns="0" rtlCol="0" anchor="ctr"/>
          <a:lstStyle/>
          <a:p>
            <a:r>
              <a:rPr lang="en-US" sz="1533" b="1" dirty="0">
                <a:solidFill>
                  <a:srgbClr val="1E293B"/>
                </a:solidFill>
                <a:latin typeface="Arial" pitchFamily="34" charset="0"/>
                <a:ea typeface="Arial" pitchFamily="34" charset="-122"/>
                <a:cs typeface="Arial" pitchFamily="34" charset="-120"/>
              </a:rPr>
              <a:t>Authorities</a:t>
            </a:r>
            <a:endParaRPr lang="en-US" sz="1533" dirty="0"/>
          </a:p>
        </p:txBody>
      </p:sp>
      <p:sp>
        <p:nvSpPr>
          <p:cNvPr id="58" name="Text 22">
            <a:extLst>
              <a:ext uri="{FF2B5EF4-FFF2-40B4-BE49-F238E27FC236}">
                <a16:creationId xmlns:a16="http://schemas.microsoft.com/office/drawing/2014/main" id="{BCA8DF2C-0950-AADB-0711-9756D10D9F19}"/>
              </a:ext>
            </a:extLst>
          </p:cNvPr>
          <p:cNvSpPr/>
          <p:nvPr/>
        </p:nvSpPr>
        <p:spPr>
          <a:xfrm>
            <a:off x="918464" y="4208272"/>
            <a:ext cx="4754880" cy="341376"/>
          </a:xfrm>
          <a:prstGeom prst="rect">
            <a:avLst/>
          </a:prstGeom>
          <a:noFill/>
          <a:ln/>
        </p:spPr>
        <p:txBody>
          <a:bodyPr wrap="square" lIns="0" tIns="0" rIns="0" bIns="0" rtlCol="0" anchor="ctr"/>
          <a:lstStyle/>
          <a:p>
            <a:r>
              <a:rPr lang="en-US" sz="1267" dirty="0">
                <a:solidFill>
                  <a:srgbClr val="475569"/>
                </a:solidFill>
                <a:latin typeface="Arial" pitchFamily="34" charset="0"/>
                <a:ea typeface="Arial" pitchFamily="34" charset="-122"/>
                <a:cs typeface="Arial" pitchFamily="34" charset="-120"/>
              </a:rPr>
              <a:t>Gain ward-level risk visibility for data-driven heat-action planning and timely interventions.</a:t>
            </a:r>
            <a:endParaRPr lang="en-US" sz="1267" dirty="0"/>
          </a:p>
        </p:txBody>
      </p:sp>
      <p:sp>
        <p:nvSpPr>
          <p:cNvPr id="17408" name="Shape 24">
            <a:extLst>
              <a:ext uri="{FF2B5EF4-FFF2-40B4-BE49-F238E27FC236}">
                <a16:creationId xmlns:a16="http://schemas.microsoft.com/office/drawing/2014/main" id="{CD6A9026-7F3A-CEE9-486E-44C80D8E4811}"/>
              </a:ext>
            </a:extLst>
          </p:cNvPr>
          <p:cNvSpPr/>
          <p:nvPr/>
        </p:nvSpPr>
        <p:spPr>
          <a:xfrm>
            <a:off x="6004560" y="843280"/>
            <a:ext cx="6025376" cy="438912"/>
          </a:xfrm>
          <a:prstGeom prst="rect">
            <a:avLst/>
          </a:prstGeom>
          <a:solidFill>
            <a:srgbClr val="DBEAFE"/>
          </a:solidFill>
          <a:ln/>
        </p:spPr>
      </p:sp>
      <p:pic>
        <p:nvPicPr>
          <p:cNvPr id="17411" name="Image 7" descr="preencoded.png">
            <a:extLst>
              <a:ext uri="{FF2B5EF4-FFF2-40B4-BE49-F238E27FC236}">
                <a16:creationId xmlns:a16="http://schemas.microsoft.com/office/drawing/2014/main" id="{8C64AA4D-D48B-D565-A25C-0898D5ABE7B1}"/>
              </a:ext>
            </a:extLst>
          </p:cNvPr>
          <p:cNvPicPr>
            <a:picLocks noChangeAspect="1"/>
          </p:cNvPicPr>
          <p:nvPr/>
        </p:nvPicPr>
        <p:blipFill>
          <a:blip r:embed="rId3"/>
          <a:stretch>
            <a:fillRect/>
          </a:stretch>
        </p:blipFill>
        <p:spPr>
          <a:xfrm>
            <a:off x="6187440" y="904240"/>
            <a:ext cx="304800" cy="304800"/>
          </a:xfrm>
          <a:prstGeom prst="rect">
            <a:avLst/>
          </a:prstGeom>
        </p:spPr>
      </p:pic>
      <p:sp>
        <p:nvSpPr>
          <p:cNvPr id="17413" name="Text 25">
            <a:extLst>
              <a:ext uri="{FF2B5EF4-FFF2-40B4-BE49-F238E27FC236}">
                <a16:creationId xmlns:a16="http://schemas.microsoft.com/office/drawing/2014/main" id="{51F2CC08-6B7F-D1E2-28CA-E0176201B463}"/>
              </a:ext>
            </a:extLst>
          </p:cNvPr>
          <p:cNvSpPr/>
          <p:nvPr/>
        </p:nvSpPr>
        <p:spPr>
          <a:xfrm>
            <a:off x="6553200" y="843280"/>
            <a:ext cx="4876800" cy="438912"/>
          </a:xfrm>
          <a:prstGeom prst="rect">
            <a:avLst/>
          </a:prstGeom>
          <a:noFill/>
          <a:ln/>
        </p:spPr>
        <p:txBody>
          <a:bodyPr wrap="square" lIns="0" tIns="0" rIns="0" bIns="0" rtlCol="0" anchor="ctr"/>
          <a:lstStyle/>
          <a:p>
            <a:r>
              <a:rPr lang="en-US" sz="1600" b="1" dirty="0">
                <a:solidFill>
                  <a:srgbClr val="1D4ED8"/>
                </a:solidFill>
                <a:latin typeface="Arial" pitchFamily="34" charset="0"/>
                <a:ea typeface="Arial" pitchFamily="34" charset="-122"/>
                <a:cs typeface="Arial" pitchFamily="34" charset="-120"/>
              </a:rPr>
              <a:t>Benefits of the solution</a:t>
            </a:r>
            <a:endParaRPr lang="en-US" sz="1600" dirty="0"/>
          </a:p>
        </p:txBody>
      </p:sp>
      <p:sp>
        <p:nvSpPr>
          <p:cNvPr id="17415" name="Shape 26">
            <a:extLst>
              <a:ext uri="{FF2B5EF4-FFF2-40B4-BE49-F238E27FC236}">
                <a16:creationId xmlns:a16="http://schemas.microsoft.com/office/drawing/2014/main" id="{3C5690B5-095E-A666-C072-AF6441358C08}"/>
              </a:ext>
            </a:extLst>
          </p:cNvPr>
          <p:cNvSpPr/>
          <p:nvPr/>
        </p:nvSpPr>
        <p:spPr>
          <a:xfrm>
            <a:off x="6224016" y="1574800"/>
            <a:ext cx="365760" cy="365760"/>
          </a:xfrm>
          <a:prstGeom prst="ellipse">
            <a:avLst/>
          </a:prstGeom>
          <a:solidFill>
            <a:srgbClr val="FFEDD5"/>
          </a:solidFill>
          <a:ln/>
        </p:spPr>
      </p:sp>
      <p:pic>
        <p:nvPicPr>
          <p:cNvPr id="17417" name="Image 8" descr="preencoded.png">
            <a:extLst>
              <a:ext uri="{FF2B5EF4-FFF2-40B4-BE49-F238E27FC236}">
                <a16:creationId xmlns:a16="http://schemas.microsoft.com/office/drawing/2014/main" id="{0CF8E045-F69A-BB1E-BD85-C6962C529B94}"/>
              </a:ext>
            </a:extLst>
          </p:cNvPr>
          <p:cNvPicPr>
            <a:picLocks noChangeAspect="1"/>
          </p:cNvPicPr>
          <p:nvPr/>
        </p:nvPicPr>
        <p:blipFill>
          <a:blip r:embed="rId9"/>
          <a:stretch>
            <a:fillRect/>
          </a:stretch>
        </p:blipFill>
        <p:spPr>
          <a:xfrm>
            <a:off x="6272784" y="1623568"/>
            <a:ext cx="268224" cy="268224"/>
          </a:xfrm>
          <a:prstGeom prst="rect">
            <a:avLst/>
          </a:prstGeom>
        </p:spPr>
      </p:pic>
      <p:sp>
        <p:nvSpPr>
          <p:cNvPr id="17419" name="Text 27">
            <a:extLst>
              <a:ext uri="{FF2B5EF4-FFF2-40B4-BE49-F238E27FC236}">
                <a16:creationId xmlns:a16="http://schemas.microsoft.com/office/drawing/2014/main" id="{4B5AD634-6932-7E5E-2680-C2B87A238344}"/>
              </a:ext>
            </a:extLst>
          </p:cNvPr>
          <p:cNvSpPr/>
          <p:nvPr/>
        </p:nvSpPr>
        <p:spPr>
          <a:xfrm>
            <a:off x="6760464" y="1466173"/>
            <a:ext cx="4754880" cy="243840"/>
          </a:xfrm>
          <a:prstGeom prst="rect">
            <a:avLst/>
          </a:prstGeom>
          <a:noFill/>
          <a:ln/>
        </p:spPr>
        <p:txBody>
          <a:bodyPr wrap="square" lIns="0" tIns="0" rIns="0" bIns="0" rtlCol="0" anchor="ctr"/>
          <a:lstStyle/>
          <a:p>
            <a:r>
              <a:rPr lang="en-US" sz="1467" b="1" dirty="0">
                <a:solidFill>
                  <a:srgbClr val="1E293B"/>
                </a:solidFill>
                <a:latin typeface="Arial" pitchFamily="34" charset="0"/>
                <a:ea typeface="Arial" pitchFamily="34" charset="-122"/>
                <a:cs typeface="Arial" pitchFamily="34" charset="-120"/>
              </a:rPr>
              <a:t>Hyperlocal precision over blanket warnings</a:t>
            </a:r>
            <a:endParaRPr lang="en-US" sz="1467" dirty="0"/>
          </a:p>
        </p:txBody>
      </p:sp>
      <p:sp>
        <p:nvSpPr>
          <p:cNvPr id="17421" name="Text 28">
            <a:extLst>
              <a:ext uri="{FF2B5EF4-FFF2-40B4-BE49-F238E27FC236}">
                <a16:creationId xmlns:a16="http://schemas.microsoft.com/office/drawing/2014/main" id="{2AB986FD-8204-717A-5AA0-0B7DE81E2210}"/>
              </a:ext>
            </a:extLst>
          </p:cNvPr>
          <p:cNvSpPr/>
          <p:nvPr/>
        </p:nvSpPr>
        <p:spPr>
          <a:xfrm>
            <a:off x="6760464" y="1794256"/>
            <a:ext cx="4754880" cy="341376"/>
          </a:xfrm>
          <a:prstGeom prst="rect">
            <a:avLst/>
          </a:prstGeom>
          <a:noFill/>
          <a:ln/>
        </p:spPr>
        <p:txBody>
          <a:bodyPr wrap="square" lIns="0" tIns="0" rIns="0" bIns="0" rtlCol="0" anchor="ctr"/>
          <a:lstStyle/>
          <a:p>
            <a:r>
              <a:rPr lang="en-US" sz="1267" dirty="0">
                <a:solidFill>
                  <a:srgbClr val="475569"/>
                </a:solidFill>
                <a:latin typeface="Arial" pitchFamily="34" charset="0"/>
                <a:ea typeface="Arial" pitchFamily="34" charset="-122"/>
                <a:cs typeface="Arial" pitchFamily="34" charset="-120"/>
              </a:rPr>
              <a:t>Replaces city-wide forecasts with ward-by-ward risk maps so dense wards get flagged even when the official forecast looks moderate.</a:t>
            </a:r>
            <a:endParaRPr lang="en-US" sz="1267" dirty="0"/>
          </a:p>
        </p:txBody>
      </p:sp>
      <p:sp>
        <p:nvSpPr>
          <p:cNvPr id="17423" name="Shape 29">
            <a:extLst>
              <a:ext uri="{FF2B5EF4-FFF2-40B4-BE49-F238E27FC236}">
                <a16:creationId xmlns:a16="http://schemas.microsoft.com/office/drawing/2014/main" id="{EA462BF1-A8CF-B586-0FEA-2FEE9038B837}"/>
              </a:ext>
            </a:extLst>
          </p:cNvPr>
          <p:cNvSpPr/>
          <p:nvPr/>
        </p:nvSpPr>
        <p:spPr>
          <a:xfrm>
            <a:off x="6224016" y="2208784"/>
            <a:ext cx="365760" cy="365760"/>
          </a:xfrm>
          <a:prstGeom prst="ellipse">
            <a:avLst/>
          </a:prstGeom>
          <a:solidFill>
            <a:srgbClr val="FFEDD5"/>
          </a:solidFill>
          <a:ln/>
        </p:spPr>
      </p:sp>
      <p:pic>
        <p:nvPicPr>
          <p:cNvPr id="17425" name="Image 9" descr="preencoded.png">
            <a:extLst>
              <a:ext uri="{FF2B5EF4-FFF2-40B4-BE49-F238E27FC236}">
                <a16:creationId xmlns:a16="http://schemas.microsoft.com/office/drawing/2014/main" id="{ADAE4E51-394A-17F0-6A84-BA6B49D7EC90}"/>
              </a:ext>
            </a:extLst>
          </p:cNvPr>
          <p:cNvPicPr>
            <a:picLocks noChangeAspect="1"/>
          </p:cNvPicPr>
          <p:nvPr/>
        </p:nvPicPr>
        <p:blipFill>
          <a:blip r:embed="rId10"/>
          <a:stretch>
            <a:fillRect/>
          </a:stretch>
        </p:blipFill>
        <p:spPr>
          <a:xfrm>
            <a:off x="6272784" y="2257552"/>
            <a:ext cx="268224" cy="268224"/>
          </a:xfrm>
          <a:prstGeom prst="rect">
            <a:avLst/>
          </a:prstGeom>
        </p:spPr>
      </p:pic>
      <p:sp>
        <p:nvSpPr>
          <p:cNvPr id="17427" name="Text 30">
            <a:extLst>
              <a:ext uri="{FF2B5EF4-FFF2-40B4-BE49-F238E27FC236}">
                <a16:creationId xmlns:a16="http://schemas.microsoft.com/office/drawing/2014/main" id="{C8085842-651B-831C-4001-EE7C5F6A8CC7}"/>
              </a:ext>
            </a:extLst>
          </p:cNvPr>
          <p:cNvSpPr/>
          <p:nvPr/>
        </p:nvSpPr>
        <p:spPr>
          <a:xfrm>
            <a:off x="6760464" y="2184400"/>
            <a:ext cx="4754880" cy="243840"/>
          </a:xfrm>
          <a:prstGeom prst="rect">
            <a:avLst/>
          </a:prstGeom>
          <a:noFill/>
          <a:ln/>
        </p:spPr>
        <p:txBody>
          <a:bodyPr wrap="square" lIns="0" tIns="0" rIns="0" bIns="0" rtlCol="0" anchor="ctr"/>
          <a:lstStyle/>
          <a:p>
            <a:r>
              <a:rPr lang="en-US" sz="1467" b="1" dirty="0">
                <a:solidFill>
                  <a:srgbClr val="1E293B"/>
                </a:solidFill>
                <a:latin typeface="Arial" pitchFamily="34" charset="0"/>
                <a:ea typeface="Arial" pitchFamily="34" charset="-122"/>
                <a:cs typeface="Arial" pitchFamily="34" charset="-120"/>
              </a:rPr>
              <a:t>Lives-based prioritization, not just heat maps</a:t>
            </a:r>
            <a:endParaRPr lang="en-US" sz="1467" dirty="0"/>
          </a:p>
        </p:txBody>
      </p:sp>
      <p:sp>
        <p:nvSpPr>
          <p:cNvPr id="17429" name="Text 31">
            <a:extLst>
              <a:ext uri="{FF2B5EF4-FFF2-40B4-BE49-F238E27FC236}">
                <a16:creationId xmlns:a16="http://schemas.microsoft.com/office/drawing/2014/main" id="{5D87785A-C2D4-89ED-E016-576E2570243A}"/>
              </a:ext>
            </a:extLst>
          </p:cNvPr>
          <p:cNvSpPr/>
          <p:nvPr/>
        </p:nvSpPr>
        <p:spPr>
          <a:xfrm>
            <a:off x="6760464" y="2428240"/>
            <a:ext cx="4754880" cy="341376"/>
          </a:xfrm>
          <a:prstGeom prst="rect">
            <a:avLst/>
          </a:prstGeom>
          <a:noFill/>
          <a:ln/>
        </p:spPr>
        <p:txBody>
          <a:bodyPr wrap="square" lIns="0" tIns="0" rIns="0" bIns="0" rtlCol="0" anchor="ctr"/>
          <a:lstStyle/>
          <a:p>
            <a:r>
              <a:rPr lang="en-US" sz="1267" dirty="0">
                <a:solidFill>
                  <a:srgbClr val="475569"/>
                </a:solidFill>
                <a:latin typeface="Arial" pitchFamily="34" charset="0"/>
                <a:ea typeface="Arial" pitchFamily="34" charset="-122"/>
                <a:cs typeface="Arial" pitchFamily="34" charset="-120"/>
              </a:rPr>
              <a:t>Folds in elderly population, housing vulnerability &amp; health-insurance access to show which wards need help most.</a:t>
            </a:r>
            <a:endParaRPr lang="en-US" sz="1267" dirty="0"/>
          </a:p>
        </p:txBody>
      </p:sp>
      <p:sp>
        <p:nvSpPr>
          <p:cNvPr id="17431" name="Shape 32">
            <a:extLst>
              <a:ext uri="{FF2B5EF4-FFF2-40B4-BE49-F238E27FC236}">
                <a16:creationId xmlns:a16="http://schemas.microsoft.com/office/drawing/2014/main" id="{08D4F3F6-4DEC-EB0F-5EB8-983EA189845F}"/>
              </a:ext>
            </a:extLst>
          </p:cNvPr>
          <p:cNvSpPr/>
          <p:nvPr/>
        </p:nvSpPr>
        <p:spPr>
          <a:xfrm>
            <a:off x="6224016" y="2842768"/>
            <a:ext cx="365760" cy="365760"/>
          </a:xfrm>
          <a:prstGeom prst="ellipse">
            <a:avLst/>
          </a:prstGeom>
          <a:solidFill>
            <a:srgbClr val="FFEDD5"/>
          </a:solidFill>
          <a:ln/>
        </p:spPr>
      </p:sp>
      <p:pic>
        <p:nvPicPr>
          <p:cNvPr id="17433" name="Image 10" descr="preencoded.png">
            <a:extLst>
              <a:ext uri="{FF2B5EF4-FFF2-40B4-BE49-F238E27FC236}">
                <a16:creationId xmlns:a16="http://schemas.microsoft.com/office/drawing/2014/main" id="{CD3F7459-F122-FA23-883F-82A40B9D7501}"/>
              </a:ext>
            </a:extLst>
          </p:cNvPr>
          <p:cNvPicPr>
            <a:picLocks noChangeAspect="1"/>
          </p:cNvPicPr>
          <p:nvPr/>
        </p:nvPicPr>
        <p:blipFill>
          <a:blip r:embed="rId11"/>
          <a:stretch>
            <a:fillRect/>
          </a:stretch>
        </p:blipFill>
        <p:spPr>
          <a:xfrm>
            <a:off x="6272784" y="2891536"/>
            <a:ext cx="268224" cy="268224"/>
          </a:xfrm>
          <a:prstGeom prst="rect">
            <a:avLst/>
          </a:prstGeom>
        </p:spPr>
      </p:pic>
      <p:sp>
        <p:nvSpPr>
          <p:cNvPr id="17435" name="Text 33">
            <a:extLst>
              <a:ext uri="{FF2B5EF4-FFF2-40B4-BE49-F238E27FC236}">
                <a16:creationId xmlns:a16="http://schemas.microsoft.com/office/drawing/2014/main" id="{B0D2C573-8D69-4B1E-EF13-81BA290932D1}"/>
              </a:ext>
            </a:extLst>
          </p:cNvPr>
          <p:cNvSpPr/>
          <p:nvPr/>
        </p:nvSpPr>
        <p:spPr>
          <a:xfrm>
            <a:off x="6760464" y="2818384"/>
            <a:ext cx="4754880" cy="243840"/>
          </a:xfrm>
          <a:prstGeom prst="rect">
            <a:avLst/>
          </a:prstGeom>
          <a:noFill/>
          <a:ln/>
        </p:spPr>
        <p:txBody>
          <a:bodyPr wrap="square" lIns="0" tIns="0" rIns="0" bIns="0" rtlCol="0" anchor="ctr"/>
          <a:lstStyle/>
          <a:p>
            <a:r>
              <a:rPr lang="en-US" sz="1467" b="1" dirty="0">
                <a:solidFill>
                  <a:srgbClr val="1E293B"/>
                </a:solidFill>
                <a:latin typeface="Arial" pitchFamily="34" charset="0"/>
                <a:ea typeface="Arial" pitchFamily="34" charset="-122"/>
                <a:cs typeface="Arial" pitchFamily="34" charset="-120"/>
              </a:rPr>
              <a:t>Physiologically accurate risk</a:t>
            </a:r>
            <a:endParaRPr lang="en-US" sz="1467" dirty="0"/>
          </a:p>
        </p:txBody>
      </p:sp>
      <p:sp>
        <p:nvSpPr>
          <p:cNvPr id="17437" name="Text 34">
            <a:extLst>
              <a:ext uri="{FF2B5EF4-FFF2-40B4-BE49-F238E27FC236}">
                <a16:creationId xmlns:a16="http://schemas.microsoft.com/office/drawing/2014/main" id="{F7D894D3-9A1E-C53F-7973-864D2CEF0100}"/>
              </a:ext>
            </a:extLst>
          </p:cNvPr>
          <p:cNvSpPr/>
          <p:nvPr/>
        </p:nvSpPr>
        <p:spPr>
          <a:xfrm>
            <a:off x="6760464" y="3062224"/>
            <a:ext cx="4754880" cy="341376"/>
          </a:xfrm>
          <a:prstGeom prst="rect">
            <a:avLst/>
          </a:prstGeom>
          <a:noFill/>
          <a:ln/>
        </p:spPr>
        <p:txBody>
          <a:bodyPr wrap="square" lIns="0" tIns="0" rIns="0" bIns="0" rtlCol="0" anchor="ctr"/>
          <a:lstStyle/>
          <a:p>
            <a:r>
              <a:rPr lang="en-US" sz="1267" dirty="0">
                <a:solidFill>
                  <a:srgbClr val="475569"/>
                </a:solidFill>
                <a:latin typeface="Arial" pitchFamily="34" charset="0"/>
                <a:ea typeface="Arial" pitchFamily="34" charset="-122"/>
                <a:cs typeface="Arial" pitchFamily="34" charset="-120"/>
              </a:rPr>
              <a:t>Uses UTCI/WBGT (humidity, wind, radiation) instead of raw °C — critical where 'feels like' differs sharply.</a:t>
            </a:r>
            <a:endParaRPr lang="en-US" sz="1267" dirty="0"/>
          </a:p>
        </p:txBody>
      </p:sp>
      <p:sp>
        <p:nvSpPr>
          <p:cNvPr id="17439" name="Shape 35">
            <a:extLst>
              <a:ext uri="{FF2B5EF4-FFF2-40B4-BE49-F238E27FC236}">
                <a16:creationId xmlns:a16="http://schemas.microsoft.com/office/drawing/2014/main" id="{6DEB7506-BC04-C389-B7AF-E3D454E6F3C4}"/>
              </a:ext>
            </a:extLst>
          </p:cNvPr>
          <p:cNvSpPr/>
          <p:nvPr/>
        </p:nvSpPr>
        <p:spPr>
          <a:xfrm>
            <a:off x="6224016" y="3476752"/>
            <a:ext cx="365760" cy="365760"/>
          </a:xfrm>
          <a:prstGeom prst="ellipse">
            <a:avLst/>
          </a:prstGeom>
          <a:solidFill>
            <a:srgbClr val="FFEDD5"/>
          </a:solidFill>
          <a:ln/>
        </p:spPr>
      </p:sp>
      <p:pic>
        <p:nvPicPr>
          <p:cNvPr id="17441" name="Image 11" descr="preencoded.png">
            <a:extLst>
              <a:ext uri="{FF2B5EF4-FFF2-40B4-BE49-F238E27FC236}">
                <a16:creationId xmlns:a16="http://schemas.microsoft.com/office/drawing/2014/main" id="{3B355454-6FC4-B1E7-2998-44050C5C5484}"/>
              </a:ext>
            </a:extLst>
          </p:cNvPr>
          <p:cNvPicPr>
            <a:picLocks noChangeAspect="1"/>
          </p:cNvPicPr>
          <p:nvPr/>
        </p:nvPicPr>
        <p:blipFill>
          <a:blip r:embed="rId12"/>
          <a:stretch>
            <a:fillRect/>
          </a:stretch>
        </p:blipFill>
        <p:spPr>
          <a:xfrm>
            <a:off x="6272784" y="3525520"/>
            <a:ext cx="268224" cy="268224"/>
          </a:xfrm>
          <a:prstGeom prst="rect">
            <a:avLst/>
          </a:prstGeom>
        </p:spPr>
      </p:pic>
      <p:sp>
        <p:nvSpPr>
          <p:cNvPr id="17443" name="Text 36">
            <a:extLst>
              <a:ext uri="{FF2B5EF4-FFF2-40B4-BE49-F238E27FC236}">
                <a16:creationId xmlns:a16="http://schemas.microsoft.com/office/drawing/2014/main" id="{1ADBF40F-7174-09DC-456E-8371E326C3FA}"/>
              </a:ext>
            </a:extLst>
          </p:cNvPr>
          <p:cNvSpPr/>
          <p:nvPr/>
        </p:nvSpPr>
        <p:spPr>
          <a:xfrm>
            <a:off x="6760464" y="3452368"/>
            <a:ext cx="4754880" cy="243840"/>
          </a:xfrm>
          <a:prstGeom prst="rect">
            <a:avLst/>
          </a:prstGeom>
          <a:noFill/>
          <a:ln/>
        </p:spPr>
        <p:txBody>
          <a:bodyPr wrap="square" lIns="0" tIns="0" rIns="0" bIns="0" rtlCol="0" anchor="ctr"/>
          <a:lstStyle/>
          <a:p>
            <a:r>
              <a:rPr lang="en-US" sz="1467" b="1" dirty="0">
                <a:solidFill>
                  <a:srgbClr val="1E293B"/>
                </a:solidFill>
                <a:latin typeface="Arial" pitchFamily="34" charset="0"/>
                <a:ea typeface="Arial" pitchFamily="34" charset="-122"/>
                <a:cs typeface="Arial" pitchFamily="34" charset="-120"/>
              </a:rPr>
              <a:t>Quantified, defensible impact estimates</a:t>
            </a:r>
            <a:endParaRPr lang="en-US" sz="1467" dirty="0"/>
          </a:p>
        </p:txBody>
      </p:sp>
      <p:sp>
        <p:nvSpPr>
          <p:cNvPr id="17445" name="Text 37">
            <a:extLst>
              <a:ext uri="{FF2B5EF4-FFF2-40B4-BE49-F238E27FC236}">
                <a16:creationId xmlns:a16="http://schemas.microsoft.com/office/drawing/2014/main" id="{10BC3F4B-F32A-F7B7-2A9A-FA47CCE6D0F9}"/>
              </a:ext>
            </a:extLst>
          </p:cNvPr>
          <p:cNvSpPr/>
          <p:nvPr/>
        </p:nvSpPr>
        <p:spPr>
          <a:xfrm>
            <a:off x="6760464" y="3696208"/>
            <a:ext cx="4754880" cy="341376"/>
          </a:xfrm>
          <a:prstGeom prst="rect">
            <a:avLst/>
          </a:prstGeom>
          <a:noFill/>
          <a:ln/>
        </p:spPr>
        <p:txBody>
          <a:bodyPr wrap="square" lIns="0" tIns="0" rIns="0" bIns="0" rtlCol="0" anchor="ctr"/>
          <a:lstStyle/>
          <a:p>
            <a:r>
              <a:rPr lang="en-US" sz="1267" dirty="0">
                <a:solidFill>
                  <a:srgbClr val="475569"/>
                </a:solidFill>
                <a:latin typeface="Arial" pitchFamily="34" charset="0"/>
                <a:ea typeface="Arial" pitchFamily="34" charset="-122"/>
                <a:cs typeface="Arial" pitchFamily="34" charset="-120"/>
              </a:rPr>
              <a:t>Outputs expected excess deaths per ward using peer-reviewed dose-response relationships for concrete planning.</a:t>
            </a:r>
            <a:endParaRPr lang="en-US" sz="1267" dirty="0"/>
          </a:p>
        </p:txBody>
      </p:sp>
      <p:sp>
        <p:nvSpPr>
          <p:cNvPr id="17447" name="Shape 38">
            <a:extLst>
              <a:ext uri="{FF2B5EF4-FFF2-40B4-BE49-F238E27FC236}">
                <a16:creationId xmlns:a16="http://schemas.microsoft.com/office/drawing/2014/main" id="{09C4999D-5063-7172-CD51-A7C50439046A}"/>
              </a:ext>
            </a:extLst>
          </p:cNvPr>
          <p:cNvSpPr/>
          <p:nvPr/>
        </p:nvSpPr>
        <p:spPr>
          <a:xfrm>
            <a:off x="6224016" y="4110736"/>
            <a:ext cx="365760" cy="365760"/>
          </a:xfrm>
          <a:prstGeom prst="ellipse">
            <a:avLst/>
          </a:prstGeom>
          <a:solidFill>
            <a:srgbClr val="FFEDD5"/>
          </a:solidFill>
          <a:ln/>
        </p:spPr>
      </p:sp>
      <p:pic>
        <p:nvPicPr>
          <p:cNvPr id="17449" name="Image 12" descr="preencoded.png">
            <a:extLst>
              <a:ext uri="{FF2B5EF4-FFF2-40B4-BE49-F238E27FC236}">
                <a16:creationId xmlns:a16="http://schemas.microsoft.com/office/drawing/2014/main" id="{9D70DA9E-15CB-66C9-4F22-8239CB8B13BB}"/>
              </a:ext>
            </a:extLst>
          </p:cNvPr>
          <p:cNvPicPr>
            <a:picLocks noChangeAspect="1"/>
          </p:cNvPicPr>
          <p:nvPr/>
        </p:nvPicPr>
        <p:blipFill>
          <a:blip r:embed="rId13"/>
          <a:stretch>
            <a:fillRect/>
          </a:stretch>
        </p:blipFill>
        <p:spPr>
          <a:xfrm>
            <a:off x="6272784" y="4159504"/>
            <a:ext cx="268224" cy="268224"/>
          </a:xfrm>
          <a:prstGeom prst="rect">
            <a:avLst/>
          </a:prstGeom>
        </p:spPr>
      </p:pic>
      <p:sp>
        <p:nvSpPr>
          <p:cNvPr id="17451" name="Text 39">
            <a:extLst>
              <a:ext uri="{FF2B5EF4-FFF2-40B4-BE49-F238E27FC236}">
                <a16:creationId xmlns:a16="http://schemas.microsoft.com/office/drawing/2014/main" id="{0F964A1B-C4D0-6E9A-5CC8-518751004531}"/>
              </a:ext>
            </a:extLst>
          </p:cNvPr>
          <p:cNvSpPr/>
          <p:nvPr/>
        </p:nvSpPr>
        <p:spPr>
          <a:xfrm>
            <a:off x="6760464" y="4086352"/>
            <a:ext cx="4754880" cy="243840"/>
          </a:xfrm>
          <a:prstGeom prst="rect">
            <a:avLst/>
          </a:prstGeom>
          <a:noFill/>
          <a:ln/>
        </p:spPr>
        <p:txBody>
          <a:bodyPr wrap="square" lIns="0" tIns="0" rIns="0" bIns="0" rtlCol="0" anchor="ctr"/>
          <a:lstStyle/>
          <a:p>
            <a:r>
              <a:rPr lang="en-US" sz="1467" b="1" dirty="0">
                <a:solidFill>
                  <a:srgbClr val="1E293B"/>
                </a:solidFill>
                <a:latin typeface="Arial" pitchFamily="34" charset="0"/>
                <a:ea typeface="Arial" pitchFamily="34" charset="-122"/>
                <a:cs typeface="Arial" pitchFamily="34" charset="-120"/>
              </a:rPr>
              <a:t>Built on free, open &amp; scalable infrastructure</a:t>
            </a:r>
            <a:endParaRPr lang="en-US" sz="1467" dirty="0"/>
          </a:p>
        </p:txBody>
      </p:sp>
      <p:sp>
        <p:nvSpPr>
          <p:cNvPr id="17453" name="Text 40">
            <a:extLst>
              <a:ext uri="{FF2B5EF4-FFF2-40B4-BE49-F238E27FC236}">
                <a16:creationId xmlns:a16="http://schemas.microsoft.com/office/drawing/2014/main" id="{D6F97543-E6C8-43BB-959A-302826562758}"/>
              </a:ext>
            </a:extLst>
          </p:cNvPr>
          <p:cNvSpPr/>
          <p:nvPr/>
        </p:nvSpPr>
        <p:spPr>
          <a:xfrm>
            <a:off x="6760464" y="4330192"/>
            <a:ext cx="4754880" cy="341376"/>
          </a:xfrm>
          <a:prstGeom prst="rect">
            <a:avLst/>
          </a:prstGeom>
          <a:noFill/>
          <a:ln/>
        </p:spPr>
        <p:txBody>
          <a:bodyPr wrap="square" lIns="0" tIns="0" rIns="0" bIns="0" rtlCol="0" anchor="ctr"/>
          <a:lstStyle/>
          <a:p>
            <a:r>
              <a:rPr lang="en-US" sz="1267" dirty="0">
                <a:solidFill>
                  <a:srgbClr val="475569"/>
                </a:solidFill>
                <a:latin typeface="Arial" pitchFamily="34" charset="0"/>
                <a:ea typeface="Arial" pitchFamily="34" charset="-122"/>
                <a:cs typeface="Arial" pitchFamily="34" charset="-120"/>
              </a:rPr>
              <a:t>Google Earth Engine, Open-Meteo, WorldPop &amp; NFHS-5 — zero licensing cost, easily replicated across Indian cities.</a:t>
            </a:r>
            <a:endParaRPr lang="en-US" sz="1267" dirty="0"/>
          </a:p>
        </p:txBody>
      </p:sp>
      <p:pic>
        <p:nvPicPr>
          <p:cNvPr id="17458" name="Picture 17457" descr="impact_left.png">
            <a:extLst>
              <a:ext uri="{FF2B5EF4-FFF2-40B4-BE49-F238E27FC236}">
                <a16:creationId xmlns:a16="http://schemas.microsoft.com/office/drawing/2014/main" id="{4BBC9533-5386-FFE7-5681-FB9E6609A4CE}"/>
              </a:ext>
            </a:extLst>
          </p:cNvPr>
          <p:cNvPicPr>
            <a:picLocks noChangeAspect="1"/>
          </p:cNvPicPr>
          <p:nvPr/>
        </p:nvPicPr>
        <p:blipFill>
          <a:blip r:embed="rId14"/>
          <a:stretch>
            <a:fillRect/>
          </a:stretch>
        </p:blipFill>
        <p:spPr>
          <a:xfrm>
            <a:off x="162064" y="4844289"/>
            <a:ext cx="5653168" cy="1385214"/>
          </a:xfrm>
          <a:prstGeom prst="rect">
            <a:avLst/>
          </a:prstGeom>
        </p:spPr>
      </p:pic>
      <p:pic>
        <p:nvPicPr>
          <p:cNvPr id="17460" name="Picture 17459" descr="impact_right.png">
            <a:extLst>
              <a:ext uri="{FF2B5EF4-FFF2-40B4-BE49-F238E27FC236}">
                <a16:creationId xmlns:a16="http://schemas.microsoft.com/office/drawing/2014/main" id="{9A460996-D741-933A-2BDB-67E534E2E02C}"/>
              </a:ext>
            </a:extLst>
          </p:cNvPr>
          <p:cNvPicPr>
            <a:picLocks noChangeAspect="1"/>
          </p:cNvPicPr>
          <p:nvPr/>
        </p:nvPicPr>
        <p:blipFill>
          <a:blip r:embed="rId15"/>
          <a:stretch>
            <a:fillRect/>
          </a:stretch>
        </p:blipFill>
        <p:spPr>
          <a:xfrm>
            <a:off x="6142096" y="4794082"/>
            <a:ext cx="5699008" cy="1424752"/>
          </a:xfrm>
          <a:prstGeom prst="rect">
            <a:avLst/>
          </a:prstGeom>
        </p:spPr>
      </p:pic>
      <p:pic>
        <p:nvPicPr>
          <p:cNvPr id="11" name="Picture 10"/>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322560" y="1500"/>
            <a:ext cx="1707376" cy="806191"/>
          </a:xfrm>
          <a:prstGeom prst="rect">
            <a:avLst/>
          </a:prstGeom>
        </p:spPr>
      </p:pic>
      <p:sp>
        <p:nvSpPr>
          <p:cNvPr id="4" name="Oval 3" descr="Your startup LOGO">
            <a:extLst>
              <a:ext uri="{FF2B5EF4-FFF2-40B4-BE49-F238E27FC236}">
                <a16:creationId xmlns:a16="http://schemas.microsoft.com/office/drawing/2014/main" id="{7FC67B74-8F20-19E2-982A-C49AB55A7023}"/>
              </a:ext>
              <a:ext uri="{C183D7F6-B498-43B3-948B-1728B52AA6E4}">
                <adec:decorative xmlns:adec="http://schemas.microsoft.com/office/drawing/2017/decorative" val="0"/>
              </a:ext>
            </a:extLst>
          </p:cNvPr>
          <p:cNvSpPr/>
          <p:nvPr/>
        </p:nvSpPr>
        <p:spPr>
          <a:xfrm>
            <a:off x="117223" y="132080"/>
            <a:ext cx="1843657" cy="651641"/>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err="1"/>
              <a:t>DataShield</a:t>
            </a:r>
            <a:endParaRPr lang="en-US" dirty="0"/>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609600" y="-149703"/>
            <a:ext cx="10972800" cy="1143000"/>
          </a:xfrm>
        </p:spPr>
        <p:txBody>
          <a:bodyPr/>
          <a:lstStyle/>
          <a:p>
            <a:pPr eaLnBrk="1" hangingPunct="1"/>
            <a:r>
              <a:rPr lang="en-US" sz="3200" b="1" dirty="0">
                <a:latin typeface="Times New Roman" panose="02020603050405020304" pitchFamily="18" charset="0"/>
                <a:ea typeface="MS PGothic" panose="020B0600070205080204"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MS PGothic" panose="020B0600070205080204" pitchFamily="1" charset="-128"/>
                <a:cs typeface="+mn-cs"/>
              </a:rPr>
              <a:t>6</a:t>
            </a:fld>
            <a:endParaRPr kumimoji="0" lang="en-US" sz="1200" b="1" i="0" u="none" strike="noStrike" kern="1200" cap="none" spc="0" normalizeH="0" baseline="0" noProof="0">
              <a:ln>
                <a:noFill/>
              </a:ln>
              <a:solidFill>
                <a:prstClr val="white"/>
              </a:solidFill>
              <a:effectLst/>
              <a:uLnTx/>
              <a:uFillTx/>
              <a:latin typeface="TradeGothic" pitchFamily="1" charset="0"/>
              <a:ea typeface="MS PGothic" panose="020B0600070205080204"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p>
        </p:txBody>
      </p:sp>
      <p:sp>
        <p:nvSpPr>
          <p:cNvPr id="12" name="Rectangle 11"/>
          <p:cNvSpPr>
            <a:spLocks noChangeArrowheads="1"/>
          </p:cNvSpPr>
          <p:nvPr/>
        </p:nvSpPr>
        <p:spPr bwMode="auto">
          <a:xfrm>
            <a:off x="0" y="6546078"/>
            <a:ext cx="12191999" cy="311921"/>
          </a:xfrm>
          <a:prstGeom prst="rect">
            <a:avLst/>
          </a:prstGeom>
          <a:solidFill>
            <a:srgbClr val="0070C0"/>
          </a:solidFill>
          <a:ln w="9525">
            <a:noFill/>
            <a:miter lim="800000"/>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n-lt"/>
              <a:ea typeface="+mn-ea"/>
            </a:endParaRPr>
          </a:p>
        </p:txBody>
      </p:sp>
      <p:sp>
        <p:nvSpPr>
          <p:cNvPr id="13" name="Footer Placeholder 6"/>
          <p:cNvSpPr txBox="1">
            <a:spLocks/>
          </p:cNvSpPr>
          <p:nvPr/>
        </p:nvSpPr>
        <p:spPr>
          <a:xfrm>
            <a:off x="4165600" y="6597355"/>
            <a:ext cx="3860800" cy="175399"/>
          </a:xfrm>
          <a:prstGeom prst="rect">
            <a:avLst/>
          </a:prstGeom>
        </p:spPr>
        <p:txBody>
          <a:bodyPr vert="horz" lIns="91440" tIns="45720" rIns="91440" bIns="45720" rtlCol="0" anchor="ctr"/>
          <a:lstStyle>
            <a:defPPr>
              <a:defRPr lang="en-US"/>
            </a:defPPr>
            <a:lvl1pPr algn="ctr" defTabSz="457200" rtl="0" fontAlgn="auto">
              <a:spcBef>
                <a:spcPts val="0"/>
              </a:spcBef>
              <a:spcAft>
                <a:spcPts val="0"/>
              </a:spcAft>
              <a:defRPr sz="1200" kern="1200">
                <a:solidFill>
                  <a:schemeClr val="tx1">
                    <a:tint val="75000"/>
                  </a:schemeClr>
                </a:solidFill>
                <a:latin typeface="TradeGothic"/>
                <a:ea typeface="+mn-ea"/>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1"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1"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1"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1"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1"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1"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1"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1" charset="-128"/>
                <a:cs typeface="+mn-cs"/>
              </a:defRPr>
            </a:lvl9pPr>
          </a:lstStyle>
          <a:p>
            <a:pPr>
              <a:defRPr/>
            </a:pPr>
            <a:r>
              <a:rPr lang="en-US" sz="1100">
                <a:solidFill>
                  <a:schemeClr val="bg1"/>
                </a:solidFill>
              </a:rPr>
              <a:t>@SIH Idea submission- Template</a:t>
            </a:r>
          </a:p>
        </p:txBody>
      </p:sp>
      <p:pic>
        <p:nvPicPr>
          <p:cNvPr id="14" name="Picture 2" descr="https://www.sih.gov.in/img1/SIH-Logo.png">
            <a:extLst>
              <a:ext uri="{FF2B5EF4-FFF2-40B4-BE49-F238E27FC236}">
                <a16:creationId xmlns:a16="http://schemas.microsoft.com/office/drawing/2014/main" id="{C179A3FA-A829-5D64-E9E2-1EB86E9BAE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82955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8"/>
          <p:cNvSpPr txBox="1">
            <a:spLocks noChangeArrowheads="1"/>
          </p:cNvSpPr>
          <p:nvPr/>
        </p:nvSpPr>
        <p:spPr bwMode="auto">
          <a:xfrm>
            <a:off x="353225" y="766696"/>
            <a:ext cx="2842902" cy="505972"/>
          </a:xfrm>
          <a:prstGeom prst="rect">
            <a:avLst/>
          </a:prstGeom>
          <a:noFill/>
          <a:ln w="9525">
            <a:solidFill>
              <a:schemeClr val="bg1"/>
            </a:solidFill>
            <a:miter lim="800000"/>
          </a:ln>
        </p:spPr>
        <p:txBody>
          <a:bodyPr wrap="square" lIns="91440" tIns="45720" rIns="91440" bIns="45720" anchor="ctr">
            <a:spAutoFit/>
          </a:bodyPr>
          <a:lstStyle/>
          <a:p>
            <a:pPr lvl="0" eaLnBrk="0" hangingPunct="0">
              <a:lnSpc>
                <a:spcPct val="120000"/>
              </a:lnSpc>
              <a:spcBef>
                <a:spcPct val="20000"/>
              </a:spcBef>
              <a:defRPr/>
            </a:pPr>
            <a:r>
              <a:rPr lang="en-US" sz="2400" b="1" dirty="0">
                <a:solidFill>
                  <a:srgbClr val="2B2B2B"/>
                </a:solidFill>
                <a:ea typeface="Calibri" pitchFamily="34" charset="-122"/>
                <a:cs typeface="Calibri" pitchFamily="34" charset="-120"/>
              </a:rPr>
              <a:t>Research</a:t>
            </a:r>
            <a:endParaRPr lang="en-US" sz="2400" dirty="0">
              <a:solidFill>
                <a:prstClr val="black"/>
              </a:solidFill>
              <a:latin typeface="Calibri"/>
              <a:ea typeface="MS PGothic"/>
              <a:cs typeface="Calibri"/>
            </a:endParaRPr>
          </a:p>
        </p:txBody>
      </p:sp>
      <p:sp>
        <p:nvSpPr>
          <p:cNvPr id="2" name="TextBox 1"/>
          <p:cNvSpPr txBox="1"/>
          <p:nvPr/>
        </p:nvSpPr>
        <p:spPr>
          <a:xfrm>
            <a:off x="353224" y="1132314"/>
            <a:ext cx="5503491" cy="523220"/>
          </a:xfrm>
          <a:prstGeom prst="rect">
            <a:avLst/>
          </a:prstGeom>
          <a:noFill/>
        </p:spPr>
        <p:txBody>
          <a:bodyPr wrap="square" rtlCol="0">
            <a:spAutoFit/>
          </a:bodyPr>
          <a:lstStyle/>
          <a:p>
            <a:r>
              <a:rPr lang="en-US" sz="1400" b="1" dirty="0">
                <a:solidFill>
                  <a:srgbClr val="0E6E7C"/>
                </a:solidFill>
                <a:ea typeface="Calibri" pitchFamily="34" charset="-122"/>
                <a:cs typeface="Calibri" pitchFamily="34" charset="-120"/>
              </a:rPr>
              <a:t>Evidence behind a ward-level heat &amp; health early-warning system</a:t>
            </a:r>
            <a:endParaRPr lang="en-US" sz="1400" dirty="0"/>
          </a:p>
          <a:p>
            <a:endParaRPr lang="en-US" sz="1400" dirty="0"/>
          </a:p>
        </p:txBody>
      </p:sp>
      <p:sp>
        <p:nvSpPr>
          <p:cNvPr id="4" name="TextBox 3"/>
          <p:cNvSpPr txBox="1"/>
          <p:nvPr/>
        </p:nvSpPr>
        <p:spPr>
          <a:xfrm>
            <a:off x="5236210" y="1135262"/>
            <a:ext cx="4609728" cy="316384"/>
          </a:xfrm>
          <a:prstGeom prst="rect">
            <a:avLst/>
          </a:prstGeom>
          <a:noFill/>
        </p:spPr>
        <p:txBody>
          <a:bodyPr wrap="square" rtlCol="0">
            <a:spAutoFit/>
          </a:bodyPr>
          <a:lstStyle/>
          <a:p>
            <a:pPr marL="0" indent="0">
              <a:buNone/>
            </a:pPr>
            <a:r>
              <a:rPr lang="en-US" sz="1400" dirty="0">
                <a:solidFill>
                  <a:srgbClr val="6B7280"/>
                </a:solidFill>
                <a:ea typeface="Calibri" pitchFamily="34" charset="-122"/>
                <a:cs typeface="Calibri" pitchFamily="34" charset="-120"/>
              </a:rPr>
              <a:t>Here is what the wider research says about closing that gap.</a:t>
            </a:r>
            <a:endParaRPr lang="en-US" sz="1400" dirty="0"/>
          </a:p>
        </p:txBody>
      </p:sp>
      <p:sp>
        <p:nvSpPr>
          <p:cNvPr id="15" name="Shape 7"/>
          <p:cNvSpPr/>
          <p:nvPr/>
        </p:nvSpPr>
        <p:spPr>
          <a:xfrm>
            <a:off x="307712" y="1419873"/>
            <a:ext cx="3655923" cy="2717649"/>
          </a:xfrm>
          <a:prstGeom prst="roundRect">
            <a:avLst>
              <a:gd name="adj" fmla="val 2400"/>
            </a:avLst>
          </a:prstGeom>
          <a:solidFill>
            <a:srgbClr val="FBEEEC"/>
          </a:solidFill>
          <a:ln w="9525">
            <a:solidFill>
              <a:srgbClr val="DDE3E7"/>
            </a:solidFill>
            <a:prstDash val="solid"/>
          </a:ln>
        </p:spPr>
      </p:sp>
      <p:sp>
        <p:nvSpPr>
          <p:cNvPr id="16" name="Shape 12"/>
          <p:cNvSpPr/>
          <p:nvPr/>
        </p:nvSpPr>
        <p:spPr>
          <a:xfrm>
            <a:off x="4106113" y="1432662"/>
            <a:ext cx="3670441" cy="2777200"/>
          </a:xfrm>
          <a:prstGeom prst="roundRect">
            <a:avLst>
              <a:gd name="adj" fmla="val 8480"/>
            </a:avLst>
          </a:prstGeom>
          <a:solidFill>
            <a:srgbClr val="FBF3E6"/>
          </a:solidFill>
          <a:ln w="9525">
            <a:solidFill>
              <a:srgbClr val="DDE3E7"/>
            </a:solidFill>
            <a:prstDash val="solid"/>
          </a:ln>
        </p:spPr>
        <p:txBody>
          <a:bodyPr/>
          <a:lstStyle/>
          <a:p>
            <a:endParaRPr lang="en-IN" dirty="0"/>
          </a:p>
        </p:txBody>
      </p:sp>
      <p:sp>
        <p:nvSpPr>
          <p:cNvPr id="17" name="Shape 17"/>
          <p:cNvSpPr/>
          <p:nvPr/>
        </p:nvSpPr>
        <p:spPr>
          <a:xfrm>
            <a:off x="7918838" y="1427567"/>
            <a:ext cx="3965450" cy="2763578"/>
          </a:xfrm>
          <a:prstGeom prst="roundRect">
            <a:avLst>
              <a:gd name="adj" fmla="val 2400"/>
            </a:avLst>
          </a:prstGeom>
          <a:solidFill>
            <a:srgbClr val="EAF3F4"/>
          </a:solidFill>
          <a:ln w="9525">
            <a:solidFill>
              <a:srgbClr val="DDE3E7"/>
            </a:solidFill>
            <a:prstDash val="solid"/>
          </a:ln>
        </p:spPr>
      </p:sp>
      <p:sp>
        <p:nvSpPr>
          <p:cNvPr id="5" name="Rectangle 4"/>
          <p:cNvSpPr/>
          <p:nvPr/>
        </p:nvSpPr>
        <p:spPr>
          <a:xfrm>
            <a:off x="307576" y="4137509"/>
            <a:ext cx="1421451" cy="369332"/>
          </a:xfrm>
          <a:prstGeom prst="rect">
            <a:avLst/>
          </a:prstGeom>
        </p:spPr>
        <p:txBody>
          <a:bodyPr wrap="square">
            <a:spAutoFit/>
          </a:bodyPr>
          <a:lstStyle/>
          <a:p>
            <a:r>
              <a:rPr lang="en-US" b="1" dirty="0"/>
              <a:t>References</a:t>
            </a:r>
          </a:p>
        </p:txBody>
      </p:sp>
      <p:sp>
        <p:nvSpPr>
          <p:cNvPr id="9" name="TextBox 8"/>
          <p:cNvSpPr txBox="1"/>
          <p:nvPr/>
        </p:nvSpPr>
        <p:spPr>
          <a:xfrm>
            <a:off x="410167" y="4425561"/>
            <a:ext cx="11338646" cy="2123658"/>
          </a:xfrm>
          <a:prstGeom prst="rect">
            <a:avLst/>
          </a:prstGeom>
          <a:noFill/>
        </p:spPr>
        <p:txBody>
          <a:bodyPr wrap="square" rtlCol="0">
            <a:spAutoFit/>
          </a:bodyPr>
          <a:lstStyle/>
          <a:p>
            <a:r>
              <a:rPr lang="en-US" sz="1200" dirty="0"/>
              <a:t>[1] </a:t>
            </a:r>
            <a:r>
              <a:rPr lang="en-US" sz="1200" dirty="0">
                <a:hlinkClick r:id="rId4"/>
              </a:rPr>
              <a:t>https://pmc.ncbi.nlm.nih.gov/articles/PMC3954798/</a:t>
            </a:r>
            <a:endParaRPr lang="en-US" sz="1200" dirty="0"/>
          </a:p>
          <a:p>
            <a:r>
              <a:rPr lang="en-US" sz="1200" dirty="0"/>
              <a:t>[2] </a:t>
            </a:r>
            <a:r>
              <a:rPr lang="en-US" sz="1200" dirty="0">
                <a:hlinkClick r:id="rId5"/>
              </a:rPr>
              <a:t>https://www.preventionweb.net/news/india-new-evidence-shows-pioneering-heat-action-plan-helps-millions-avoid-killer-heat</a:t>
            </a:r>
            <a:endParaRPr lang="en-US" sz="1200" dirty="0"/>
          </a:p>
          <a:p>
            <a:r>
              <a:rPr lang="en-US" sz="1200" dirty="0"/>
              <a:t>[3] </a:t>
            </a:r>
            <a:r>
              <a:rPr lang="en-US" sz="1200" dirty="0">
                <a:hlinkClick r:id="rId6"/>
              </a:rPr>
              <a:t>https://www.sciencedirect.com/science/article/abs/pii/S0013935121005260</a:t>
            </a:r>
            <a:endParaRPr lang="en-US" sz="1200" dirty="0"/>
          </a:p>
          <a:p>
            <a:r>
              <a:rPr lang="en-US" sz="1200" dirty="0"/>
              <a:t>[4] </a:t>
            </a:r>
            <a:r>
              <a:rPr lang="en-US" sz="1200" dirty="0">
                <a:hlinkClick r:id="rId7"/>
              </a:rPr>
              <a:t>https://india.mongabay.com/2025/12/heat-stress-is-intensifying-across-indian-states-shows-data-analysis/</a:t>
            </a:r>
            <a:endParaRPr lang="en-US" sz="1200" dirty="0"/>
          </a:p>
          <a:p>
            <a:r>
              <a:rPr lang="en-US" sz="1200" dirty="0"/>
              <a:t>[5] </a:t>
            </a:r>
            <a:r>
              <a:rPr lang="en-US" sz="1200" dirty="0">
                <a:hlinkClick r:id="rId8"/>
              </a:rPr>
              <a:t>https://www.mdpi.com/1660-4601/14/4/357</a:t>
            </a:r>
            <a:endParaRPr lang="en-US" sz="1200" dirty="0"/>
          </a:p>
          <a:p>
            <a:r>
              <a:rPr lang="en-US" sz="1200" dirty="0"/>
              <a:t>[6] </a:t>
            </a:r>
            <a:r>
              <a:rPr lang="en-US" sz="1200" dirty="0">
                <a:hlinkClick r:id="rId9"/>
              </a:rPr>
              <a:t>https://www.mdpi.com/2075-5309/15/13/2274</a:t>
            </a:r>
            <a:endParaRPr lang="en-US" sz="1200" dirty="0"/>
          </a:p>
          <a:p>
            <a:r>
              <a:rPr lang="en-US" sz="1200" dirty="0"/>
              <a:t>[7] </a:t>
            </a:r>
            <a:r>
              <a:rPr lang="en-US" sz="1200" dirty="0">
                <a:hlinkClick r:id="rId10"/>
              </a:rPr>
              <a:t>https://www.downtoearth.org.in/urbanisation/covid-19-4-factors-to-test-how-vulnerable-slums-in-4-big-cities-are-71833</a:t>
            </a:r>
            <a:endParaRPr lang="en-US" sz="1200" dirty="0"/>
          </a:p>
          <a:p>
            <a:r>
              <a:rPr lang="en-US" sz="1200" dirty="0"/>
              <a:t>[8] </a:t>
            </a:r>
            <a:r>
              <a:rPr lang="en-US" sz="1200" dirty="0">
                <a:hlinkClick r:id="rId11"/>
              </a:rPr>
              <a:t>https://www.ncbi.nlm.nih.gov/pmc/articles/PMC8750942/</a:t>
            </a:r>
            <a:endParaRPr lang="en-US" sz="1200" dirty="0"/>
          </a:p>
          <a:p>
            <a:r>
              <a:rPr lang="en-US" sz="1200" dirty="0"/>
              <a:t>[9] </a:t>
            </a:r>
            <a:r>
              <a:rPr lang="en-US" sz="1200" dirty="0">
                <a:hlinkClick r:id="rId12"/>
              </a:rPr>
              <a:t>https://pmc.ncbi.nlm.nih.gov/articles/PMC9206009/</a:t>
            </a:r>
            <a:endParaRPr lang="en-US" sz="1200" dirty="0"/>
          </a:p>
          <a:p>
            <a:r>
              <a:rPr lang="en-US" sz="1200" dirty="0"/>
              <a:t>[10] </a:t>
            </a:r>
            <a:r>
              <a:rPr lang="en-US" sz="1200" dirty="0">
                <a:hlinkClick r:id="rId13"/>
              </a:rPr>
              <a:t>https://climate-adapt.eea.europa.eu/en/metadata/indicators/thermal-comfort-indices-universal-thermal-climate-index-1979-2019</a:t>
            </a:r>
            <a:endParaRPr lang="en-US" sz="1200" dirty="0"/>
          </a:p>
          <a:p>
            <a:r>
              <a:rPr lang="en-US" sz="1200" dirty="0"/>
              <a:t>[11] </a:t>
            </a:r>
            <a:r>
              <a:rPr lang="en-US" sz="1200" dirty="0">
                <a:hlinkClick r:id="rId14"/>
              </a:rPr>
              <a:t>https://anantamias.com/heat-wave-india/</a:t>
            </a:r>
            <a:endParaRPr lang="en-US" sz="1200" dirty="0"/>
          </a:p>
        </p:txBody>
      </p:sp>
      <p:sp>
        <p:nvSpPr>
          <p:cNvPr id="17557" name="Oval 17556">
            <a:extLst>
              <a:ext uri="{FF2B5EF4-FFF2-40B4-BE49-F238E27FC236}">
                <a16:creationId xmlns:a16="http://schemas.microsoft.com/office/drawing/2014/main" id="{A24DDF9C-8CDD-0651-2A58-71256FE63B02}"/>
              </a:ext>
            </a:extLst>
          </p:cNvPr>
          <p:cNvSpPr/>
          <p:nvPr/>
        </p:nvSpPr>
        <p:spPr>
          <a:xfrm>
            <a:off x="373669" y="1536699"/>
            <a:ext cx="216178" cy="228600"/>
          </a:xfrm>
          <a:prstGeom prst="ellipse">
            <a:avLst/>
          </a:prstGeom>
          <a:solidFill>
            <a:srgbClr val="B94B3D"/>
          </a:solidFill>
          <a:ln>
            <a:solidFill>
              <a:srgbClr val="B9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61" name="TextBox 17560">
            <a:extLst>
              <a:ext uri="{FF2B5EF4-FFF2-40B4-BE49-F238E27FC236}">
                <a16:creationId xmlns:a16="http://schemas.microsoft.com/office/drawing/2014/main" id="{FA91AA63-4EA9-487A-29B3-6040173098CA}"/>
              </a:ext>
            </a:extLst>
          </p:cNvPr>
          <p:cNvSpPr txBox="1"/>
          <p:nvPr/>
        </p:nvSpPr>
        <p:spPr>
          <a:xfrm>
            <a:off x="652272" y="1536699"/>
            <a:ext cx="2483309" cy="200055"/>
          </a:xfrm>
          <a:prstGeom prst="rect">
            <a:avLst/>
          </a:prstGeom>
          <a:noFill/>
        </p:spPr>
        <p:txBody>
          <a:bodyPr wrap="none" lIns="0" tIns="0" rIns="0" bIns="0" anchor="t">
            <a:spAutoFit/>
          </a:bodyPr>
          <a:lstStyle/>
          <a:p>
            <a:pPr algn="l"/>
            <a:r>
              <a:rPr sz="1300" b="1" i="0" dirty="0">
                <a:solidFill>
                  <a:srgbClr val="B94B3D"/>
                </a:solidFill>
                <a:latin typeface="Arial"/>
              </a:rPr>
              <a:t>Heat Already Kills, </a:t>
            </a:r>
            <a:r>
              <a:rPr lang="en-IN" sz="1300" b="1" i="0" dirty="0">
                <a:solidFill>
                  <a:srgbClr val="B94B3D"/>
                </a:solidFill>
                <a:latin typeface="Arial"/>
              </a:rPr>
              <a:t>and </a:t>
            </a:r>
            <a:r>
              <a:rPr sz="1300" b="1" i="0" dirty="0">
                <a:solidFill>
                  <a:srgbClr val="B94B3D"/>
                </a:solidFill>
                <a:latin typeface="Arial"/>
              </a:rPr>
              <a:t>at Scale</a:t>
            </a:r>
          </a:p>
        </p:txBody>
      </p:sp>
      <p:sp>
        <p:nvSpPr>
          <p:cNvPr id="17565" name="TextBox 17564">
            <a:extLst>
              <a:ext uri="{FF2B5EF4-FFF2-40B4-BE49-F238E27FC236}">
                <a16:creationId xmlns:a16="http://schemas.microsoft.com/office/drawing/2014/main" id="{7E62B13B-3F45-8147-9520-7A8E06186E40}"/>
              </a:ext>
            </a:extLst>
          </p:cNvPr>
          <p:cNvSpPr txBox="1"/>
          <p:nvPr/>
        </p:nvSpPr>
        <p:spPr>
          <a:xfrm>
            <a:off x="410167" y="1824462"/>
            <a:ext cx="3530337" cy="2441951"/>
          </a:xfrm>
          <a:prstGeom prst="rect">
            <a:avLst/>
          </a:prstGeom>
          <a:noFill/>
        </p:spPr>
        <p:txBody>
          <a:bodyPr wrap="square" lIns="0" tIns="0" rIns="0" bIns="0" anchor="t">
            <a:spAutoFit/>
          </a:bodyPr>
          <a:lstStyle/>
          <a:p>
            <a:pPr marL="171450" indent="-171450">
              <a:spcBef>
                <a:spcPts val="1200"/>
              </a:spcBef>
              <a:buFont typeface="Arial" panose="020B0604020202020204" pitchFamily="34" charset="0"/>
              <a:buChar char="•"/>
            </a:pPr>
            <a:r>
              <a:rPr lang="en-US" sz="919" b="0" i="0" dirty="0">
                <a:solidFill>
                  <a:srgbClr val="243447"/>
                </a:solidFill>
                <a:latin typeface="Arial"/>
              </a:rPr>
              <a:t>In May 2010, Ahmedabad experienced a devastating heatwave with temperatures peaking at 46.8</a:t>
            </a:r>
            <a:r>
              <a:rPr lang="en-US" sz="919" b="0" i="0" baseline="30000" dirty="0">
                <a:solidFill>
                  <a:srgbClr val="243447"/>
                </a:solidFill>
                <a:latin typeface="Arial"/>
              </a:rPr>
              <a:t>o</a:t>
            </a:r>
            <a:r>
              <a:rPr lang="en-US" sz="919" b="0" i="0" dirty="0">
                <a:solidFill>
                  <a:srgbClr val="243447"/>
                </a:solidFill>
                <a:latin typeface="Arial"/>
              </a:rPr>
              <a:t>C, resulting in 1,344 excess deaths during that single </a:t>
            </a:r>
            <a:r>
              <a:rPr lang="en-US" sz="919" dirty="0">
                <a:solidFill>
                  <a:srgbClr val="243447"/>
                </a:solidFill>
                <a:latin typeface="Arial"/>
              </a:rPr>
              <a:t>month. [1]</a:t>
            </a:r>
          </a:p>
          <a:p>
            <a:pPr marL="171450" indent="-171450">
              <a:spcBef>
                <a:spcPts val="1200"/>
              </a:spcBef>
              <a:buFont typeface="Arial" panose="020B0604020202020204" pitchFamily="34" charset="0"/>
              <a:buChar char="•"/>
            </a:pPr>
            <a:r>
              <a:rPr lang="en-US" sz="919" dirty="0">
                <a:solidFill>
                  <a:srgbClr val="243447"/>
                </a:solidFill>
                <a:latin typeface="Arial"/>
              </a:rPr>
              <a:t>After India's first Ahmedabad Heat Action Plan was implemented in 2013, mortality rates on the hottest days (at or above 45°C) dropped by approximately 27%. [2]</a:t>
            </a:r>
          </a:p>
          <a:p>
            <a:pPr marL="171450" indent="-171450">
              <a:spcBef>
                <a:spcPts val="1200"/>
              </a:spcBef>
              <a:buFont typeface="Arial" panose="020B0604020202020204" pitchFamily="34" charset="0"/>
              <a:buChar char="•"/>
            </a:pPr>
            <a:r>
              <a:rPr lang="en-US" sz="919" dirty="0">
                <a:solidFill>
                  <a:srgbClr val="243447"/>
                </a:solidFill>
                <a:latin typeface="Arial"/>
              </a:rPr>
              <a:t>A study </a:t>
            </a:r>
            <a:r>
              <a:rPr lang="en-US" sz="919" dirty="0" err="1">
                <a:solidFill>
                  <a:srgbClr val="243447"/>
                </a:solidFill>
                <a:latin typeface="Arial"/>
              </a:rPr>
              <a:t>analysing</a:t>
            </a:r>
            <a:r>
              <a:rPr lang="en-US" sz="919" dirty="0">
                <a:solidFill>
                  <a:srgbClr val="243447"/>
                </a:solidFill>
                <a:latin typeface="Arial"/>
              </a:rPr>
              <a:t> 30 years of mortality data in Ahmedabad, from 1987 to 2017, showed: above 28°C, daily mortality increases by about 9.56% for every 1°C rise in temperature. [3]</a:t>
            </a:r>
          </a:p>
          <a:p>
            <a:pPr marL="171450" indent="-171450">
              <a:spcBef>
                <a:spcPts val="1200"/>
              </a:spcBef>
              <a:buFont typeface="Arial" panose="020B0604020202020204" pitchFamily="34" charset="0"/>
              <a:buChar char="•"/>
            </a:pPr>
            <a:r>
              <a:rPr lang="en-US" sz="919" dirty="0">
                <a:solidFill>
                  <a:srgbClr val="243447"/>
                </a:solidFill>
                <a:latin typeface="Arial"/>
              </a:rPr>
              <a:t>Data analysis reveals that heat stress and extreme temperature areas in India have expanded by 20% to 40% per decade across central and northwest regions. [4]</a:t>
            </a:r>
          </a:p>
          <a:p>
            <a:endParaRPr lang="en-US" sz="919" dirty="0">
              <a:solidFill>
                <a:srgbClr val="243447"/>
              </a:solidFill>
              <a:latin typeface="Arial"/>
            </a:endParaRPr>
          </a:p>
          <a:p>
            <a:endParaRPr sz="919" b="0" i="0" dirty="0">
              <a:solidFill>
                <a:srgbClr val="243447"/>
              </a:solidFill>
              <a:latin typeface="Arial"/>
            </a:endParaRPr>
          </a:p>
        </p:txBody>
      </p:sp>
      <p:sp>
        <p:nvSpPr>
          <p:cNvPr id="17575" name="Oval 17574">
            <a:extLst>
              <a:ext uri="{FF2B5EF4-FFF2-40B4-BE49-F238E27FC236}">
                <a16:creationId xmlns:a16="http://schemas.microsoft.com/office/drawing/2014/main" id="{C8F344E6-324E-F0C2-86B9-2F55D7F9665A}"/>
              </a:ext>
            </a:extLst>
          </p:cNvPr>
          <p:cNvSpPr/>
          <p:nvPr/>
        </p:nvSpPr>
        <p:spPr>
          <a:xfrm>
            <a:off x="4192524" y="1512728"/>
            <a:ext cx="228600" cy="237663"/>
          </a:xfrm>
          <a:prstGeom prst="ellipse">
            <a:avLst/>
          </a:prstGeom>
          <a:solidFill>
            <a:srgbClr val="C47B12"/>
          </a:solidFill>
          <a:ln>
            <a:solidFill>
              <a:srgbClr val="C47B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79" name="TextBox 17578">
            <a:extLst>
              <a:ext uri="{FF2B5EF4-FFF2-40B4-BE49-F238E27FC236}">
                <a16:creationId xmlns:a16="http://schemas.microsoft.com/office/drawing/2014/main" id="{904F79F7-7108-F8B0-CD03-6BED2D3F4714}"/>
              </a:ext>
            </a:extLst>
          </p:cNvPr>
          <p:cNvSpPr txBox="1"/>
          <p:nvPr/>
        </p:nvSpPr>
        <p:spPr>
          <a:xfrm>
            <a:off x="4495292" y="1523999"/>
            <a:ext cx="2651760" cy="228600"/>
          </a:xfrm>
          <a:prstGeom prst="rect">
            <a:avLst/>
          </a:prstGeom>
          <a:noFill/>
        </p:spPr>
        <p:txBody>
          <a:bodyPr wrap="none" lIns="0" tIns="0" rIns="0" bIns="0" anchor="t">
            <a:spAutoFit/>
          </a:bodyPr>
          <a:lstStyle/>
          <a:p>
            <a:pPr algn="l"/>
            <a:r>
              <a:rPr sz="1300" b="1" i="0" dirty="0">
                <a:solidFill>
                  <a:srgbClr val="C47B12"/>
                </a:solidFill>
                <a:latin typeface="Arial"/>
              </a:rPr>
              <a:t>Risk Isn't Equal for Everyone</a:t>
            </a:r>
          </a:p>
        </p:txBody>
      </p:sp>
      <p:sp>
        <p:nvSpPr>
          <p:cNvPr id="17583" name="TextBox 17582">
            <a:extLst>
              <a:ext uri="{FF2B5EF4-FFF2-40B4-BE49-F238E27FC236}">
                <a16:creationId xmlns:a16="http://schemas.microsoft.com/office/drawing/2014/main" id="{50D03559-2C6A-912D-3588-BC55DF01749B}"/>
              </a:ext>
            </a:extLst>
          </p:cNvPr>
          <p:cNvSpPr txBox="1"/>
          <p:nvPr/>
        </p:nvSpPr>
        <p:spPr>
          <a:xfrm>
            <a:off x="4218762" y="1822050"/>
            <a:ext cx="3455201" cy="2429511"/>
          </a:xfrm>
          <a:prstGeom prst="rect">
            <a:avLst/>
          </a:prstGeom>
          <a:noFill/>
        </p:spPr>
        <p:txBody>
          <a:bodyPr wrap="square" lIns="0" tIns="0" rIns="0" bIns="0" anchor="t">
            <a:spAutoFit/>
          </a:bodyPr>
          <a:lstStyle/>
          <a:p>
            <a:pPr marL="171450" indent="-171450">
              <a:spcBef>
                <a:spcPts val="1200"/>
              </a:spcBef>
              <a:buFont typeface="Arial" panose="020B0604020202020204" pitchFamily="34" charset="0"/>
              <a:buChar char="•"/>
            </a:pPr>
            <a:r>
              <a:rPr lang="en-US" sz="919" b="0" i="0" dirty="0">
                <a:solidFill>
                  <a:srgbClr val="243447"/>
                </a:solidFill>
                <a:latin typeface="Arial"/>
              </a:rPr>
              <a:t>The RAND Corporation’s first country-wide, district-level Heat Wave Vulnerability Mapping for India was published in 2017, identify regions in Madhya Pradesh and Chhattisgarh, as having the highest overall heat vulnerability due to low urbanization and poorer socioeconomic </a:t>
            </a:r>
            <a:r>
              <a:rPr lang="en-US" sz="919" dirty="0">
                <a:solidFill>
                  <a:srgbClr val="243447"/>
                </a:solidFill>
                <a:latin typeface="Arial"/>
              </a:rPr>
              <a:t>infrastructure. [5]</a:t>
            </a:r>
          </a:p>
          <a:p>
            <a:pPr marL="171450" indent="-171450">
              <a:spcBef>
                <a:spcPts val="1200"/>
              </a:spcBef>
              <a:buFont typeface="Arial" panose="020B0604020202020204" pitchFamily="34" charset="0"/>
              <a:buChar char="•"/>
            </a:pPr>
            <a:r>
              <a:rPr lang="en-US" sz="919" dirty="0">
                <a:solidFill>
                  <a:srgbClr val="243447"/>
                </a:solidFill>
                <a:latin typeface="Arial"/>
              </a:rPr>
              <a:t>Sensor-based observational research in West Bengal's informal settlements indicates that elderly slum residents routinely cross critical indoor heat danger thresholds daily. Elderly women experiencing a significantly higher prevalence of severe heat symptoms and fewer coping resources compared to men. [6]</a:t>
            </a:r>
          </a:p>
          <a:p>
            <a:pPr marL="171450" indent="-171450">
              <a:spcBef>
                <a:spcPts val="1200"/>
              </a:spcBef>
              <a:buFont typeface="Arial" panose="020B0604020202020204" pitchFamily="34" charset="0"/>
              <a:buChar char="•"/>
            </a:pPr>
            <a:r>
              <a:rPr lang="en-US" sz="919" dirty="0">
                <a:solidFill>
                  <a:srgbClr val="243447"/>
                </a:solidFill>
                <a:latin typeface="Arial"/>
              </a:rPr>
              <a:t>An analytical four-city study across India, including Kolkata, indicates that slum populations experience consistently higher vulnerability and severe multi-dimensional deprivations compared to non-slum areas. [7][8]</a:t>
            </a:r>
          </a:p>
          <a:p>
            <a:endParaRPr sz="919" b="0" i="0" dirty="0">
              <a:solidFill>
                <a:srgbClr val="243447"/>
              </a:solidFill>
              <a:latin typeface="Arial"/>
            </a:endParaRPr>
          </a:p>
        </p:txBody>
      </p:sp>
      <p:sp>
        <p:nvSpPr>
          <p:cNvPr id="17594" name="Oval 17593">
            <a:extLst>
              <a:ext uri="{FF2B5EF4-FFF2-40B4-BE49-F238E27FC236}">
                <a16:creationId xmlns:a16="http://schemas.microsoft.com/office/drawing/2014/main" id="{5CF6C540-B2F9-9CFA-1E7F-38373F6D439A}"/>
              </a:ext>
            </a:extLst>
          </p:cNvPr>
          <p:cNvSpPr/>
          <p:nvPr/>
        </p:nvSpPr>
        <p:spPr>
          <a:xfrm>
            <a:off x="7993478" y="1507364"/>
            <a:ext cx="247322" cy="287269"/>
          </a:xfrm>
          <a:prstGeom prst="ellipse">
            <a:avLst/>
          </a:prstGeom>
          <a:solidFill>
            <a:srgbClr val="0E7481"/>
          </a:solidFill>
          <a:ln>
            <a:solidFill>
              <a:srgbClr val="0E7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98" name="TextBox 17597">
            <a:extLst>
              <a:ext uri="{FF2B5EF4-FFF2-40B4-BE49-F238E27FC236}">
                <a16:creationId xmlns:a16="http://schemas.microsoft.com/office/drawing/2014/main" id="{66AC66C0-61D8-556E-F97F-387109F0191B}"/>
              </a:ext>
            </a:extLst>
          </p:cNvPr>
          <p:cNvSpPr txBox="1"/>
          <p:nvPr/>
        </p:nvSpPr>
        <p:spPr>
          <a:xfrm>
            <a:off x="8383084" y="1542140"/>
            <a:ext cx="2597121" cy="200055"/>
          </a:xfrm>
          <a:prstGeom prst="rect">
            <a:avLst/>
          </a:prstGeom>
          <a:noFill/>
        </p:spPr>
        <p:txBody>
          <a:bodyPr wrap="none" lIns="0" tIns="0" rIns="0" bIns="0" anchor="t">
            <a:spAutoFit/>
          </a:bodyPr>
          <a:lstStyle/>
          <a:p>
            <a:pPr algn="l"/>
            <a:r>
              <a:rPr sz="1300" b="1" i="0" dirty="0">
                <a:solidFill>
                  <a:srgbClr val="0E7481"/>
                </a:solidFill>
                <a:latin typeface="Arial"/>
              </a:rPr>
              <a:t>Measuring Heat </a:t>
            </a:r>
            <a:r>
              <a:rPr lang="en-IN" sz="1300" b="1" i="0" dirty="0">
                <a:solidFill>
                  <a:srgbClr val="0E7481"/>
                </a:solidFill>
                <a:latin typeface="Arial"/>
              </a:rPr>
              <a:t>in </a:t>
            </a:r>
            <a:r>
              <a:rPr sz="1300" b="1" i="0" dirty="0">
                <a:solidFill>
                  <a:srgbClr val="0E7481"/>
                </a:solidFill>
                <a:latin typeface="Arial"/>
              </a:rPr>
              <a:t>the Right Way</a:t>
            </a:r>
          </a:p>
        </p:txBody>
      </p:sp>
      <p:sp>
        <p:nvSpPr>
          <p:cNvPr id="17602" name="TextBox 17601">
            <a:extLst>
              <a:ext uri="{FF2B5EF4-FFF2-40B4-BE49-F238E27FC236}">
                <a16:creationId xmlns:a16="http://schemas.microsoft.com/office/drawing/2014/main" id="{A8A2968C-A44B-9C01-5E29-820143AC1833}"/>
              </a:ext>
            </a:extLst>
          </p:cNvPr>
          <p:cNvSpPr txBox="1"/>
          <p:nvPr/>
        </p:nvSpPr>
        <p:spPr>
          <a:xfrm>
            <a:off x="8044106" y="1842123"/>
            <a:ext cx="3807162" cy="2441951"/>
          </a:xfrm>
          <a:prstGeom prst="rect">
            <a:avLst/>
          </a:prstGeom>
          <a:noFill/>
        </p:spPr>
        <p:txBody>
          <a:bodyPr wrap="square" lIns="0" tIns="0" rIns="0" bIns="0" anchor="t">
            <a:spAutoFit/>
          </a:bodyPr>
          <a:lstStyle/>
          <a:p>
            <a:pPr marL="171450" indent="-171450">
              <a:spcBef>
                <a:spcPts val="1200"/>
              </a:spcBef>
              <a:buFont typeface="Arial" panose="020B0604020202020204" pitchFamily="34" charset="0"/>
              <a:buChar char="•"/>
            </a:pPr>
            <a:r>
              <a:rPr lang="en-US" sz="919" b="0" i="0" dirty="0">
                <a:solidFill>
                  <a:srgbClr val="243447"/>
                </a:solidFill>
                <a:latin typeface="Arial"/>
              </a:rPr>
              <a:t>Standard Celsius (°C) temperature readings do not accurately reflect human heat stress because they measure ambient air temperature while ignoring critical environmental variables like humidity, wind speed, and solar radiation; </a:t>
            </a:r>
            <a:r>
              <a:rPr lang="en-US" sz="919" dirty="0">
                <a:solidFill>
                  <a:srgbClr val="243447"/>
                </a:solidFill>
                <a:latin typeface="Arial"/>
              </a:rPr>
              <a:t>S</a:t>
            </a:r>
            <a:r>
              <a:rPr lang="en-US" sz="919" b="0" i="0" dirty="0">
                <a:solidFill>
                  <a:srgbClr val="243447"/>
                </a:solidFill>
                <a:latin typeface="Arial"/>
              </a:rPr>
              <a:t>o we must rely on more comprehensive thermal indices like the Wet-Bulb Globe Temperature (WBGT) and the Universal Thermal Climate Index (UTCI).</a:t>
            </a:r>
            <a:r>
              <a:rPr lang="en-IN" sz="919" dirty="0">
                <a:solidFill>
                  <a:srgbClr val="243447"/>
                </a:solidFill>
                <a:latin typeface="Arial"/>
              </a:rPr>
              <a:t>. [9]</a:t>
            </a:r>
          </a:p>
          <a:p>
            <a:pPr marL="171450" indent="-171450">
              <a:spcBef>
                <a:spcPts val="1200"/>
              </a:spcBef>
              <a:buFont typeface="Arial" panose="020B0604020202020204" pitchFamily="34" charset="0"/>
              <a:buChar char="•"/>
            </a:pPr>
            <a:r>
              <a:rPr lang="en-US" sz="919" dirty="0">
                <a:solidFill>
                  <a:srgbClr val="243447"/>
                </a:solidFill>
                <a:latin typeface="Arial"/>
              </a:rPr>
              <a:t>The UTCI is highly sensitive to radiation fluxes. In Northwest India, intense solar radiation and lack of cloud cover create exceptionally high Mean Radiant Temperature. [4]</a:t>
            </a:r>
          </a:p>
          <a:p>
            <a:pPr marL="171450" indent="-171450">
              <a:spcBef>
                <a:spcPts val="1200"/>
              </a:spcBef>
              <a:buFont typeface="Arial" panose="020B0604020202020204" pitchFamily="34" charset="0"/>
              <a:buChar char="•"/>
            </a:pPr>
            <a:r>
              <a:rPr lang="en-US" sz="919" dirty="0">
                <a:solidFill>
                  <a:srgbClr val="243447"/>
                </a:solidFill>
                <a:latin typeface="Arial"/>
              </a:rPr>
              <a:t>The Universal Thermal Climate Index (UTCI) uses specific temperature bands to classify how the human body experiences thermal stress [10]</a:t>
            </a:r>
          </a:p>
          <a:p>
            <a:pPr marL="171450" indent="-171450">
              <a:spcBef>
                <a:spcPts val="1200"/>
              </a:spcBef>
              <a:buFont typeface="Arial" panose="020B0604020202020204" pitchFamily="34" charset="0"/>
              <a:buChar char="•"/>
            </a:pPr>
            <a:r>
              <a:rPr lang="en-US" sz="919" dirty="0">
                <a:solidFill>
                  <a:srgbClr val="243447"/>
                </a:solidFill>
                <a:latin typeface="Arial"/>
              </a:rPr>
              <a:t>IMD's heatwave alerts still use one temperature threshold per city. [11] </a:t>
            </a:r>
          </a:p>
          <a:p>
            <a:endParaRPr sz="919" b="0" i="0" dirty="0">
              <a:solidFill>
                <a:srgbClr val="243447"/>
              </a:solidFill>
              <a:latin typeface="Arial"/>
            </a:endParaRPr>
          </a:p>
        </p:txBody>
      </p:sp>
      <p:sp>
        <p:nvSpPr>
          <p:cNvPr id="10" name="Oval 9" descr="Your startup LOGO">
            <a:extLst>
              <a:ext uri="{FF2B5EF4-FFF2-40B4-BE49-F238E27FC236}">
                <a16:creationId xmlns:a16="http://schemas.microsoft.com/office/drawing/2014/main" id="{43EB2088-D7B0-D814-B120-C1AA039C9466}"/>
              </a:ext>
              <a:ext uri="{C183D7F6-B498-43B3-948B-1728B52AA6E4}">
                <adec:decorative xmlns:adec="http://schemas.microsoft.com/office/drawing/2017/decorative" val="0"/>
              </a:ext>
            </a:extLst>
          </p:cNvPr>
          <p:cNvSpPr/>
          <p:nvPr/>
        </p:nvSpPr>
        <p:spPr>
          <a:xfrm>
            <a:off x="117223" y="132080"/>
            <a:ext cx="1843657" cy="651641"/>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err="1"/>
              <a:t>DataShield</a:t>
            </a:r>
            <a:endParaRPr lang="en-US" dirty="0"/>
          </a:p>
        </p:txBody>
      </p:sp>
      <p:sp>
        <p:nvSpPr>
          <p:cNvPr id="18" name="Slide Number Placeholder 5">
            <a:extLst>
              <a:ext uri="{FF2B5EF4-FFF2-40B4-BE49-F238E27FC236}">
                <a16:creationId xmlns:a16="http://schemas.microsoft.com/office/drawing/2014/main" id="{CC187815-E733-9397-8912-91BE1382574B}"/>
              </a:ext>
            </a:extLst>
          </p:cNvPr>
          <p:cNvSpPr txBox="1">
            <a:spLocks/>
          </p:cNvSpPr>
          <p:nvPr/>
        </p:nvSpPr>
        <p:spPr>
          <a:xfrm>
            <a:off x="8564880" y="6488433"/>
            <a:ext cx="28448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defTabSz="457200" rtl="0" fontAlgn="base">
              <a:spcBef>
                <a:spcPct val="0"/>
              </a:spcBef>
              <a:spcAft>
                <a:spcPct val="0"/>
              </a:spcAft>
              <a:defRPr sz="1200" kern="1200">
                <a:solidFill>
                  <a:srgbClr val="898989"/>
                </a:solidFill>
                <a:latin typeface="TradeGothic" pitchFamily="1"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a:lstStyle>
          <a:p>
            <a:pPr>
              <a:defRPr/>
            </a:pPr>
            <a:fld id="{677C3CE7-23F7-4828-823C-E0205DF2CF97}" type="slidenum">
              <a:rPr lang="en-US" b="1" smtClean="0">
                <a:solidFill>
                  <a:prstClr val="white"/>
                </a:solidFill>
              </a:rPr>
              <a:pPr>
                <a:defRPr/>
              </a:pPr>
              <a:t>6</a:t>
            </a:fld>
            <a:endParaRPr lang="en-US" b="1" dirty="0">
              <a:solidFill>
                <a:prstClr val="white"/>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9803</TotalTime>
  <Words>1506</Words>
  <Application>Microsoft Office PowerPoint</Application>
  <PresentationFormat>Widescreen</PresentationFormat>
  <Paragraphs>144</Paragraphs>
  <Slides>6</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ＭＳ Ｐゴシック</vt:lpstr>
      <vt:lpstr>ＭＳ Ｐゴシック</vt:lpstr>
      <vt:lpstr>Arial</vt:lpstr>
      <vt:lpstr>Calibri</vt:lpstr>
      <vt:lpstr>Cambria</vt:lpstr>
      <vt:lpstr>Garamond</vt:lpstr>
      <vt:lpstr>Times New Roman</vt:lpstr>
      <vt:lpstr>TradeGothic</vt:lpstr>
      <vt:lpstr>Office Theme</vt:lpstr>
      <vt:lpstr>SMART INDIA HACKATHON 2026</vt:lpstr>
      <vt:lpstr>From Temperature to Human Impact</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Suraj Singh</cp:lastModifiedBy>
  <cp:revision>170</cp:revision>
  <dcterms:created xsi:type="dcterms:W3CDTF">2013-12-12T18:46:50Z</dcterms:created>
  <dcterms:modified xsi:type="dcterms:W3CDTF">2026-09-23T06:45:01Z</dcterms:modified>
  <cp:category/>
</cp:coreProperties>
</file>