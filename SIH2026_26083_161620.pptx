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302" r:id="rId4"/>
    <p:sldId id="301" r:id="rId5"/>
    <p:sldId id="294" r:id="rId6"/>
    <p:sldId id="300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505"/>
    <a:srgbClr val="F2575A"/>
    <a:srgbClr val="EAF3F4"/>
    <a:srgbClr val="A67F1B"/>
    <a:srgbClr val="A87B09"/>
    <a:srgbClr val="AA7C09"/>
    <a:srgbClr val="AD7E0A"/>
    <a:srgbClr val="F5F5F5"/>
    <a:srgbClr val="9BBB59"/>
    <a:srgbClr val="39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C15DD-43E7-494C-8E4F-A270F5D120BB}" v="251" dt="2026-09-27T08:58:23.964"/>
    <p1510:client id="{5522D0BE-DDB9-47D9-B0A6-FE16E9A73533}" v="1513" dt="2026-09-27T07:26:12.067"/>
    <p1510:client id="{C3DB3C9D-E555-470B-866E-22743CF2FD71}" v="397" dt="2026-09-27T14:56:33.237"/>
    <p1510:client id="{CBBE649A-277F-44DE-A34C-482B8751C367}" v="297" dt="2026-09-27T10:29:10.173"/>
    <p1510:client id="{FCA61EAF-8B34-48A6-B351-5D946336F014}" v="1134" dt="2026-09-27T11:46:20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89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81C28-3AE2-3DF3-83AE-9F551F4E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1CFCE79-A805-4D30-445E-ABABA8C66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B995CEC8-666D-F6C1-F934-80C10E0007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B7399A6-4905-1198-B259-0B4C1AAEB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57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DD2E-BEA1-7F6D-378E-EDCEB472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1232BC6-10C6-EC7C-5F09-68691C598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53AEB37-FEE4-C77C-93D2-890BF81ADE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E4DDCB6-DD99-5763-BF3B-006A5BF6A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929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downtoearth.org.in/urbanisation/covid-19-4-factors-to-test-how-vulnerable-slums-in-4-big-cities-are-71833?utm_source=gemin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013935121005260?utm_source=gemini" TargetMode="External"/><Relationship Id="rId5" Type="http://schemas.openxmlformats.org/officeDocument/2006/relationships/hyperlink" Target="https://pmc.ncbi.nlm.nih.gov/articles/PMC9206009/" TargetMode="External"/><Relationship Id="rId4" Type="http://schemas.openxmlformats.org/officeDocument/2006/relationships/hyperlink" Target="https://pmc.ncbi.nlm.nih.gov/articles/PMC395479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46186" y="1895907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15667"/>
            <a:ext cx="10363200" cy="1650497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1">
                  <a:lumMod val="95000"/>
                  <a:lumOff val="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6124" y="1361750"/>
            <a:ext cx="647437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/>
              <a:t>SIH26083</a:t>
            </a:r>
            <a:endParaRPr lang="en-IN" sz="2600"/>
          </a:p>
          <a:p>
            <a:pPr algn="just">
              <a:lnSpc>
                <a:spcPct val="100000"/>
              </a:lnSpc>
            </a:pPr>
            <a:endParaRPr 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/>
              <a:t>Extreme Heatwave Early Warning and Human Thermal Stress Index</a:t>
            </a:r>
          </a:p>
          <a:p>
            <a:pPr algn="just">
              <a:lnSpc>
                <a:spcPct val="100000"/>
              </a:lnSpc>
            </a:pPr>
            <a:endParaRPr 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/>
              <a:t>Disaster Management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161620</a:t>
            </a:r>
          </a:p>
          <a:p>
            <a:pPr algn="just">
              <a:lnSpc>
                <a:spcPct val="200000"/>
              </a:lnSpc>
            </a:pPr>
            <a:endParaRPr lang="en-US" sz="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IN" sz="2400">
                <a:latin typeface="Arial" panose="020B0604020202020204" pitchFamily="34" charset="0"/>
                <a:cs typeface="Arial" panose="020B0604020202020204" pitchFamily="34" charset="0"/>
              </a:rPr>
              <a:t>DataShield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IN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ECA57DDA-72AC-8743-F097-EF552BF146A9}"/>
              </a:ext>
            </a:extLst>
          </p:cNvPr>
          <p:cNvSpPr/>
          <p:nvPr/>
        </p:nvSpPr>
        <p:spPr>
          <a:xfrm>
            <a:off x="3328253" y="942574"/>
            <a:ext cx="3060092" cy="3367563"/>
          </a:xfrm>
          <a:prstGeom prst="roundRect">
            <a:avLst>
              <a:gd name="adj" fmla="val 3500"/>
            </a:avLst>
          </a:prstGeom>
          <a:solidFill>
            <a:srgbClr val="F6F8FB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00641" y="6541667"/>
            <a:ext cx="12076981" cy="33071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35474" y="128158"/>
            <a:ext cx="7530235" cy="340578"/>
          </a:xfrm>
        </p:spPr>
        <p:txBody>
          <a:bodyPr/>
          <a:lstStyle/>
          <a:p>
            <a:pPr eaLnBrk="1" hangingPunct="1"/>
            <a:r>
              <a:rPr lang="en-IN" sz="3600" b="1" err="1">
                <a:ea typeface="ＭＳ Ｐゴシック"/>
              </a:rPr>
              <a:t>ThermoSafe</a:t>
            </a:r>
            <a:endParaRPr lang="en-US" sz="3600" b="1">
              <a:latin typeface="Times New Roman" panose="02020603050405020304" pitchFamily="18" charset="0"/>
              <a:ea typeface="ＭＳ Ｐゴシック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51942" y="6636465"/>
            <a:ext cx="558800" cy="178219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04656" y="6553214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262" y="1500"/>
            <a:ext cx="2264226" cy="789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068D74-EBBC-B8B7-28F3-40629D9796DD}"/>
              </a:ext>
            </a:extLst>
          </p:cNvPr>
          <p:cNvSpPr txBox="1"/>
          <p:nvPr/>
        </p:nvSpPr>
        <p:spPr>
          <a:xfrm>
            <a:off x="2235555" y="538930"/>
            <a:ext cx="7135633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IN" b="1">
                <a:solidFill>
                  <a:schemeClr val="tx2">
                    <a:lumMod val="75000"/>
                  </a:schemeClr>
                </a:solidFill>
                <a:latin typeface="Arial"/>
                <a:ea typeface="Calibri"/>
                <a:cs typeface="Arial"/>
                <a:sym typeface="+mn-ea"/>
              </a:rPr>
              <a:t>	"</a:t>
            </a:r>
            <a:r>
              <a:rPr lang="en-IN" b="1">
                <a:solidFill>
                  <a:schemeClr val="tx2">
                    <a:lumMod val="75000"/>
                  </a:schemeClr>
                </a:solidFill>
                <a:latin typeface="Calibri"/>
                <a:ea typeface="ＭＳ Ｐゴシック"/>
                <a:cs typeface="Calibri"/>
              </a:rPr>
              <a:t>From Temperature to Human Impact"</a:t>
            </a:r>
            <a:endParaRPr lang="en-GB" b="1">
              <a:solidFill>
                <a:schemeClr val="tx2">
                  <a:lumMod val="75000"/>
                </a:schemeClr>
              </a:solidFill>
              <a:cs typeface="Calibri"/>
            </a:endParaRP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45266A60-5D33-E7BA-EA55-3E246A800A19}"/>
              </a:ext>
            </a:extLst>
          </p:cNvPr>
          <p:cNvSpPr/>
          <p:nvPr/>
        </p:nvSpPr>
        <p:spPr>
          <a:xfrm>
            <a:off x="107725" y="942575"/>
            <a:ext cx="3060092" cy="3367563"/>
          </a:xfrm>
          <a:prstGeom prst="roundRect">
            <a:avLst>
              <a:gd name="adj" fmla="val 3500"/>
            </a:avLst>
          </a:prstGeom>
          <a:solidFill>
            <a:srgbClr val="F6F8FB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0959743-C4A7-C604-C8B7-E55E505CCE5C}"/>
              </a:ext>
            </a:extLst>
          </p:cNvPr>
          <p:cNvSpPr/>
          <p:nvPr/>
        </p:nvSpPr>
        <p:spPr>
          <a:xfrm>
            <a:off x="406424" y="1012467"/>
            <a:ext cx="316982" cy="33136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_problem.png">
            <a:extLst>
              <a:ext uri="{FF2B5EF4-FFF2-40B4-BE49-F238E27FC236}">
                <a16:creationId xmlns:a16="http://schemas.microsoft.com/office/drawing/2014/main" id="{F5D8C53B-140B-5D9C-7E49-2C7A9BE9A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86" y="1021968"/>
            <a:ext cx="256032" cy="2560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6435268-C901-2E68-0F2E-CFC462EAAD59}"/>
              </a:ext>
            </a:extLst>
          </p:cNvPr>
          <p:cNvSpPr txBox="1"/>
          <p:nvPr/>
        </p:nvSpPr>
        <p:spPr>
          <a:xfrm>
            <a:off x="801977" y="1012468"/>
            <a:ext cx="1975017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>
                <a:solidFill>
                  <a:srgbClr val="D9480F"/>
                </a:solidFill>
                <a:latin typeface="Arial"/>
                <a:ea typeface="Calibri"/>
                <a:cs typeface="Arial"/>
              </a:rPr>
              <a:t>Problem Overview</a:t>
            </a:r>
            <a:endParaRPr lang="en-US" sz="1600" b="1">
              <a:solidFill>
                <a:srgbClr val="D9480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CC37A-5B3C-35FD-65CD-7F40B2AF74D4}"/>
              </a:ext>
            </a:extLst>
          </p:cNvPr>
          <p:cNvSpPr txBox="1"/>
          <p:nvPr/>
        </p:nvSpPr>
        <p:spPr>
          <a:xfrm>
            <a:off x="105697" y="1367306"/>
            <a:ext cx="3060702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India’s heat warnings rely mainly on</a:t>
            </a:r>
            <a:r>
              <a:rPr lang="en-US" sz="14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dry-bulb temperature</a:t>
            </a:r>
            <a:r>
              <a:rPr lang="en-US" sz="1400">
                <a:latin typeface="Calibri"/>
                <a:ea typeface="Calibri"/>
                <a:cs typeface="Calibri"/>
              </a:rPr>
              <a:t>, overlooking </a:t>
            </a:r>
            <a:r>
              <a:rPr lang="en-US" sz="1400" i="1">
                <a:latin typeface="Calibri"/>
                <a:ea typeface="Calibri"/>
                <a:cs typeface="Calibri"/>
              </a:rPr>
              <a:t>humidity, wind, and solar radiation</a:t>
            </a:r>
            <a:r>
              <a:rPr lang="en-US" sz="1400">
                <a:latin typeface="Calibri"/>
                <a:ea typeface="Calibri"/>
                <a:cs typeface="Calibri"/>
              </a:rPr>
              <a:t> that drive actual heat stress.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IMD heat-wave</a:t>
            </a:r>
            <a:r>
              <a:rPr lang="en-US" sz="1400" b="1"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latin typeface="Calibri"/>
                <a:ea typeface="Calibri"/>
                <a:cs typeface="Calibri"/>
              </a:rPr>
              <a:t>thresholds are temperature-based, not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physiological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latin typeface="Calibri"/>
                <a:ea typeface="Calibri"/>
                <a:cs typeface="Calibri"/>
              </a:rPr>
              <a:t>measures of </a:t>
            </a:r>
            <a:r>
              <a:rPr lang="en-US" sz="1400" i="1">
                <a:latin typeface="Calibri"/>
                <a:ea typeface="Calibri"/>
                <a:cs typeface="Calibri"/>
              </a:rPr>
              <a:t>heat stress.</a:t>
            </a:r>
            <a:endParaRPr lang="en-US" sz="1400" i="1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40°C dry vs. humid heat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latin typeface="Calibri"/>
                <a:ea typeface="Calibri"/>
                <a:cs typeface="Calibri"/>
              </a:rPr>
              <a:t>can cause very different health risks.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1400">
                <a:latin typeface="Calibri"/>
                <a:ea typeface="Calibri"/>
                <a:cs typeface="Calibri"/>
              </a:rPr>
              <a:t>No system links 3–5 day</a:t>
            </a:r>
            <a:r>
              <a:rPr lang="en-IN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hyperlocal weather forecasts</a:t>
            </a:r>
            <a:r>
              <a:rPr lang="en-IN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1400">
                <a:latin typeface="Calibri"/>
                <a:ea typeface="Calibri"/>
                <a:cs typeface="Calibri"/>
              </a:rPr>
              <a:t>to predicted</a:t>
            </a:r>
            <a:r>
              <a:rPr lang="en-IN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hospitalizations or mortality rate</a:t>
            </a:r>
            <a:r>
              <a:rPr lang="en-IN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  <a:endParaRPr lang="en-IN" sz="1400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8C9620-3EC8-8EF8-83BD-510883643F47}"/>
              </a:ext>
            </a:extLst>
          </p:cNvPr>
          <p:cNvSpPr txBox="1"/>
          <p:nvPr/>
        </p:nvSpPr>
        <p:spPr>
          <a:xfrm>
            <a:off x="3946621" y="1002352"/>
            <a:ext cx="202067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Proposed Solution</a:t>
            </a:r>
          </a:p>
        </p:txBody>
      </p:sp>
      <p:sp>
        <p:nvSpPr>
          <p:cNvPr id="48" name="Rounded Rectangle 15">
            <a:extLst>
              <a:ext uri="{FF2B5EF4-FFF2-40B4-BE49-F238E27FC236}">
                <a16:creationId xmlns:a16="http://schemas.microsoft.com/office/drawing/2014/main" id="{164D60D2-A595-DE89-A64E-DFE1F410ABC0}"/>
              </a:ext>
            </a:extLst>
          </p:cNvPr>
          <p:cNvSpPr/>
          <p:nvPr/>
        </p:nvSpPr>
        <p:spPr>
          <a:xfrm>
            <a:off x="6540973" y="2544707"/>
            <a:ext cx="5444323" cy="3894634"/>
          </a:xfrm>
          <a:prstGeom prst="roundRect">
            <a:avLst>
              <a:gd name="adj" fmla="val 3500"/>
            </a:avLst>
          </a:prstGeom>
          <a:solidFill>
            <a:srgbClr val="F6F8FB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00541E-E02E-C68D-38A1-862248F84A48}"/>
              </a:ext>
            </a:extLst>
          </p:cNvPr>
          <p:cNvSpPr txBox="1"/>
          <p:nvPr/>
        </p:nvSpPr>
        <p:spPr>
          <a:xfrm>
            <a:off x="7687325" y="2637312"/>
            <a:ext cx="241079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  <a:latin typeface="Arial"/>
                <a:ea typeface="ＭＳ Ｐゴシック"/>
              </a:rPr>
              <a:t>Uniqueness &amp; Novelty</a:t>
            </a:r>
            <a:endParaRPr lang="en-US">
              <a:solidFill>
                <a:srgbClr val="B8860B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D067A9-B2B2-100E-42BF-94CE5FCD3BDE}"/>
              </a:ext>
            </a:extLst>
          </p:cNvPr>
          <p:cNvSpPr txBox="1"/>
          <p:nvPr/>
        </p:nvSpPr>
        <p:spPr>
          <a:xfrm>
            <a:off x="6540973" y="3022134"/>
            <a:ext cx="5456819" cy="3277820"/>
          </a:xfrm>
          <a:prstGeom prst="rect">
            <a:avLst/>
          </a:prstGeom>
          <a:noFill/>
        </p:spPr>
        <p:txBody>
          <a:bodyPr wrap="square" lIns="91440" tIns="45720" rIns="0" bIns="4572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solidFill>
                  <a:srgbClr val="333333"/>
                </a:solidFill>
                <a:latin typeface="Arial"/>
                <a:ea typeface="ＭＳ Ｐゴシック"/>
              </a:rPr>
              <a:t>Refined 'temperature feel’:</a:t>
            </a:r>
            <a:r>
              <a:rPr lang="en-US" sz="1300" b="1">
                <a:latin typeface="Arial"/>
                <a:ea typeface="ＭＳ Ｐゴシック"/>
              </a:rPr>
              <a:t> </a:t>
            </a:r>
            <a:r>
              <a:rPr lang="en-US" sz="1300">
                <a:latin typeface="Arial"/>
                <a:ea typeface="ＭＳ Ｐゴシック"/>
              </a:rPr>
              <a:t>Additionally use vegetation or tree density </a:t>
            </a:r>
            <a:r>
              <a:rPr lang="en-US" sz="1300" b="1" i="1">
                <a:solidFill>
                  <a:srgbClr val="FF0000"/>
                </a:solidFill>
                <a:latin typeface="Arial"/>
                <a:ea typeface="ＭＳ Ｐゴシック"/>
              </a:rPr>
              <a:t>(NDVI)</a:t>
            </a:r>
            <a:r>
              <a:rPr lang="en-US" sz="1300">
                <a:solidFill>
                  <a:srgbClr val="333333"/>
                </a:solidFill>
                <a:latin typeface="Arial"/>
                <a:ea typeface="ＭＳ Ｐゴシック"/>
              </a:rPr>
              <a:t> </a:t>
            </a:r>
            <a:r>
              <a:rPr lang="en-US" sz="1300">
                <a:latin typeface="Arial"/>
                <a:ea typeface="ＭＳ Ｐゴシック"/>
              </a:rPr>
              <a:t>and building density</a:t>
            </a:r>
            <a:r>
              <a:rPr lang="en-US" sz="1300">
                <a:solidFill>
                  <a:srgbClr val="333333"/>
                </a:solidFill>
                <a:latin typeface="Arial"/>
                <a:ea typeface="ＭＳ Ｐゴシック"/>
              </a:rPr>
              <a:t> </a:t>
            </a:r>
            <a:r>
              <a:rPr lang="en-US" sz="1300" i="1">
                <a:solidFill>
                  <a:srgbClr val="FF0000"/>
                </a:solidFill>
                <a:latin typeface="Arial"/>
                <a:ea typeface="ＭＳ Ｐゴシック"/>
              </a:rPr>
              <a:t>(built-up%)</a:t>
            </a:r>
            <a:r>
              <a:rPr lang="en-US" sz="1300">
                <a:latin typeface="Arial"/>
                <a:ea typeface="ＭＳ Ｐゴシック"/>
              </a:rPr>
              <a:t> to measure the ‘temperature feel’.</a:t>
            </a:r>
            <a:endParaRPr lang="en-US" sz="1300">
              <a:latin typeface="Arial"/>
              <a:ea typeface="ＭＳ Ｐゴシック"/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solidFill>
                  <a:srgbClr val="333333"/>
                </a:solidFill>
                <a:latin typeface="Arial"/>
                <a:ea typeface="ＭＳ Ｐゴシック"/>
              </a:rPr>
              <a:t>Corrected air temp: </a:t>
            </a:r>
            <a:r>
              <a:rPr lang="en-US" sz="1300">
                <a:latin typeface="Arial"/>
                <a:ea typeface="ＭＳ Ｐゴシック"/>
              </a:rPr>
              <a:t>Uses </a:t>
            </a:r>
            <a:r>
              <a:rPr lang="en-US" sz="1300" b="1" i="1">
                <a:solidFill>
                  <a:srgbClr val="FF0000"/>
                </a:solidFill>
                <a:latin typeface="Arial"/>
                <a:ea typeface="ＭＳ Ｐゴシック"/>
              </a:rPr>
              <a:t>SUHI-to-air</a:t>
            </a:r>
            <a:r>
              <a:rPr lang="en-US" sz="1300">
                <a:solidFill>
                  <a:srgbClr val="333333"/>
                </a:solidFill>
                <a:latin typeface="Arial"/>
                <a:ea typeface="ＭＳ Ｐゴシック"/>
              </a:rPr>
              <a:t> </a:t>
            </a:r>
            <a:r>
              <a:rPr lang="en-US" sz="1300">
                <a:latin typeface="Arial"/>
                <a:ea typeface="ＭＳ Ｐゴシック"/>
              </a:rPr>
              <a:t>scaling (unlike standard models).</a:t>
            </a:r>
            <a:endParaRPr lang="en-US" sz="1300">
              <a:latin typeface="Arial"/>
              <a:ea typeface="ＭＳ Ｐゴシック"/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solidFill>
                  <a:srgbClr val="333333"/>
                </a:solidFill>
                <a:latin typeface="Arial"/>
                <a:ea typeface="ＭＳ Ｐゴシック"/>
              </a:rPr>
              <a:t>Comprehensive risk model: </a:t>
            </a:r>
            <a:r>
              <a:rPr lang="en-US" sz="1300">
                <a:latin typeface="Arial"/>
                <a:ea typeface="ＭＳ Ｐゴシック"/>
              </a:rPr>
              <a:t>Dual</a:t>
            </a:r>
            <a:r>
              <a:rPr lang="en-US" sz="1300" i="1">
                <a:solidFill>
                  <a:srgbClr val="FF0000"/>
                </a:solidFill>
                <a:latin typeface="Arial"/>
                <a:ea typeface="ＭＳ Ｐゴシック"/>
              </a:rPr>
              <a:t> mortality + hospitalization</a:t>
            </a:r>
            <a:r>
              <a:rPr lang="en-US" sz="1300">
                <a:solidFill>
                  <a:srgbClr val="333333"/>
                </a:solidFill>
                <a:latin typeface="Arial"/>
                <a:ea typeface="ＭＳ Ｐゴシック"/>
              </a:rPr>
              <a:t> </a:t>
            </a:r>
            <a:r>
              <a:rPr lang="en-US" sz="1300">
                <a:latin typeface="Arial"/>
                <a:ea typeface="ＭＳ Ｐゴシック"/>
              </a:rPr>
              <a:t>tracking with transparent proxies.</a:t>
            </a:r>
            <a:endParaRPr lang="en-US" sz="1300">
              <a:latin typeface="Arial"/>
              <a:ea typeface="ＭＳ Ｐゴシック"/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solidFill>
                  <a:srgbClr val="333333"/>
                </a:solidFill>
                <a:latin typeface="Arial"/>
                <a:ea typeface="ＭＳ Ｐゴシック"/>
              </a:rPr>
              <a:t>Ward-level insights: </a:t>
            </a:r>
            <a:r>
              <a:rPr lang="en-US" sz="1300">
                <a:latin typeface="Arial"/>
                <a:ea typeface="ＭＳ Ｐゴシック"/>
              </a:rPr>
              <a:t>Infers outdoor-worker density via OpenStreetMap where census data lacks.</a:t>
            </a:r>
            <a:endParaRPr lang="en-US" sz="1300">
              <a:latin typeface="Arial"/>
              <a:ea typeface="ＭＳ Ｐゴシック"/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solidFill>
                  <a:srgbClr val="333333"/>
                </a:solidFill>
                <a:latin typeface="Arial"/>
                <a:ea typeface="ＭＳ Ｐゴシック"/>
              </a:rPr>
              <a:t>Self-calibrating thresholds: </a:t>
            </a:r>
            <a:r>
              <a:rPr lang="en-US" sz="1300">
                <a:latin typeface="Arial"/>
                <a:ea typeface="ＭＳ Ｐゴシック"/>
              </a:rPr>
              <a:t>Mortality/hospitalization cutoffs come from the city's own </a:t>
            </a:r>
            <a:r>
              <a:rPr lang="en-US" sz="1300" i="1">
                <a:solidFill>
                  <a:srgbClr val="FF0000"/>
                </a:solidFill>
                <a:latin typeface="Arial"/>
                <a:ea typeface="ＭＳ Ｐゴシック"/>
              </a:rPr>
              <a:t>historical summer data</a:t>
            </a:r>
            <a:r>
              <a:rPr lang="en-US" sz="1300">
                <a:latin typeface="Arial"/>
                <a:ea typeface="ＭＳ Ｐゴシック"/>
              </a:rPr>
              <a:t>, not another city's climate.</a:t>
            </a:r>
            <a:endParaRPr lang="en-US" sz="1300">
              <a:latin typeface="Arial"/>
              <a:ea typeface="ＭＳ Ｐゴシック"/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Beyond Weather Apps:</a:t>
            </a: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latin typeface="Arial"/>
                <a:ea typeface="ＭＳ Ｐゴシック"/>
              </a:rPr>
              <a:t>ThermoSafe</a:t>
            </a:r>
            <a:r>
              <a:rPr lang="en-US" sz="1300">
                <a:latin typeface="Arial"/>
                <a:ea typeface="ＭＳ Ｐゴシック"/>
              </a:rPr>
              <a:t> goes beyond coarse-grid estimates by using </a:t>
            </a:r>
            <a:r>
              <a:rPr lang="en-US" sz="1300" i="1">
                <a:solidFill>
                  <a:srgbClr val="FF0000"/>
                </a:solidFill>
                <a:latin typeface="Arial"/>
                <a:ea typeface="ＭＳ Ｐゴシック"/>
              </a:rPr>
              <a:t>ward-level satellite data on vegetation and built-up density to map heat risk</a:t>
            </a:r>
            <a:r>
              <a:rPr lang="en-US" sz="1300">
                <a:latin typeface="Arial"/>
                <a:ea typeface="ＭＳ Ｐゴシック"/>
              </a:rPr>
              <a:t> and drive targeted action.</a:t>
            </a:r>
            <a:endParaRPr sz="1300">
              <a:latin typeface="Arial"/>
              <a:ea typeface="ＭＳ Ｐゴシック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CA3CA20-FCD2-E548-0C11-987A98178C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2846" y="132080"/>
            <a:ext cx="1728638" cy="651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DataShield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D55E38-9B00-8B26-64A0-E492857AD5DA}"/>
              </a:ext>
            </a:extLst>
          </p:cNvPr>
          <p:cNvSpPr/>
          <p:nvPr/>
        </p:nvSpPr>
        <p:spPr>
          <a:xfrm>
            <a:off x="3497555" y="998090"/>
            <a:ext cx="316982" cy="331360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2AB1FA-3402-C9DE-1BB9-66F06B820154}"/>
              </a:ext>
            </a:extLst>
          </p:cNvPr>
          <p:cNvSpPr/>
          <p:nvPr/>
        </p:nvSpPr>
        <p:spPr>
          <a:xfrm>
            <a:off x="6991254" y="2622731"/>
            <a:ext cx="316982" cy="331360"/>
          </a:xfrm>
          <a:prstGeom prst="ellipse">
            <a:avLst/>
          </a:prstGeom>
          <a:solidFill>
            <a:srgbClr val="A6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_solution.png">
            <a:extLst>
              <a:ext uri="{FF2B5EF4-FFF2-40B4-BE49-F238E27FC236}">
                <a16:creationId xmlns:a16="http://schemas.microsoft.com/office/drawing/2014/main" id="{AC630923-0F1E-37FB-B8B7-D94BAFFCD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227" y="1020175"/>
            <a:ext cx="256032" cy="2560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5A9C32-0B16-2163-8D70-9F4F5B56D0B4}"/>
              </a:ext>
            </a:extLst>
          </p:cNvPr>
          <p:cNvSpPr txBox="1"/>
          <p:nvPr/>
        </p:nvSpPr>
        <p:spPr>
          <a:xfrm>
            <a:off x="3326225" y="1381683"/>
            <a:ext cx="3060702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err="1">
                <a:latin typeface="Calibri"/>
                <a:ea typeface="Calibri"/>
                <a:cs typeface="Calibri"/>
              </a:rPr>
              <a:t>ThermoSafe</a:t>
            </a:r>
            <a:r>
              <a:rPr lang="en-US" sz="1400">
                <a:latin typeface="Calibri"/>
                <a:ea typeface="Calibri"/>
                <a:cs typeface="Calibri"/>
              </a:rPr>
              <a:t>  predicts heat stress </a:t>
            </a:r>
            <a:r>
              <a:rPr lang="en-US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3-5 days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latin typeface="Calibri"/>
                <a:ea typeface="Calibri"/>
                <a:cs typeface="Calibri"/>
              </a:rPr>
              <a:t>ahead using </a:t>
            </a: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UTCI,WBGT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 b="1" err="1">
              <a:solidFill>
                <a:srgbClr val="333333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Ward-level</a:t>
            </a:r>
            <a:r>
              <a:rPr lang="en-US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mortality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latin typeface="Calibri"/>
                <a:ea typeface="Calibri"/>
                <a:cs typeface="Calibri"/>
              </a:rPr>
              <a:t>and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hospitalization alert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  </a:t>
            </a:r>
            <a:r>
              <a:rPr lang="en-US" sz="1400">
                <a:latin typeface="Calibri"/>
                <a:ea typeface="Calibri"/>
                <a:cs typeface="Calibri"/>
              </a:rPr>
              <a:t>based on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demographics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1400">
                <a:latin typeface="Calibri"/>
                <a:ea typeface="Calibri"/>
                <a:cs typeface="Calibri"/>
              </a:rPr>
              <a:t> </a:t>
            </a:r>
            <a:r>
              <a:rPr lang="en-US" sz="1400" i="1">
                <a:latin typeface="Calibri"/>
                <a:ea typeface="Calibri"/>
                <a:cs typeface="Calibri"/>
              </a:rPr>
              <a:t>housing, and health data.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It includes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color </a:t>
            </a:r>
            <a:r>
              <a:rPr lang="en-US" sz="1400">
                <a:latin typeface="Calibri"/>
                <a:ea typeface="Calibri"/>
                <a:cs typeface="Calibri"/>
              </a:rPr>
              <a:t>coded </a:t>
            </a: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GIS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dashboard</a:t>
            </a:r>
            <a:r>
              <a:rPr lang="en-US" sz="140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400">
                <a:latin typeface="Calibri"/>
                <a:ea typeface="Calibri"/>
                <a:cs typeface="Calibri"/>
              </a:rPr>
              <a:t>to guide cooling centers, health posts, and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ambulance placement.</a:t>
            </a: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Calibri"/>
                <a:ea typeface="Calibri"/>
                <a:cs typeface="Calibri"/>
              </a:rPr>
              <a:t>ThermoSafe</a:t>
            </a:r>
            <a:r>
              <a:rPr lang="en-US" sz="1400">
                <a:latin typeface="Calibri"/>
                <a:ea typeface="Calibri"/>
                <a:cs typeface="Calibri"/>
              </a:rPr>
              <a:t> pushes timely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heatwave alerts</a:t>
            </a:r>
            <a:r>
              <a:rPr lang="en-US" sz="1400">
                <a:latin typeface="Calibri"/>
                <a:ea typeface="Calibri"/>
                <a:cs typeface="Calibri"/>
              </a:rPr>
              <a:t> before the danger arrives, not after.</a:t>
            </a:r>
          </a:p>
          <a:p>
            <a:pPr marL="285750" indent="-285750">
              <a:buFont typeface="Arial"/>
              <a:buChar char="•"/>
            </a:pPr>
            <a:endParaRPr lang="en-US" sz="1400">
              <a:solidFill>
                <a:srgbClr val="333333"/>
              </a:solidFill>
              <a:ea typeface="Calibri"/>
              <a:cs typeface="Calibri"/>
            </a:endParaRPr>
          </a:p>
        </p:txBody>
      </p:sp>
      <p:pic>
        <p:nvPicPr>
          <p:cNvPr id="52" name="Picture 51" descr="icon_unique.png">
            <a:extLst>
              <a:ext uri="{FF2B5EF4-FFF2-40B4-BE49-F238E27FC236}">
                <a16:creationId xmlns:a16="http://schemas.microsoft.com/office/drawing/2014/main" id="{0FBC970C-59F8-B7B9-F0B7-B0F201EB62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872" y="2640154"/>
            <a:ext cx="256032" cy="2560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A6A57E-5FB8-9136-D8CA-4BBE3DB529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392" r="-810" b="-1090"/>
          <a:stretch>
            <a:fillRect/>
          </a:stretch>
        </p:blipFill>
        <p:spPr>
          <a:xfrm>
            <a:off x="257334" y="4430206"/>
            <a:ext cx="6146717" cy="2043089"/>
          </a:xfrm>
          <a:prstGeom prst="rect">
            <a:avLst/>
          </a:prstGeom>
        </p:spPr>
      </p:pic>
      <p:pic>
        <p:nvPicPr>
          <p:cNvPr id="2" name="Picture 1" descr="31,312 Temperature Gauge Royalty-Free Images, Stock Photos &amp; Pictures |  Shutterstock">
            <a:extLst>
              <a:ext uri="{FF2B5EF4-FFF2-40B4-BE49-F238E27FC236}">
                <a16:creationId xmlns:a16="http://schemas.microsoft.com/office/drawing/2014/main" id="{C67300D5-D4F2-7148-E050-7DDB16A6C99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" t="-413" r="5283" b="8750"/>
          <a:stretch>
            <a:fillRect/>
          </a:stretch>
        </p:blipFill>
        <p:spPr>
          <a:xfrm>
            <a:off x="6540594" y="1002057"/>
            <a:ext cx="5450364" cy="1253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6D1F-C1E7-3C79-0EF5-99E04426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AE459B46-F0A8-B81D-D34A-12E0A05F7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6743"/>
            <a:ext cx="10972800" cy="503238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885F05-4449-3B90-E4A5-9FB91C2B9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267" y="-9010"/>
            <a:ext cx="1801789" cy="850771"/>
          </a:xfrm>
          <a:prstGeom prst="rect">
            <a:avLst/>
          </a:prstGeom>
        </p:spPr>
      </p:pic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6E792E90-52A2-0897-F8BA-6980ECFD2C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2846" y="175212"/>
            <a:ext cx="1800525" cy="551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DataShield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5CC8D9B-F6A1-35D8-3CBD-12096368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4056" y="6392050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00C793-2C9A-3E73-5D65-1641944E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4656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67A875-51DF-8D2B-83CD-DD3435AF5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1" y="6541667"/>
            <a:ext cx="12076981" cy="33071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1EEFDEA-F4D0-8CC6-3934-0A39183B7FDB}"/>
              </a:ext>
            </a:extLst>
          </p:cNvPr>
          <p:cNvSpPr txBox="1">
            <a:spLocks/>
          </p:cNvSpPr>
          <p:nvPr/>
        </p:nvSpPr>
        <p:spPr>
          <a:xfrm>
            <a:off x="11051942" y="6636465"/>
            <a:ext cx="558800" cy="17821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7A6D97EF-1408-C104-0FDF-0743CFBB6360}"/>
              </a:ext>
            </a:extLst>
          </p:cNvPr>
          <p:cNvSpPr txBox="1">
            <a:spLocks/>
          </p:cNvSpPr>
          <p:nvPr/>
        </p:nvSpPr>
        <p:spPr>
          <a:xfrm>
            <a:off x="4604656" y="6553214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Dot 103">
            <a:extLst>
              <a:ext uri="{FF2B5EF4-FFF2-40B4-BE49-F238E27FC236}">
                <a16:creationId xmlns:a16="http://schemas.microsoft.com/office/drawing/2014/main" id="{E8DFFB48-BAB2-44BB-85F5-277C89F0C094}"/>
              </a:ext>
            </a:extLst>
          </p:cNvPr>
          <p:cNvSpPr/>
          <p:nvPr/>
        </p:nvSpPr>
        <p:spPr>
          <a:xfrm>
            <a:off x="4221480" y="958637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580BB2-930C-744C-5A2B-C85896E689C7}"/>
              </a:ext>
            </a:extLst>
          </p:cNvPr>
          <p:cNvSpPr txBox="1"/>
          <p:nvPr/>
        </p:nvSpPr>
        <p:spPr>
          <a:xfrm>
            <a:off x="4495800" y="846264"/>
            <a:ext cx="316374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System architecture :</a:t>
            </a:r>
          </a:p>
        </p:txBody>
      </p:sp>
      <p:sp>
        <p:nvSpPr>
          <p:cNvPr id="3" name="Dot 103">
            <a:extLst>
              <a:ext uri="{FF2B5EF4-FFF2-40B4-BE49-F238E27FC236}">
                <a16:creationId xmlns:a16="http://schemas.microsoft.com/office/drawing/2014/main" id="{9BDA89C2-46D2-50E4-8A07-23B3E70856C7}"/>
              </a:ext>
            </a:extLst>
          </p:cNvPr>
          <p:cNvSpPr/>
          <p:nvPr/>
        </p:nvSpPr>
        <p:spPr>
          <a:xfrm>
            <a:off x="296461" y="929883"/>
            <a:ext cx="198523" cy="2416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D2CD2-4C68-A228-2C49-50C7C8DE8CB3}"/>
              </a:ext>
            </a:extLst>
          </p:cNvPr>
          <p:cNvSpPr txBox="1"/>
          <p:nvPr/>
        </p:nvSpPr>
        <p:spPr>
          <a:xfrm>
            <a:off x="599536" y="831887"/>
            <a:ext cx="245925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Tech Stack: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ECEAC-500A-AD81-B855-3F01647574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15" t="4156" r="5882" b="8771"/>
          <a:stretch>
            <a:fillRect/>
          </a:stretch>
        </p:blipFill>
        <p:spPr>
          <a:xfrm>
            <a:off x="267808" y="1322718"/>
            <a:ext cx="3734888" cy="50497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C3ABC0-ABA0-FEFD-781A-EE64B624F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945" y="1291004"/>
            <a:ext cx="7806905" cy="521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8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FE5C-0F6C-AC33-5B13-12F59E7E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D66F9009-3FB9-E473-65EC-50BF2825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38175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97C80B-5521-BC1E-2E3B-75E3ACBC1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517" y="5483"/>
            <a:ext cx="2192340" cy="789167"/>
          </a:xfrm>
          <a:prstGeom prst="rect">
            <a:avLst/>
          </a:prstGeom>
        </p:spPr>
      </p:pic>
      <p:sp>
        <p:nvSpPr>
          <p:cNvPr id="4" name="Shape 5">
            <a:extLst>
              <a:ext uri="{FF2B5EF4-FFF2-40B4-BE49-F238E27FC236}">
                <a16:creationId xmlns:a16="http://schemas.microsoft.com/office/drawing/2014/main" id="{D1F11E9F-D38E-F173-1BBD-FEFFACD3B458}"/>
              </a:ext>
            </a:extLst>
          </p:cNvPr>
          <p:cNvSpPr/>
          <p:nvPr/>
        </p:nvSpPr>
        <p:spPr>
          <a:xfrm>
            <a:off x="117974" y="959674"/>
            <a:ext cx="3312111" cy="5450014"/>
          </a:xfrm>
          <a:prstGeom prst="roundRect">
            <a:avLst>
              <a:gd name="adj" fmla="val 3033"/>
            </a:avLst>
          </a:prstGeom>
          <a:solidFill>
            <a:srgbClr val="E4EAF0"/>
          </a:solidFill>
          <a:ln/>
          <a:effectLst>
            <a:outerShdw blurRad="889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93A484A-233B-16AD-C7B2-05327F3D8E0D}"/>
              </a:ext>
            </a:extLst>
          </p:cNvPr>
          <p:cNvSpPr txBox="1"/>
          <p:nvPr/>
        </p:nvSpPr>
        <p:spPr>
          <a:xfrm>
            <a:off x="484828" y="1070262"/>
            <a:ext cx="2494472" cy="5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03049"/>
                </a:solidFill>
                <a:latin typeface="Cambria"/>
                <a:ea typeface="Cambria"/>
                <a:cs typeface="Cambria" pitchFamily="34" charset="-120"/>
              </a:rPr>
              <a:t>Feasibility of the Idea</a:t>
            </a:r>
            <a:endParaRPr lang="en-US" sz="1600" dirty="0">
              <a:latin typeface="Calibri"/>
              <a:ea typeface="ＭＳ Ｐゴシック"/>
              <a:cs typeface="Calibri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FC7BDB1F-8BC0-E276-DBA7-D5195DB9175E}"/>
              </a:ext>
            </a:extLst>
          </p:cNvPr>
          <p:cNvSpPr txBox="1"/>
          <p:nvPr/>
        </p:nvSpPr>
        <p:spPr>
          <a:xfrm>
            <a:off x="484886" y="1537814"/>
            <a:ext cx="2852524" cy="71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lang="en-US" sz="1600" b="1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Proven, Ready APIs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lang="en-US" sz="1400" dirty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Open-</a:t>
            </a:r>
            <a:r>
              <a:rPr lang="en-US" sz="1400" dirty="0" err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Meteo</a:t>
            </a:r>
            <a:r>
              <a:rPr lang="en-US" sz="1400" dirty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, IMD, GEE &amp; WhatsApp/SMS APIs plug in directly — no need to build from scratch.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7161442-664C-FEE3-44C9-92406C372378}"/>
              </a:ext>
            </a:extLst>
          </p:cNvPr>
          <p:cNvSpPr txBox="1"/>
          <p:nvPr/>
        </p:nvSpPr>
        <p:spPr>
          <a:xfrm>
            <a:off x="470510" y="2679318"/>
            <a:ext cx="2866901" cy="946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Human-Centered Indices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UTCI &amp; WBGT capture true physiological heat stress, not just air temperature.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30942A6-1527-72B5-6E13-69EAAE2FD8DA}"/>
              </a:ext>
            </a:extLst>
          </p:cNvPr>
          <p:cNvSpPr txBox="1"/>
          <p:nvPr/>
        </p:nvSpPr>
        <p:spPr>
          <a:xfrm>
            <a:off x="456132" y="3648295"/>
            <a:ext cx="2866901" cy="946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Rich Public Data</a:t>
            </a:r>
            <a:endParaRPr lang="en-US" sz="1600" dirty="0">
              <a:cs typeface="Calibri" pitchFamily="34" charset="0"/>
            </a:endParaRPr>
          </a:p>
          <a:p>
            <a:pPr marL="0" indent="0" algn="l">
              <a:lnSpc>
                <a:spcPct val="106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Combines weather, satellite, population &amp; vulnerability datasets.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391610DF-1C70-B34B-D5A7-D022A6C1E10E}"/>
              </a:ext>
            </a:extLst>
          </p:cNvPr>
          <p:cNvSpPr txBox="1"/>
          <p:nvPr/>
        </p:nvSpPr>
        <p:spPr>
          <a:xfrm>
            <a:off x="456131" y="4473497"/>
            <a:ext cx="2852524" cy="1119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Lean &amp; Scalable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Open-source software &amp; standard cloud infra GPU optional — the same pipeline expands new cities.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AC2EF80E-F805-00F2-47E3-C9E7C71B0D92}"/>
              </a:ext>
            </a:extLst>
          </p:cNvPr>
          <p:cNvSpPr txBox="1"/>
          <p:nvPr/>
        </p:nvSpPr>
        <p:spPr>
          <a:xfrm>
            <a:off x="456131" y="5600625"/>
            <a:ext cx="2866903" cy="961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Mass-Reach Channels</a:t>
            </a:r>
            <a:endParaRPr lang="en-US" sz="1600" dirty="0">
              <a:cs typeface="Calibri" pitchFamily="34" charset="0"/>
            </a:endParaRPr>
          </a:p>
          <a:p>
            <a:pPr>
              <a:lnSpc>
                <a:spcPct val="106000"/>
              </a:lnSpc>
              <a:spcAft>
                <a:spcPts val="100"/>
              </a:spcAft>
            </a:pPr>
            <a:r>
              <a:rPr lang="en-US" sz="1400" dirty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SMS/WhatsApp alerts plus a citizen dashboard for wide accessibility.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7427" name="Image 8" descr="icons/header_challenges.png">
            <a:extLst>
              <a:ext uri="{FF2B5EF4-FFF2-40B4-BE49-F238E27FC236}">
                <a16:creationId xmlns:a16="http://schemas.microsoft.com/office/drawing/2014/main" id="{D5CAF7CD-4548-57E0-9C29-0D7F2DD04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000" y="1028552"/>
            <a:ext cx="169786" cy="212918"/>
          </a:xfrm>
          <a:prstGeom prst="rect">
            <a:avLst/>
          </a:prstGeom>
        </p:spPr>
      </p:pic>
      <p:pic>
        <p:nvPicPr>
          <p:cNvPr id="17433" name="Image 9" descr="icons/item_data_uncertainty.png">
            <a:extLst>
              <a:ext uri="{FF2B5EF4-FFF2-40B4-BE49-F238E27FC236}">
                <a16:creationId xmlns:a16="http://schemas.microsoft.com/office/drawing/2014/main" id="{D8434437-689D-AC68-2901-E81601EEF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3151" y="1456494"/>
            <a:ext cx="191208" cy="248717"/>
          </a:xfrm>
          <a:prstGeom prst="rect">
            <a:avLst/>
          </a:prstGeom>
        </p:spPr>
      </p:pic>
      <p:pic>
        <p:nvPicPr>
          <p:cNvPr id="17439" name="Image 10" descr="icons/item_tech_language.png">
            <a:extLst>
              <a:ext uri="{FF2B5EF4-FFF2-40B4-BE49-F238E27FC236}">
                <a16:creationId xmlns:a16="http://schemas.microsoft.com/office/drawing/2014/main" id="{2D4F1CE6-8932-CE46-490A-AE16BC8CA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058" y="2124118"/>
            <a:ext cx="191208" cy="248717"/>
          </a:xfrm>
          <a:prstGeom prst="rect">
            <a:avLst/>
          </a:prstGeom>
        </p:spPr>
      </p:pic>
      <p:pic>
        <p:nvPicPr>
          <p:cNvPr id="17445" name="Image 11" descr="icons/item_privacy_gov.png">
            <a:extLst>
              <a:ext uri="{FF2B5EF4-FFF2-40B4-BE49-F238E27FC236}">
                <a16:creationId xmlns:a16="http://schemas.microsoft.com/office/drawing/2014/main" id="{5DA448F9-94BB-C0C7-2B11-68432177B0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114" y="2919256"/>
            <a:ext cx="191208" cy="248717"/>
          </a:xfrm>
          <a:prstGeom prst="rect">
            <a:avLst/>
          </a:prstGeom>
        </p:spPr>
      </p:pic>
      <p:sp>
        <p:nvSpPr>
          <p:cNvPr id="17461" name="Slide Number Placeholder 5">
            <a:extLst>
              <a:ext uri="{FF2B5EF4-FFF2-40B4-BE49-F238E27FC236}">
                <a16:creationId xmlns:a16="http://schemas.microsoft.com/office/drawing/2014/main" id="{5BC1A4DD-5021-F513-ECEA-73423192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488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62" name="Footer Placeholder 6">
            <a:extLst>
              <a:ext uri="{FF2B5EF4-FFF2-40B4-BE49-F238E27FC236}">
                <a16:creationId xmlns:a16="http://schemas.microsoft.com/office/drawing/2014/main" id="{01062F5B-78A9-8E2C-A7C3-B63120D2F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548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FB6A1CA7-B4CC-01F7-4A3E-511B1C7877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7223" y="132080"/>
            <a:ext cx="1843657" cy="651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DataShield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86043-A80E-E456-2AF7-C8CC7409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1" y="6541667"/>
            <a:ext cx="12076981" cy="33071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EF43A65-CE79-5E0F-F6EA-D7299791CF1C}"/>
              </a:ext>
            </a:extLst>
          </p:cNvPr>
          <p:cNvSpPr txBox="1">
            <a:spLocks/>
          </p:cNvSpPr>
          <p:nvPr/>
        </p:nvSpPr>
        <p:spPr>
          <a:xfrm>
            <a:off x="11051942" y="6636465"/>
            <a:ext cx="558800" cy="17821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066518BF-AE63-7F23-77A5-458231B27688}"/>
              </a:ext>
            </a:extLst>
          </p:cNvPr>
          <p:cNvSpPr txBox="1">
            <a:spLocks/>
          </p:cNvSpPr>
          <p:nvPr/>
        </p:nvSpPr>
        <p:spPr>
          <a:xfrm>
            <a:off x="4604656" y="6553214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B345D123-88A7-F8DD-1166-8FBC8EBEE7D4}"/>
              </a:ext>
            </a:extLst>
          </p:cNvPr>
          <p:cNvSpPr/>
          <p:nvPr/>
        </p:nvSpPr>
        <p:spPr>
          <a:xfrm>
            <a:off x="3597293" y="1031559"/>
            <a:ext cx="3815319" cy="2660808"/>
          </a:xfrm>
          <a:prstGeom prst="roundRect">
            <a:avLst>
              <a:gd name="adj" fmla="val 3033"/>
            </a:avLst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889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01011-D1A6-CAFA-466A-712936E270C3}"/>
              </a:ext>
            </a:extLst>
          </p:cNvPr>
          <p:cNvSpPr txBox="1"/>
          <p:nvPr/>
        </p:nvSpPr>
        <p:spPr>
          <a:xfrm>
            <a:off x="3752491" y="1027982"/>
            <a:ext cx="366622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i="0" u="none" strike="noStrike" baseline="0" dirty="0">
                <a:solidFill>
                  <a:srgbClr val="C1121F"/>
                </a:solidFill>
                <a:latin typeface="Cambria"/>
                <a:ea typeface="Segoe UI"/>
                <a:cs typeface="Segoe UI"/>
              </a:rPr>
              <a:t>Potential Challenges &amp; Risks</a:t>
            </a:r>
            <a:r>
              <a:rPr lang="en-GB" sz="1800" b="0" i="0" dirty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1" i="0" u="none" strike="noStrike" baseline="0" dirty="0">
                <a:solidFill>
                  <a:srgbClr val="1B1B1B"/>
                </a:solidFill>
                <a:latin typeface="Calibri"/>
                <a:ea typeface="Segoe UI"/>
                <a:cs typeface="Segoe UI"/>
              </a:rPr>
              <a:t>Data &amp; Prediction Uncertainty</a:t>
            </a:r>
            <a:r>
              <a:rPr lang="en-US" sz="14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 dirty="0">
                <a:solidFill>
                  <a:srgbClr val="3F3F3F"/>
                </a:solidFill>
                <a:latin typeface="Calibri"/>
                <a:ea typeface="Segoe UI"/>
                <a:cs typeface="Segoe UI"/>
              </a:rPr>
              <a:t>Weather/satellite gaps and AI model errors can affect ward-level accuracy.</a:t>
            </a:r>
            <a:r>
              <a:rPr lang="en-GB" sz="14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1" i="0" u="none" strike="noStrike" baseline="0" dirty="0">
                <a:solidFill>
                  <a:srgbClr val="1B1B1B"/>
                </a:solidFill>
                <a:latin typeface="Calibri"/>
                <a:ea typeface="Segoe UI"/>
                <a:cs typeface="Segoe UI"/>
              </a:rPr>
              <a:t>Tech &amp; Language Barriers</a:t>
            </a:r>
            <a:r>
              <a:rPr lang="en-US" sz="14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 dirty="0">
                <a:solidFill>
                  <a:srgbClr val="3F3F3F"/>
                </a:solidFill>
                <a:latin typeface="Calibri"/>
                <a:ea typeface="Segoe UI"/>
                <a:cs typeface="Segoe UI"/>
              </a:rPr>
              <a:t>Patchy internet, low smartphone access, local dialects &amp; code-mixing limit reach.</a:t>
            </a:r>
            <a:r>
              <a:rPr lang="en-GB" sz="14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1" i="0" u="none" strike="noStrike" baseline="0" dirty="0">
                <a:solidFill>
                  <a:srgbClr val="1B1B1B"/>
                </a:solidFill>
                <a:latin typeface="Calibri"/>
                <a:ea typeface="Segoe UI"/>
                <a:cs typeface="Segoe UI"/>
              </a:rPr>
              <a:t>Privacy &amp; Govt. Integration</a:t>
            </a:r>
            <a:r>
              <a:rPr lang="en-US" sz="14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 dirty="0">
                <a:solidFill>
                  <a:srgbClr val="3F3F3F"/>
                </a:solidFill>
                <a:latin typeface="Calibri"/>
                <a:ea typeface="Segoe UI"/>
                <a:cs typeface="Segoe UI"/>
              </a:rPr>
              <a:t>Consent, secure data handling, API changes &amp; coordination delays complicate rollout.</a:t>
            </a:r>
            <a:r>
              <a:rPr lang="en-US" sz="14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9AE64B1-6D16-0DBF-69B9-0FD100A9444C}"/>
              </a:ext>
            </a:extLst>
          </p:cNvPr>
          <p:cNvSpPr/>
          <p:nvPr/>
        </p:nvSpPr>
        <p:spPr>
          <a:xfrm>
            <a:off x="3597292" y="3849520"/>
            <a:ext cx="4160376" cy="2502657"/>
          </a:xfrm>
          <a:prstGeom prst="roundRect">
            <a:avLst>
              <a:gd name="adj" fmla="val 3033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BBE36-B139-125C-3D8F-11D4E04E0AC2}"/>
              </a:ext>
            </a:extLst>
          </p:cNvPr>
          <p:cNvSpPr txBox="1"/>
          <p:nvPr/>
        </p:nvSpPr>
        <p:spPr>
          <a:xfrm>
            <a:off x="3594337" y="3845944"/>
            <a:ext cx="416943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="1" baseline="0" dirty="0">
                <a:solidFill>
                  <a:srgbClr val="B5720A"/>
                </a:solidFill>
                <a:latin typeface="Cambria"/>
                <a:ea typeface="Segoe UI"/>
                <a:cs typeface="Segoe UI"/>
              </a:rPr>
              <a:t>Strategies to Overcome Them</a:t>
            </a:r>
            <a:endParaRPr lang="en-GB" sz="1800" b="1" dirty="0">
              <a:solidFill>
                <a:srgbClr val="B5720A"/>
              </a:solidFill>
              <a:latin typeface="Cambria"/>
              <a:ea typeface="Segoe UI"/>
              <a:cs typeface="Segoe UI"/>
            </a:endParaRPr>
          </a:p>
          <a:p>
            <a:pPr rtl="0"/>
            <a:r>
              <a:rPr lang="en-US" sz="1400" b="1" baseline="0" dirty="0">
                <a:solidFill>
                  <a:srgbClr val="1B1B1B"/>
                </a:solidFill>
                <a:latin typeface="Calibri"/>
                <a:ea typeface="Segoe UI"/>
                <a:cs typeface="Segoe UI"/>
              </a:rPr>
              <a:t>Continuous AI Validation</a:t>
            </a:r>
            <a:r>
              <a:rPr lang="en-US" sz="14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400" baseline="0" dirty="0">
                <a:solidFill>
                  <a:srgbClr val="3F3F3F"/>
                </a:solidFill>
                <a:latin typeface="Calibri"/>
                <a:ea typeface="Segoe UI"/>
                <a:cs typeface="Segoe UI"/>
              </a:rPr>
              <a:t>Explainable models, confidence thresholds, human-in-the-loop review &amp; fallback alerts boost reliability.</a:t>
            </a:r>
            <a:r>
              <a:rPr lang="en-GB" sz="14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400" b="1" baseline="0" dirty="0">
                <a:solidFill>
                  <a:srgbClr val="1B1B1B"/>
                </a:solidFill>
                <a:latin typeface="Calibri"/>
                <a:ea typeface="Segoe UI"/>
                <a:cs typeface="Segoe UI"/>
              </a:rPr>
              <a:t>Built for Low Connectivity</a:t>
            </a:r>
            <a:r>
              <a:rPr lang="en-US" sz="14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400" baseline="0" dirty="0">
                <a:solidFill>
                  <a:srgbClr val="3F3F3F"/>
                </a:solidFill>
                <a:latin typeface="Calibri"/>
                <a:ea typeface="Segoe UI"/>
                <a:cs typeface="Segoe UI"/>
              </a:rPr>
              <a:t>Offline/SMS support, compressed alerts, multilingual NLP &amp; gradual local calibration close the gap.</a:t>
            </a:r>
            <a:r>
              <a:rPr lang="en-GB" sz="14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400" b="1" baseline="0" dirty="0">
                <a:solidFill>
                  <a:srgbClr val="1B1B1B"/>
                </a:solidFill>
                <a:latin typeface="Calibri"/>
                <a:ea typeface="Segoe UI"/>
                <a:cs typeface="Segoe UI"/>
              </a:rPr>
              <a:t>Privacy-First Integration</a:t>
            </a:r>
            <a:r>
              <a:rPr lang="en-US" sz="14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400" baseline="0" dirty="0">
                <a:solidFill>
                  <a:srgbClr val="3F3F3F"/>
                </a:solidFill>
                <a:latin typeface="Calibri"/>
                <a:ea typeface="Segoe UI"/>
                <a:cs typeface="Segoe UI"/>
              </a:rPr>
              <a:t>Data minimization, encryption, role-based access &amp; cached government data ensure a secure rollout.</a:t>
            </a:r>
            <a:r>
              <a:rPr lang="en-US" sz="1400" dirty="0">
                <a:latin typeface="Calibri"/>
                <a:ea typeface="Segoe UI"/>
                <a:cs typeface="Segoe UI"/>
              </a:rPr>
              <a:t>​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59F70DD-EEFB-C383-AAD0-8FBA404AC8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155" t="6156" r="3333" b="-1502"/>
          <a:stretch>
            <a:fillRect/>
          </a:stretch>
        </p:blipFill>
        <p:spPr>
          <a:xfrm>
            <a:off x="7760631" y="1016831"/>
            <a:ext cx="4396431" cy="54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7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3">
            <a:extLst>
              <a:ext uri="{FF2B5EF4-FFF2-40B4-BE49-F238E27FC236}">
                <a16:creationId xmlns:a16="http://schemas.microsoft.com/office/drawing/2014/main" id="{0F1C6EB8-6A05-631A-D807-FE1949FBE038}"/>
              </a:ext>
            </a:extLst>
          </p:cNvPr>
          <p:cNvSpPr/>
          <p:nvPr/>
        </p:nvSpPr>
        <p:spPr>
          <a:xfrm>
            <a:off x="6004560" y="843280"/>
            <a:ext cx="6025376" cy="543833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71142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6488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7548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9BCC6D3B-FB25-E944-B01C-EAB665C43FEE}"/>
              </a:ext>
            </a:extLst>
          </p:cNvPr>
          <p:cNvSpPr/>
          <p:nvPr/>
        </p:nvSpPr>
        <p:spPr>
          <a:xfrm>
            <a:off x="162560" y="843280"/>
            <a:ext cx="5730240" cy="5486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651799D0-C415-6AAE-7C72-EF9A87C5F494}"/>
              </a:ext>
            </a:extLst>
          </p:cNvPr>
          <p:cNvSpPr/>
          <p:nvPr/>
        </p:nvSpPr>
        <p:spPr>
          <a:xfrm>
            <a:off x="162560" y="843280"/>
            <a:ext cx="5730240" cy="43891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7DCCB9D-F476-3095-86E7-49532C19F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904240"/>
            <a:ext cx="304800" cy="304800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0696A1C9-38F1-88FB-72CE-EBF366F7043B}"/>
              </a:ext>
            </a:extLst>
          </p:cNvPr>
          <p:cNvSpPr/>
          <p:nvPr/>
        </p:nvSpPr>
        <p:spPr>
          <a:xfrm>
            <a:off x="711200" y="843280"/>
            <a:ext cx="487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</a:t>
            </a:r>
            <a:endParaRPr lang="en-US" sz="160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82404EE2-692D-3F1E-4CD2-F4AE96F08BD3}"/>
              </a:ext>
            </a:extLst>
          </p:cNvPr>
          <p:cNvSpPr/>
          <p:nvPr/>
        </p:nvSpPr>
        <p:spPr>
          <a:xfrm>
            <a:off x="382016" y="1452880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3401179A-1C54-A961-69AA-38B553995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84" y="1501648"/>
            <a:ext cx="268224" cy="268224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8DE4E501-9BD8-B257-1609-9AB78B4B67B7}"/>
              </a:ext>
            </a:extLst>
          </p:cNvPr>
          <p:cNvSpPr/>
          <p:nvPr/>
        </p:nvSpPr>
        <p:spPr>
          <a:xfrm>
            <a:off x="918464" y="1428496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</a:t>
            </a:r>
            <a:endParaRPr lang="en-US" sz="1533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72B59B3-80A4-46F5-6296-AEAC7188089E}"/>
              </a:ext>
            </a:extLst>
          </p:cNvPr>
          <p:cNvSpPr/>
          <p:nvPr/>
        </p:nvSpPr>
        <p:spPr>
          <a:xfrm>
            <a:off x="918464" y="1672336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475569"/>
                </a:solidFill>
                <a:latin typeface="Arial"/>
                <a:ea typeface="Arial" pitchFamily="34" charset="-122"/>
                <a:cs typeface="Arial"/>
              </a:rPr>
              <a:t>Receive hyperlocal heat-risk alerts in advance with personalized safety guidance.</a:t>
            </a:r>
            <a:endParaRPr lang="en-US" sz="1250">
              <a:solidFill>
                <a:srgbClr val="475569"/>
              </a:solidFill>
              <a:latin typeface="Calibri"/>
              <a:cs typeface="Calibri"/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CD7223D4-0CC8-2558-B508-BE9DF30E6968}"/>
              </a:ext>
            </a:extLst>
          </p:cNvPr>
          <p:cNvSpPr/>
          <p:nvPr/>
        </p:nvSpPr>
        <p:spPr>
          <a:xfrm>
            <a:off x="382016" y="2086864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EF8DF463-E02B-5754-4AF3-051912D1C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4" y="2135632"/>
            <a:ext cx="268224" cy="268224"/>
          </a:xfrm>
          <a:prstGeom prst="rect">
            <a:avLst/>
          </a:prstGeom>
        </p:spPr>
      </p:pic>
      <p:sp>
        <p:nvSpPr>
          <p:cNvPr id="32" name="Text 12">
            <a:extLst>
              <a:ext uri="{FF2B5EF4-FFF2-40B4-BE49-F238E27FC236}">
                <a16:creationId xmlns:a16="http://schemas.microsoft.com/office/drawing/2014/main" id="{3DA01DDF-EEB2-4F3B-88B7-ACE8357095FB}"/>
              </a:ext>
            </a:extLst>
          </p:cNvPr>
          <p:cNvSpPr/>
          <p:nvPr/>
        </p:nvSpPr>
        <p:spPr>
          <a:xfrm>
            <a:off x="918464" y="2062480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Communities</a:t>
            </a:r>
            <a:endParaRPr lang="en-US" sz="1533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2F6DD6A0-55CD-59CD-CE7A-FF2900480158}"/>
              </a:ext>
            </a:extLst>
          </p:cNvPr>
          <p:cNvSpPr/>
          <p:nvPr/>
        </p:nvSpPr>
        <p:spPr>
          <a:xfrm>
            <a:off x="918464" y="2306320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475569"/>
                </a:solidFill>
                <a:latin typeface="Arial"/>
                <a:ea typeface="Arial" pitchFamily="34" charset="-122"/>
                <a:cs typeface="Arial"/>
              </a:rPr>
              <a:t>Access timely information in local languages for better awareness and preparedness.</a:t>
            </a:r>
            <a:endParaRPr lang="en-US" sz="1250">
              <a:solidFill>
                <a:srgbClr val="475569"/>
              </a:solidFill>
              <a:latin typeface="Calibri"/>
              <a:cs typeface="Calibri"/>
            </a:endParaRP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3388B2AE-E30E-1446-80FC-B3BB5460ED59}"/>
              </a:ext>
            </a:extLst>
          </p:cNvPr>
          <p:cNvSpPr/>
          <p:nvPr/>
        </p:nvSpPr>
        <p:spPr>
          <a:xfrm>
            <a:off x="382016" y="2720848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CEF3A8CB-6C37-9BDA-8D5D-45135AAF7D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84" y="2769616"/>
            <a:ext cx="268224" cy="268224"/>
          </a:xfrm>
          <a:prstGeom prst="rect">
            <a:avLst/>
          </a:prstGeom>
        </p:spPr>
      </p:pic>
      <p:sp>
        <p:nvSpPr>
          <p:cNvPr id="40" name="Text 15">
            <a:extLst>
              <a:ext uri="{FF2B5EF4-FFF2-40B4-BE49-F238E27FC236}">
                <a16:creationId xmlns:a16="http://schemas.microsoft.com/office/drawing/2014/main" id="{8C282FE5-26B5-9F95-5C35-D4EC98716011}"/>
              </a:ext>
            </a:extLst>
          </p:cNvPr>
          <p:cNvSpPr/>
          <p:nvPr/>
        </p:nvSpPr>
        <p:spPr>
          <a:xfrm>
            <a:off x="918464" y="2696464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533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713F7BF6-35FE-2BE8-749A-A1A95F73ACD7}"/>
              </a:ext>
            </a:extLst>
          </p:cNvPr>
          <p:cNvSpPr/>
          <p:nvPr/>
        </p:nvSpPr>
        <p:spPr>
          <a:xfrm>
            <a:off x="918464" y="2940304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475569"/>
                </a:solidFill>
                <a:latin typeface="Arial"/>
                <a:ea typeface="Arial" pitchFamily="34" charset="-122"/>
                <a:cs typeface="Arial"/>
              </a:rPr>
              <a:t>Get early alerts to prepare for a possible increase in heat-related patients.</a:t>
            </a:r>
            <a:endParaRPr lang="en-US" sz="1250">
              <a:solidFill>
                <a:srgbClr val="475569"/>
              </a:solidFill>
              <a:latin typeface="Calibri"/>
              <a:cs typeface="Calibri"/>
            </a:endParaRPr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9BE6BA99-CBF7-D619-B20C-AE7AA6829EC0}"/>
              </a:ext>
            </a:extLst>
          </p:cNvPr>
          <p:cNvSpPr/>
          <p:nvPr/>
        </p:nvSpPr>
        <p:spPr>
          <a:xfrm>
            <a:off x="382016" y="3354832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F2597BDA-E42B-DF58-FC92-DBBC9D8A47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784" y="3403600"/>
            <a:ext cx="268224" cy="268224"/>
          </a:xfrm>
          <a:prstGeom prst="rect">
            <a:avLst/>
          </a:prstGeom>
        </p:spPr>
      </p:pic>
      <p:sp>
        <p:nvSpPr>
          <p:cNvPr id="48" name="Text 18">
            <a:extLst>
              <a:ext uri="{FF2B5EF4-FFF2-40B4-BE49-F238E27FC236}">
                <a16:creationId xmlns:a16="http://schemas.microsoft.com/office/drawing/2014/main" id="{B4A6B2BC-6738-E742-92A8-7C95A1BF32D0}"/>
              </a:ext>
            </a:extLst>
          </p:cNvPr>
          <p:cNvSpPr/>
          <p:nvPr/>
        </p:nvSpPr>
        <p:spPr>
          <a:xfrm>
            <a:off x="918464" y="3330448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Teams</a:t>
            </a:r>
            <a:endParaRPr lang="en-US" sz="1533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A44ECC6E-60BA-5D09-33A1-ECA7697191D7}"/>
              </a:ext>
            </a:extLst>
          </p:cNvPr>
          <p:cNvSpPr/>
          <p:nvPr/>
        </p:nvSpPr>
        <p:spPr>
          <a:xfrm>
            <a:off x="918464" y="3574288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475569"/>
                </a:solidFill>
                <a:latin typeface="Arial"/>
                <a:ea typeface="Arial" pitchFamily="34" charset="-122"/>
                <a:cs typeface="Arial"/>
              </a:rPr>
              <a:t>Improve resource and staff planning based on predicted heat-related health risks.</a:t>
            </a:r>
            <a:endParaRPr lang="en-US" sz="1250">
              <a:solidFill>
                <a:srgbClr val="475569"/>
              </a:solidFill>
              <a:latin typeface="Calibri"/>
              <a:cs typeface="Calibri"/>
            </a:endParaRPr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80C37FBD-7DE0-7ACA-94B8-82AD1936D374}"/>
              </a:ext>
            </a:extLst>
          </p:cNvPr>
          <p:cNvSpPr/>
          <p:nvPr/>
        </p:nvSpPr>
        <p:spPr>
          <a:xfrm>
            <a:off x="382016" y="3988816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5" descr="preencoded.png">
            <a:extLst>
              <a:ext uri="{FF2B5EF4-FFF2-40B4-BE49-F238E27FC236}">
                <a16:creationId xmlns:a16="http://schemas.microsoft.com/office/drawing/2014/main" id="{20635FE4-F516-E550-3132-AE4844374A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784" y="4037584"/>
            <a:ext cx="268224" cy="268224"/>
          </a:xfrm>
          <a:prstGeom prst="rect">
            <a:avLst/>
          </a:prstGeom>
        </p:spPr>
      </p:pic>
      <p:sp>
        <p:nvSpPr>
          <p:cNvPr id="56" name="Text 21">
            <a:extLst>
              <a:ext uri="{FF2B5EF4-FFF2-40B4-BE49-F238E27FC236}">
                <a16:creationId xmlns:a16="http://schemas.microsoft.com/office/drawing/2014/main" id="{27F873B1-994A-BB02-1C8E-B0CD00419FC0}"/>
              </a:ext>
            </a:extLst>
          </p:cNvPr>
          <p:cNvSpPr/>
          <p:nvPr/>
        </p:nvSpPr>
        <p:spPr>
          <a:xfrm>
            <a:off x="918464" y="3964432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Authorities</a:t>
            </a:r>
            <a:endParaRPr lang="en-US" sz="1533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BCA8DF2C-0950-AADB-0711-9756D10D9F19}"/>
              </a:ext>
            </a:extLst>
          </p:cNvPr>
          <p:cNvSpPr/>
          <p:nvPr/>
        </p:nvSpPr>
        <p:spPr>
          <a:xfrm>
            <a:off x="918464" y="4208272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475569"/>
                </a:solidFill>
                <a:latin typeface="Arial"/>
                <a:ea typeface="Arial" pitchFamily="34" charset="-122"/>
                <a:cs typeface="Arial"/>
              </a:rPr>
              <a:t>Gain ward-level risk visibility for data-driven heat-action planning and timely interventions.</a:t>
            </a:r>
            <a:endParaRPr lang="en-US" sz="1250">
              <a:solidFill>
                <a:srgbClr val="475569"/>
              </a:solidFill>
              <a:latin typeface="Calibri"/>
              <a:cs typeface="Calibri"/>
            </a:endParaRPr>
          </a:p>
        </p:txBody>
      </p:sp>
      <p:sp>
        <p:nvSpPr>
          <p:cNvPr id="17408" name="Shape 24">
            <a:extLst>
              <a:ext uri="{FF2B5EF4-FFF2-40B4-BE49-F238E27FC236}">
                <a16:creationId xmlns:a16="http://schemas.microsoft.com/office/drawing/2014/main" id="{CD6A9026-7F3A-CEE9-486E-44C80D8E4811}"/>
              </a:ext>
            </a:extLst>
          </p:cNvPr>
          <p:cNvSpPr/>
          <p:nvPr/>
        </p:nvSpPr>
        <p:spPr>
          <a:xfrm>
            <a:off x="6004560" y="843280"/>
            <a:ext cx="6025376" cy="43891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411" name="Image 7" descr="preencoded.png">
            <a:extLst>
              <a:ext uri="{FF2B5EF4-FFF2-40B4-BE49-F238E27FC236}">
                <a16:creationId xmlns:a16="http://schemas.microsoft.com/office/drawing/2014/main" id="{8C64AA4D-D48B-D565-A25C-0898D5ABE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904240"/>
            <a:ext cx="304800" cy="304800"/>
          </a:xfrm>
          <a:prstGeom prst="rect">
            <a:avLst/>
          </a:prstGeom>
        </p:spPr>
      </p:pic>
      <p:sp>
        <p:nvSpPr>
          <p:cNvPr id="17413" name="Text 25">
            <a:extLst>
              <a:ext uri="{FF2B5EF4-FFF2-40B4-BE49-F238E27FC236}">
                <a16:creationId xmlns:a16="http://schemas.microsoft.com/office/drawing/2014/main" id="{51F2CC08-6B7F-D1E2-28CA-E0176201B463}"/>
              </a:ext>
            </a:extLst>
          </p:cNvPr>
          <p:cNvSpPr/>
          <p:nvPr/>
        </p:nvSpPr>
        <p:spPr>
          <a:xfrm>
            <a:off x="6553200" y="843280"/>
            <a:ext cx="487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  <a:endParaRPr lang="en-US" sz="1600"/>
          </a:p>
        </p:txBody>
      </p:sp>
      <p:sp>
        <p:nvSpPr>
          <p:cNvPr id="17415" name="Shape 26">
            <a:extLst>
              <a:ext uri="{FF2B5EF4-FFF2-40B4-BE49-F238E27FC236}">
                <a16:creationId xmlns:a16="http://schemas.microsoft.com/office/drawing/2014/main" id="{3C5690B5-095E-A666-C072-AF6441358C08}"/>
              </a:ext>
            </a:extLst>
          </p:cNvPr>
          <p:cNvSpPr/>
          <p:nvPr/>
        </p:nvSpPr>
        <p:spPr>
          <a:xfrm>
            <a:off x="6224016" y="1574800"/>
            <a:ext cx="365760" cy="365760"/>
          </a:xfrm>
          <a:prstGeom prst="ellipse">
            <a:avLst/>
          </a:prstGeom>
          <a:solidFill>
            <a:srgbClr val="FFEDD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417" name="Image 8" descr="preencoded.png">
            <a:extLst>
              <a:ext uri="{FF2B5EF4-FFF2-40B4-BE49-F238E27FC236}">
                <a16:creationId xmlns:a16="http://schemas.microsoft.com/office/drawing/2014/main" id="{0CF8E045-F69A-BB1E-BD85-C6962C529B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1623568"/>
            <a:ext cx="268224" cy="268224"/>
          </a:xfrm>
          <a:prstGeom prst="rect">
            <a:avLst/>
          </a:prstGeom>
        </p:spPr>
      </p:pic>
      <p:sp>
        <p:nvSpPr>
          <p:cNvPr id="17419" name="Text 27">
            <a:extLst>
              <a:ext uri="{FF2B5EF4-FFF2-40B4-BE49-F238E27FC236}">
                <a16:creationId xmlns:a16="http://schemas.microsoft.com/office/drawing/2014/main" id="{4B5AD634-6932-7E5E-2680-C2B87A238344}"/>
              </a:ext>
            </a:extLst>
          </p:cNvPr>
          <p:cNvSpPr/>
          <p:nvPr/>
        </p:nvSpPr>
        <p:spPr>
          <a:xfrm>
            <a:off x="6760464" y="1379909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Hyperlocal precision over blanket warnings</a:t>
            </a:r>
            <a:endParaRPr lang="en-US" sz="1467"/>
          </a:p>
        </p:txBody>
      </p:sp>
      <p:sp>
        <p:nvSpPr>
          <p:cNvPr id="17421" name="Text 28">
            <a:extLst>
              <a:ext uri="{FF2B5EF4-FFF2-40B4-BE49-F238E27FC236}">
                <a16:creationId xmlns:a16="http://schemas.microsoft.com/office/drawing/2014/main" id="{2AB986FD-8204-717A-5AA0-0B7DE81E2210}"/>
              </a:ext>
            </a:extLst>
          </p:cNvPr>
          <p:cNvSpPr/>
          <p:nvPr/>
        </p:nvSpPr>
        <p:spPr>
          <a:xfrm>
            <a:off x="6760464" y="1549841"/>
            <a:ext cx="5258086" cy="628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475569"/>
                </a:solidFill>
                <a:latin typeface="Arial"/>
                <a:ea typeface="Arial" pitchFamily="34" charset="-122"/>
                <a:cs typeface="Arial"/>
              </a:rPr>
              <a:t>Replaces city-wide forecasts with ward-by-ward risk maps so dense wards get flagged even when the official forecast looks moderate.</a:t>
            </a:r>
            <a:endParaRPr lang="en-US" sz="1250">
              <a:solidFill>
                <a:srgbClr val="475569"/>
              </a:solidFill>
              <a:latin typeface="Calibri"/>
              <a:cs typeface="Calibri"/>
            </a:endParaRPr>
          </a:p>
        </p:txBody>
      </p:sp>
      <p:sp>
        <p:nvSpPr>
          <p:cNvPr id="17423" name="Shape 29">
            <a:extLst>
              <a:ext uri="{FF2B5EF4-FFF2-40B4-BE49-F238E27FC236}">
                <a16:creationId xmlns:a16="http://schemas.microsoft.com/office/drawing/2014/main" id="{EA462BF1-A8CF-B586-0FEA-2FEE9038B837}"/>
              </a:ext>
            </a:extLst>
          </p:cNvPr>
          <p:cNvSpPr/>
          <p:nvPr/>
        </p:nvSpPr>
        <p:spPr>
          <a:xfrm>
            <a:off x="6224016" y="2208784"/>
            <a:ext cx="365760" cy="365760"/>
          </a:xfrm>
          <a:prstGeom prst="ellipse">
            <a:avLst/>
          </a:prstGeom>
          <a:solidFill>
            <a:srgbClr val="FFEDD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425" name="Image 9" descr="preencoded.png">
            <a:extLst>
              <a:ext uri="{FF2B5EF4-FFF2-40B4-BE49-F238E27FC236}">
                <a16:creationId xmlns:a16="http://schemas.microsoft.com/office/drawing/2014/main" id="{ADAE4E51-394A-17F0-6A84-BA6B49D7EC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2257552"/>
            <a:ext cx="268224" cy="268224"/>
          </a:xfrm>
          <a:prstGeom prst="rect">
            <a:avLst/>
          </a:prstGeom>
        </p:spPr>
      </p:pic>
      <p:sp>
        <p:nvSpPr>
          <p:cNvPr id="17427" name="Text 30">
            <a:extLst>
              <a:ext uri="{FF2B5EF4-FFF2-40B4-BE49-F238E27FC236}">
                <a16:creationId xmlns:a16="http://schemas.microsoft.com/office/drawing/2014/main" id="{C8085842-651B-831C-4001-EE7C5F6A8CC7}"/>
              </a:ext>
            </a:extLst>
          </p:cNvPr>
          <p:cNvSpPr/>
          <p:nvPr/>
        </p:nvSpPr>
        <p:spPr>
          <a:xfrm>
            <a:off x="6760464" y="2112513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Lives-based prioritization, not just heat maps</a:t>
            </a:r>
            <a:endParaRPr lang="en-US" sz="1467"/>
          </a:p>
        </p:txBody>
      </p:sp>
      <p:sp>
        <p:nvSpPr>
          <p:cNvPr id="17429" name="Text 31">
            <a:extLst>
              <a:ext uri="{FF2B5EF4-FFF2-40B4-BE49-F238E27FC236}">
                <a16:creationId xmlns:a16="http://schemas.microsoft.com/office/drawing/2014/main" id="{5D87785A-C2D4-89ED-E016-576E2570243A}"/>
              </a:ext>
            </a:extLst>
          </p:cNvPr>
          <p:cNvSpPr/>
          <p:nvPr/>
        </p:nvSpPr>
        <p:spPr>
          <a:xfrm>
            <a:off x="6760464" y="2370731"/>
            <a:ext cx="5258086" cy="413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Folds in elderly population, housing vulnerability &amp; health-insurance access to show which wards need help most.</a:t>
            </a:r>
            <a:endParaRPr lang="en-US" sz="1267"/>
          </a:p>
        </p:txBody>
      </p:sp>
      <p:sp>
        <p:nvSpPr>
          <p:cNvPr id="17431" name="Shape 32">
            <a:extLst>
              <a:ext uri="{FF2B5EF4-FFF2-40B4-BE49-F238E27FC236}">
                <a16:creationId xmlns:a16="http://schemas.microsoft.com/office/drawing/2014/main" id="{08D4F3F6-4DEC-EB0F-5EB8-983EA189845F}"/>
              </a:ext>
            </a:extLst>
          </p:cNvPr>
          <p:cNvSpPr/>
          <p:nvPr/>
        </p:nvSpPr>
        <p:spPr>
          <a:xfrm>
            <a:off x="6224016" y="2842768"/>
            <a:ext cx="365760" cy="365760"/>
          </a:xfrm>
          <a:prstGeom prst="ellipse">
            <a:avLst/>
          </a:prstGeom>
          <a:solidFill>
            <a:srgbClr val="FFEDD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433" name="Image 10" descr="preencoded.png">
            <a:extLst>
              <a:ext uri="{FF2B5EF4-FFF2-40B4-BE49-F238E27FC236}">
                <a16:creationId xmlns:a16="http://schemas.microsoft.com/office/drawing/2014/main" id="{CD3F7459-F122-FA23-883F-82A40B9D75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784" y="2891536"/>
            <a:ext cx="268224" cy="268224"/>
          </a:xfrm>
          <a:prstGeom prst="rect">
            <a:avLst/>
          </a:prstGeom>
        </p:spPr>
      </p:pic>
      <p:sp>
        <p:nvSpPr>
          <p:cNvPr id="17435" name="Text 33">
            <a:extLst>
              <a:ext uri="{FF2B5EF4-FFF2-40B4-BE49-F238E27FC236}">
                <a16:creationId xmlns:a16="http://schemas.microsoft.com/office/drawing/2014/main" id="{B0D2C573-8D69-4B1E-EF13-81BA290932D1}"/>
              </a:ext>
            </a:extLst>
          </p:cNvPr>
          <p:cNvSpPr/>
          <p:nvPr/>
        </p:nvSpPr>
        <p:spPr>
          <a:xfrm>
            <a:off x="6760464" y="2775252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Physiologically accurate risk</a:t>
            </a:r>
            <a:endParaRPr lang="en-US" sz="1467"/>
          </a:p>
        </p:txBody>
      </p:sp>
      <p:sp>
        <p:nvSpPr>
          <p:cNvPr id="17437" name="Text 34">
            <a:extLst>
              <a:ext uri="{FF2B5EF4-FFF2-40B4-BE49-F238E27FC236}">
                <a16:creationId xmlns:a16="http://schemas.microsoft.com/office/drawing/2014/main" id="{F7D894D3-9A1E-C53F-7973-864D2CEF0100}"/>
              </a:ext>
            </a:extLst>
          </p:cNvPr>
          <p:cNvSpPr/>
          <p:nvPr/>
        </p:nvSpPr>
        <p:spPr>
          <a:xfrm>
            <a:off x="6760464" y="2990338"/>
            <a:ext cx="5258087" cy="456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UTCI/WBGT (humidity, wind, radiation) instead of raw °C — critical where 'feels like' differs sharply.</a:t>
            </a:r>
            <a:endParaRPr lang="en-US" sz="1267"/>
          </a:p>
        </p:txBody>
      </p:sp>
      <p:sp>
        <p:nvSpPr>
          <p:cNvPr id="17439" name="Shape 35">
            <a:extLst>
              <a:ext uri="{FF2B5EF4-FFF2-40B4-BE49-F238E27FC236}">
                <a16:creationId xmlns:a16="http://schemas.microsoft.com/office/drawing/2014/main" id="{6DEB7506-BC04-C389-B7AF-E3D454E6F3C4}"/>
              </a:ext>
            </a:extLst>
          </p:cNvPr>
          <p:cNvSpPr/>
          <p:nvPr/>
        </p:nvSpPr>
        <p:spPr>
          <a:xfrm>
            <a:off x="6224016" y="3476752"/>
            <a:ext cx="365760" cy="365760"/>
          </a:xfrm>
          <a:prstGeom prst="ellipse">
            <a:avLst/>
          </a:prstGeom>
          <a:solidFill>
            <a:srgbClr val="FFEDD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441" name="Image 11" descr="preencoded.png">
            <a:extLst>
              <a:ext uri="{FF2B5EF4-FFF2-40B4-BE49-F238E27FC236}">
                <a16:creationId xmlns:a16="http://schemas.microsoft.com/office/drawing/2014/main" id="{3B355454-6FC4-B1E7-2998-44050C5C54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3525520"/>
            <a:ext cx="268224" cy="268224"/>
          </a:xfrm>
          <a:prstGeom prst="rect">
            <a:avLst/>
          </a:prstGeom>
        </p:spPr>
      </p:pic>
      <p:sp>
        <p:nvSpPr>
          <p:cNvPr id="17443" name="Text 36">
            <a:extLst>
              <a:ext uri="{FF2B5EF4-FFF2-40B4-BE49-F238E27FC236}">
                <a16:creationId xmlns:a16="http://schemas.microsoft.com/office/drawing/2014/main" id="{1ADBF40F-7174-09DC-456E-8371E326C3FA}"/>
              </a:ext>
            </a:extLst>
          </p:cNvPr>
          <p:cNvSpPr/>
          <p:nvPr/>
        </p:nvSpPr>
        <p:spPr>
          <a:xfrm>
            <a:off x="6760464" y="3423613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Quantified, defensible impact estimates</a:t>
            </a:r>
            <a:endParaRPr lang="en-US" sz="1467"/>
          </a:p>
        </p:txBody>
      </p:sp>
      <p:sp>
        <p:nvSpPr>
          <p:cNvPr id="17445" name="Text 37">
            <a:extLst>
              <a:ext uri="{FF2B5EF4-FFF2-40B4-BE49-F238E27FC236}">
                <a16:creationId xmlns:a16="http://schemas.microsoft.com/office/drawing/2014/main" id="{10BC3F4B-F32A-F7B7-2A9A-FA47CCE6D0F9}"/>
              </a:ext>
            </a:extLst>
          </p:cNvPr>
          <p:cNvSpPr/>
          <p:nvPr/>
        </p:nvSpPr>
        <p:spPr>
          <a:xfrm>
            <a:off x="6760464" y="3653075"/>
            <a:ext cx="5258086" cy="456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expected excess deaths per ward using peer-reviewed dose-response relationships for concrete planning.</a:t>
            </a:r>
            <a:endParaRPr lang="en-US" sz="1267"/>
          </a:p>
        </p:txBody>
      </p:sp>
      <p:sp>
        <p:nvSpPr>
          <p:cNvPr id="17447" name="Shape 38">
            <a:extLst>
              <a:ext uri="{FF2B5EF4-FFF2-40B4-BE49-F238E27FC236}">
                <a16:creationId xmlns:a16="http://schemas.microsoft.com/office/drawing/2014/main" id="{09C4999D-5063-7172-CD51-A7C50439046A}"/>
              </a:ext>
            </a:extLst>
          </p:cNvPr>
          <p:cNvSpPr/>
          <p:nvPr/>
        </p:nvSpPr>
        <p:spPr>
          <a:xfrm>
            <a:off x="6224016" y="4110736"/>
            <a:ext cx="365760" cy="365760"/>
          </a:xfrm>
          <a:prstGeom prst="ellipse">
            <a:avLst/>
          </a:prstGeom>
          <a:solidFill>
            <a:srgbClr val="FFEDD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449" name="Image 12" descr="preencoded.png">
            <a:extLst>
              <a:ext uri="{FF2B5EF4-FFF2-40B4-BE49-F238E27FC236}">
                <a16:creationId xmlns:a16="http://schemas.microsoft.com/office/drawing/2014/main" id="{9D70DA9E-15CB-66C9-4F22-8239CB8B13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2784" y="4159504"/>
            <a:ext cx="268224" cy="268224"/>
          </a:xfrm>
          <a:prstGeom prst="rect">
            <a:avLst/>
          </a:prstGeom>
        </p:spPr>
      </p:pic>
      <p:sp>
        <p:nvSpPr>
          <p:cNvPr id="17451" name="Text 39">
            <a:extLst>
              <a:ext uri="{FF2B5EF4-FFF2-40B4-BE49-F238E27FC236}">
                <a16:creationId xmlns:a16="http://schemas.microsoft.com/office/drawing/2014/main" id="{0F964A1B-C4D0-6E9A-5CC8-518751004531}"/>
              </a:ext>
            </a:extLst>
          </p:cNvPr>
          <p:cNvSpPr/>
          <p:nvPr/>
        </p:nvSpPr>
        <p:spPr>
          <a:xfrm>
            <a:off x="6760464" y="4086352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free, open &amp; scalable infrastructure</a:t>
            </a:r>
            <a:endParaRPr lang="en-US" sz="1467"/>
          </a:p>
        </p:txBody>
      </p:sp>
      <p:sp>
        <p:nvSpPr>
          <p:cNvPr id="17453" name="Text 40">
            <a:extLst>
              <a:ext uri="{FF2B5EF4-FFF2-40B4-BE49-F238E27FC236}">
                <a16:creationId xmlns:a16="http://schemas.microsoft.com/office/drawing/2014/main" id="{D6F97543-E6C8-43BB-959A-302826562758}"/>
              </a:ext>
            </a:extLst>
          </p:cNvPr>
          <p:cNvSpPr/>
          <p:nvPr/>
        </p:nvSpPr>
        <p:spPr>
          <a:xfrm>
            <a:off x="6760464" y="4358947"/>
            <a:ext cx="5258087" cy="355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Earth Engine, Open-Meteo, WorldPop &amp; NFHS-5 — zero licensing cost, easily replicated across Indian cities.</a:t>
            </a:r>
            <a:endParaRPr lang="en-US" sz="1267"/>
          </a:p>
        </p:txBody>
      </p:sp>
      <p:pic>
        <p:nvPicPr>
          <p:cNvPr id="17458" name="Picture 17457" descr="impact_left.png">
            <a:extLst>
              <a:ext uri="{FF2B5EF4-FFF2-40B4-BE49-F238E27FC236}">
                <a16:creationId xmlns:a16="http://schemas.microsoft.com/office/drawing/2014/main" id="{4BBC9533-5386-FFE7-5681-FB9E6609A4C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2064" y="4844289"/>
            <a:ext cx="5653168" cy="1385214"/>
          </a:xfrm>
          <a:prstGeom prst="rect">
            <a:avLst/>
          </a:prstGeom>
        </p:spPr>
      </p:pic>
      <p:pic>
        <p:nvPicPr>
          <p:cNvPr id="17460" name="Picture 17459" descr="impact_right.png">
            <a:extLst>
              <a:ext uri="{FF2B5EF4-FFF2-40B4-BE49-F238E27FC236}">
                <a16:creationId xmlns:a16="http://schemas.microsoft.com/office/drawing/2014/main" id="{9A460996-D741-933A-2BDB-67E534E2E0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4587" y="4822837"/>
            <a:ext cx="5885913" cy="13816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560" y="1500"/>
            <a:ext cx="1707376" cy="806191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7FC67B74-8F20-19E2-982A-C49AB55A70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7223" y="132080"/>
            <a:ext cx="1843657" cy="651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DataShield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CBF2B-2BF7-4776-3B0E-C703B6143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1" y="6541667"/>
            <a:ext cx="12076981" cy="33071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1C770F9-42BA-FC28-9175-19781B242793}"/>
              </a:ext>
            </a:extLst>
          </p:cNvPr>
          <p:cNvSpPr txBox="1">
            <a:spLocks/>
          </p:cNvSpPr>
          <p:nvPr/>
        </p:nvSpPr>
        <p:spPr>
          <a:xfrm>
            <a:off x="11051942" y="6636465"/>
            <a:ext cx="558800" cy="17821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39F95AF7-9332-BF95-DC7B-A3408512CEAF}"/>
              </a:ext>
            </a:extLst>
          </p:cNvPr>
          <p:cNvSpPr txBox="1">
            <a:spLocks/>
          </p:cNvSpPr>
          <p:nvPr/>
        </p:nvSpPr>
        <p:spPr>
          <a:xfrm>
            <a:off x="4604656" y="6553214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7">
            <a:extLst>
              <a:ext uri="{FF2B5EF4-FFF2-40B4-BE49-F238E27FC236}">
                <a16:creationId xmlns:a16="http://schemas.microsoft.com/office/drawing/2014/main" id="{FA6AF405-B532-67DD-A4D7-1A058B3AB6B2}"/>
              </a:ext>
            </a:extLst>
          </p:cNvPr>
          <p:cNvSpPr/>
          <p:nvPr/>
        </p:nvSpPr>
        <p:spPr>
          <a:xfrm>
            <a:off x="350842" y="3677117"/>
            <a:ext cx="4461053" cy="2746405"/>
          </a:xfrm>
          <a:prstGeom prst="roundRect">
            <a:avLst>
              <a:gd name="adj" fmla="val 2400"/>
            </a:avLst>
          </a:prstGeom>
          <a:solidFill>
            <a:srgbClr val="FBEEEC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49703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3" name="Footer Placeholder 6"/>
          <p:cNvSpPr txBox="1">
            <a:spLocks/>
          </p:cNvSpPr>
          <p:nvPr/>
        </p:nvSpPr>
        <p:spPr>
          <a:xfrm>
            <a:off x="4165600" y="6597355"/>
            <a:ext cx="3860800" cy="1753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z="110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43EB2088-D7B0-D814-B120-C1AA039C94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7223" y="132080"/>
            <a:ext cx="1843657" cy="651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DataShield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C187815-E733-9397-8912-91BE1382574B}"/>
              </a:ext>
            </a:extLst>
          </p:cNvPr>
          <p:cNvSpPr txBox="1">
            <a:spLocks/>
          </p:cNvSpPr>
          <p:nvPr/>
        </p:nvSpPr>
        <p:spPr>
          <a:xfrm>
            <a:off x="8564880" y="648843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>
              <a:solidFill>
                <a:prstClr val="whit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A97AE0-B704-3F2E-D45E-B31F6CD1C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921" y="-12877"/>
            <a:ext cx="2235473" cy="7891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C1A771A-9E86-6300-C05E-7AC0765D3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1" y="6541667"/>
            <a:ext cx="12076981" cy="33071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1E1F780-A44D-3C47-1B25-4580FB1F51EC}"/>
              </a:ext>
            </a:extLst>
          </p:cNvPr>
          <p:cNvSpPr txBox="1">
            <a:spLocks/>
          </p:cNvSpPr>
          <p:nvPr/>
        </p:nvSpPr>
        <p:spPr>
          <a:xfrm>
            <a:off x="11051942" y="6636465"/>
            <a:ext cx="558800" cy="17821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2" name="Footer Placeholder 6">
            <a:extLst>
              <a:ext uri="{FF2B5EF4-FFF2-40B4-BE49-F238E27FC236}">
                <a16:creationId xmlns:a16="http://schemas.microsoft.com/office/drawing/2014/main" id="{48618EA3-02D4-A916-5F73-6D76CEDCA04A}"/>
              </a:ext>
            </a:extLst>
          </p:cNvPr>
          <p:cNvSpPr txBox="1">
            <a:spLocks/>
          </p:cNvSpPr>
          <p:nvPr/>
        </p:nvSpPr>
        <p:spPr>
          <a:xfrm>
            <a:off x="4604656" y="6553214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A3F40-0063-2D37-D5FE-AEDB498E7BF6}"/>
              </a:ext>
            </a:extLst>
          </p:cNvPr>
          <p:cNvSpPr txBox="1"/>
          <p:nvPr/>
        </p:nvSpPr>
        <p:spPr>
          <a:xfrm>
            <a:off x="345057" y="3673415"/>
            <a:ext cx="422694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Extreme Heat, Mortality &amp; Physiological Stress Metrics</a:t>
            </a:r>
            <a:endParaRPr lang="en-US" sz="1600" b="1">
              <a:solidFill>
                <a:srgbClr val="C00000"/>
              </a:solidFill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b="1">
                <a:latin typeface="Calibri"/>
                <a:ea typeface="ＭＳ Ｐゴシック"/>
                <a:cs typeface="Calibri"/>
                <a:hlinkClick r:id="rId4"/>
              </a:rPr>
              <a:t>Azhar, G. S., et al. (2014).</a:t>
            </a:r>
            <a:r>
              <a:rPr lang="en-US" sz="1400">
                <a:latin typeface="Calibri"/>
                <a:ea typeface="ＭＳ Ｐゴシック"/>
                <a:cs typeface="Calibri"/>
                <a:hlinkClick r:id="rId4"/>
              </a:rPr>
              <a:t> Heat-related mortality in India: Excess all-cause mortality associated with the 2010 Ahmedabad heat wave. </a:t>
            </a:r>
            <a:r>
              <a:rPr lang="en-US" sz="1400" i="1">
                <a:latin typeface="Calibri"/>
                <a:ea typeface="ＭＳ Ｐゴシック"/>
                <a:cs typeface="Calibri"/>
                <a:hlinkClick r:id="rId4"/>
              </a:rPr>
              <a:t>PLoS ONE</a:t>
            </a:r>
            <a:r>
              <a:rPr lang="en-US" sz="1400">
                <a:latin typeface="Calibri"/>
                <a:ea typeface="ＭＳ Ｐゴシック"/>
                <a:cs typeface="Calibri"/>
                <a:hlinkClick r:id="rId4"/>
              </a:rPr>
              <a:t>, 9(3), e91831.</a:t>
            </a:r>
            <a:endParaRPr lang="en-US" sz="1400">
              <a:latin typeface="Calibri"/>
              <a:ea typeface="ＭＳ Ｐゴシック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b="1">
                <a:latin typeface="Calibri"/>
                <a:ea typeface="Calibri"/>
                <a:cs typeface="Calibri"/>
                <a:hlinkClick r:id="rId5"/>
              </a:rPr>
              <a:t>Spangler, K. R., Liang, S., &amp; Wellenius, G. A. (2022).</a:t>
            </a:r>
            <a:r>
              <a:rPr lang="en-US" sz="1400">
                <a:latin typeface="Calibri"/>
                <a:ea typeface="Calibri"/>
                <a:cs typeface="Calibri"/>
                <a:hlinkClick r:id="rId5"/>
              </a:rPr>
              <a:t> Wet-Bulb Globe Temperature, Universal Thermal Climate Index, and other heat metrics for US counties, 2000–2020. </a:t>
            </a:r>
            <a:r>
              <a:rPr lang="en-US" sz="1400" i="1">
                <a:latin typeface="Calibri"/>
                <a:ea typeface="Calibri"/>
                <a:cs typeface="Calibri"/>
                <a:hlinkClick r:id="rId5"/>
              </a:rPr>
              <a:t>Scientific Data</a:t>
            </a:r>
            <a:r>
              <a:rPr lang="en-US" sz="1400">
                <a:latin typeface="Calibri"/>
                <a:ea typeface="Calibri"/>
                <a:cs typeface="Calibri"/>
                <a:hlinkClick r:id="rId5"/>
              </a:rPr>
              <a:t>, 9(1), 306.</a:t>
            </a:r>
            <a:endParaRPr lang="en-US" sz="1400">
              <a:cs typeface="Calibri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4B2DD4CF-2A53-AEF8-4FAD-7C63EBA40BE9}"/>
              </a:ext>
            </a:extLst>
          </p:cNvPr>
          <p:cNvSpPr/>
          <p:nvPr/>
        </p:nvSpPr>
        <p:spPr>
          <a:xfrm>
            <a:off x="350844" y="959794"/>
            <a:ext cx="4475429" cy="2588255"/>
          </a:xfrm>
          <a:prstGeom prst="roundRect">
            <a:avLst>
              <a:gd name="adj" fmla="val 2400"/>
            </a:avLst>
          </a:prstGeom>
          <a:solidFill>
            <a:srgbClr val="EAF3F4"/>
          </a:solidFill>
          <a:ln w="9525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484B1-2839-D0A2-4537-BB7A085FD528}"/>
              </a:ext>
            </a:extLst>
          </p:cNvPr>
          <p:cNvSpPr txBox="1"/>
          <p:nvPr/>
        </p:nvSpPr>
        <p:spPr>
          <a:xfrm>
            <a:off x="345057" y="956093"/>
            <a:ext cx="4255699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5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Urban Vulnerability, Micro-Climate &amp; Downscaling</a:t>
            </a:r>
            <a:endParaRPr lang="en-US" b="1">
              <a:solidFill>
                <a:schemeClr val="accent5">
                  <a:lumMod val="49000"/>
                </a:schemeClr>
              </a:solidFill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b="1">
                <a:latin typeface="Calibri"/>
                <a:ea typeface="Calibri"/>
                <a:cs typeface="Calibri"/>
                <a:hlinkClick r:id="rId6"/>
              </a:rPr>
              <a:t>Rajiva, A., et al. (2021).</a:t>
            </a:r>
            <a:r>
              <a:rPr lang="en-US" sz="1400">
                <a:latin typeface="Calibri"/>
                <a:ea typeface="Calibri"/>
                <a:cs typeface="Calibri"/>
                <a:hlinkClick r:id="rId6"/>
              </a:rPr>
              <a:t> Assessment of urban heat island effects and thermal discomfort across major Indian cities. </a:t>
            </a:r>
            <a:r>
              <a:rPr lang="en-US" sz="1400" i="1">
                <a:latin typeface="Calibri"/>
                <a:ea typeface="Calibri"/>
                <a:cs typeface="Calibri"/>
                <a:hlinkClick r:id="rId6"/>
              </a:rPr>
              <a:t>Environmental Research</a:t>
            </a:r>
            <a:r>
              <a:rPr lang="en-US" sz="1400">
                <a:latin typeface="Calibri"/>
                <a:ea typeface="Calibri"/>
                <a:cs typeface="Calibri"/>
                <a:hlinkClick r:id="rId6"/>
              </a:rPr>
              <a:t>, 198, 111260.</a:t>
            </a:r>
          </a:p>
          <a:p>
            <a:pPr marL="342900" indent="-342900">
              <a:buAutoNum type="arabicPeriod"/>
            </a:pPr>
            <a:r>
              <a:rPr lang="en-US" sz="1400" b="1">
                <a:latin typeface="Calibri"/>
                <a:ea typeface="Calibri"/>
                <a:cs typeface="Calibri"/>
                <a:hlinkClick r:id="rId7"/>
              </a:rPr>
              <a:t>Mahadevia, D., &amp; Lathia, S. (2020).</a:t>
            </a:r>
            <a:r>
              <a:rPr lang="en-US" sz="1400">
                <a:latin typeface="Calibri"/>
                <a:ea typeface="Calibri"/>
                <a:cs typeface="Calibri"/>
                <a:hlinkClick r:id="rId7"/>
              </a:rPr>
              <a:t> Testing urban vulnerability: Factors affecting informal settlements and slum density in Indian metros. </a:t>
            </a:r>
            <a:r>
              <a:rPr lang="en-US" sz="1400" i="1">
                <a:latin typeface="Calibri"/>
                <a:ea typeface="Calibri"/>
                <a:cs typeface="Calibri"/>
                <a:hlinkClick r:id="rId7"/>
              </a:rPr>
              <a:t>Down To Earth Report / CEPT University.</a:t>
            </a:r>
            <a:endParaRPr lang="en-US" sz="1400" i="1">
              <a:cs typeface="Calibri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AC8226-E8A9-E0CA-50BF-1B0AF6E9F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154132"/>
              </p:ext>
            </p:extLst>
          </p:nvPr>
        </p:nvGraphicFramePr>
        <p:xfrm>
          <a:off x="5175848" y="1279584"/>
          <a:ext cx="6529115" cy="49538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6776">
                  <a:extLst>
                    <a:ext uri="{9D8B030D-6E8A-4147-A177-3AD203B41FA5}">
                      <a16:colId xmlns:a16="http://schemas.microsoft.com/office/drawing/2014/main" val="1061041297"/>
                    </a:ext>
                  </a:extLst>
                </a:gridCol>
                <a:gridCol w="1230477">
                  <a:extLst>
                    <a:ext uri="{9D8B030D-6E8A-4147-A177-3AD203B41FA5}">
                      <a16:colId xmlns:a16="http://schemas.microsoft.com/office/drawing/2014/main" val="164919245"/>
                    </a:ext>
                  </a:extLst>
                </a:gridCol>
                <a:gridCol w="961302">
                  <a:extLst>
                    <a:ext uri="{9D8B030D-6E8A-4147-A177-3AD203B41FA5}">
                      <a16:colId xmlns:a16="http://schemas.microsoft.com/office/drawing/2014/main" val="2996059050"/>
                    </a:ext>
                  </a:extLst>
                </a:gridCol>
                <a:gridCol w="1268928">
                  <a:extLst>
                    <a:ext uri="{9D8B030D-6E8A-4147-A177-3AD203B41FA5}">
                      <a16:colId xmlns:a16="http://schemas.microsoft.com/office/drawing/2014/main" val="3018017239"/>
                    </a:ext>
                  </a:extLst>
                </a:gridCol>
                <a:gridCol w="1461632">
                  <a:extLst>
                    <a:ext uri="{9D8B030D-6E8A-4147-A177-3AD203B41FA5}">
                      <a16:colId xmlns:a16="http://schemas.microsoft.com/office/drawing/2014/main" val="3157135864"/>
                    </a:ext>
                  </a:extLst>
                </a:gridCol>
              </a:tblGrid>
              <a:tr h="74787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Features</a:t>
                      </a:r>
                      <a:endParaRPr lang="en-GB" sz="1200">
                        <a:effectLst/>
                        <a:latin typeface="Arial"/>
                        <a:cs typeface="Arial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 err="1">
                          <a:effectLst/>
                          <a:latin typeface="Arial"/>
                          <a:cs typeface="Arial"/>
                        </a:rPr>
                        <a:t>ThermoSafe</a:t>
                      </a: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IMD Heat Bulletins</a:t>
                      </a:r>
                      <a:endParaRPr lang="en-GB" sz="1200">
                        <a:effectLst/>
                        <a:latin typeface="Arial"/>
                        <a:cs typeface="Arial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NWS </a:t>
                      </a:r>
                      <a:r>
                        <a:rPr lang="en-GB" sz="1200" b="1" err="1">
                          <a:effectLst/>
                          <a:latin typeface="Arial"/>
                          <a:cs typeface="Arial"/>
                        </a:rPr>
                        <a:t>HeatRisk</a:t>
                      </a:r>
                      <a:endParaRPr lang="en-GB" sz="1200">
                        <a:effectLst/>
                        <a:latin typeface="Arial"/>
                        <a:cs typeface="Arial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Commercial Apps (Tomorrow.io)</a:t>
                      </a:r>
                      <a:endParaRPr lang="en-GB" sz="1200">
                        <a:effectLst/>
                        <a:latin typeface="Arial"/>
                        <a:cs typeface="Arial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646798"/>
                  </a:ext>
                </a:extLst>
              </a:tr>
              <a:tr h="593142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Hyperlocal Ward-Level Precision</a:t>
                      </a:r>
                      <a:endParaRPr lang="en-GB" sz="1200">
                        <a:effectLst/>
                        <a:latin typeface="Arial"/>
                        <a:cs typeface="Arial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noProof="0">
                          <a:effectLst/>
                        </a:rPr>
                        <a:t>✅</a:t>
                      </a:r>
                      <a:endParaRPr lang="en-US" sz="2800"/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n-US" sz="28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34751"/>
                  </a:ext>
                </a:extLst>
              </a:tr>
              <a:tr h="528734">
                <a:tc>
                  <a:txBody>
                    <a:bodyPr/>
                    <a:lstStyle/>
                    <a:p>
                      <a:pPr marL="0" marR="0" lvl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Physiological Indices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n-US" sz="28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✅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28435"/>
                  </a:ext>
                </a:extLst>
              </a:tr>
              <a:tr h="71534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GIS Emergency Resource Optimization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n-US" sz="28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102899"/>
                  </a:ext>
                </a:extLst>
              </a:tr>
              <a:tr h="71534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Self-Calibrating Local City Thresholds</a:t>
                      </a:r>
                      <a:endParaRPr lang="en-GB" sz="1200">
                        <a:effectLst/>
                        <a:latin typeface="Arial"/>
                        <a:cs typeface="Arial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n-US" sz="28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GB" sz="20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GB" sz="2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012801"/>
                  </a:ext>
                </a:extLst>
              </a:tr>
              <a:tr h="901959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Demographic &amp; Worker Vulnerability Proxies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n-US" sz="28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810288"/>
                  </a:ext>
                </a:extLst>
              </a:tr>
              <a:tr h="593142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Arial"/>
                          <a:cs typeface="Arial"/>
                        </a:rPr>
                        <a:t>Low-Bandwidth &amp; Offline Communication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8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n-US" sz="28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457200" rtl="0" eaLnBrk="1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GB" sz="20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2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70774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D747AE4-5161-5523-5804-2BCFB3A7D9D9}"/>
              </a:ext>
            </a:extLst>
          </p:cNvPr>
          <p:cNvSpPr txBox="1"/>
          <p:nvPr/>
        </p:nvSpPr>
        <p:spPr>
          <a:xfrm>
            <a:off x="5175850" y="797943"/>
            <a:ext cx="201283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205766"/>
                </a:solidFill>
                <a:latin typeface="Calibri"/>
                <a:ea typeface="ＭＳ Ｐゴシック"/>
              </a:rPr>
              <a:t>Market Research</a:t>
            </a:r>
            <a:endParaRPr lang="en-US" sz="2000" b="1"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ThermoSafe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167</cp:revision>
  <dcterms:created xsi:type="dcterms:W3CDTF">2013-12-12T18:46:50Z</dcterms:created>
  <dcterms:modified xsi:type="dcterms:W3CDTF">2026-09-27T14:59:44Z</dcterms:modified>
  <cp:category/>
</cp:coreProperties>
</file>